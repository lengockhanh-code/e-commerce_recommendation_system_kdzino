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01 — MerRec — Gợi ý sản phẩm từ dữ liệu hành vi</a:t>
            </a:r>
          </a:p>
          <a:p/>
          <a:p>
            <a:r>
              <a:t>Phân tích dữ liệu tháng 05/2023, xây dựng đặc trưng và thực nghiệm mô hình gợi ý.</a:t>
            </a:r>
          </a:p>
          <a:p>
            <a:r>
              <a:t>Trọng tâm: dữ liệu lớn, implicit feedback, cold-start và đánh giá Top-K.</a:t>
            </a:r>
          </a:p>
          <a:p>
            <a:r>
              <a:t>Chèn tên nhóm, thành viên và giảng viên khi thiết kế.</a:t>
            </a:r>
          </a:p>
          <a:p/>
          <a:p>
            <a:r>
              <a:t>Nguồn tham khảo (URL hoặc đường dẫn trong D:/MerRec):</a:t>
            </a:r>
          </a:p>
          <a:p>
            <a:r>
              <a:t>training/00_eda.ipynb</a:t>
            </a:r>
          </a:p>
          <a:p>
            <a:r>
              <a:t>training/01_preprocess.ipynb</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02 — Nội dung trình bày</a:t>
            </a:r>
          </a:p>
          <a:p/>
          <a:p>
            <a:r>
              <a:t>01 Introduction · 02 Problem Definition · 03 Dataset Description.</a:t>
            </a:r>
          </a:p>
          <a:p>
            <a:r>
              <a:t>04 Data Preprocessing · 05 EDA · 06 Feature Engineering.</a:t>
            </a:r>
          </a:p>
          <a:p>
            <a:r>
              <a:t>07 Models · 08 Model Training · 09 Results · 11 Conclusion.</a:t>
            </a:r>
          </a:p>
          <a:p>
            <a:r>
              <a:t>10 Web Application / Demo tách riêng ở cuối bài; bổ sung sơ đồ offline và online.</a:t>
            </a:r>
          </a:p>
          <a:p/>
          <a:p>
            <a:r>
              <a:t>Ghi chú: Giữ đủ 11 phần người dùng yêu cầu, nhưng đưa Web Application ra sau phần kết luận.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03 — Bối cảnh và thực trạng thương mại điện tử</a:t>
            </a:r>
          </a:p>
          <a:p/>
          <a:p>
            <a:r>
              <a:t>Theo Bộ Công Thương, quy mô TMĐT Việt Nam năm 2024 vượt 25 tỷ USD, tăng 20% so với năm 2023.</a:t>
            </a:r>
          </a:p>
          <a:p>
            <a:r>
              <a:t>Catalog đa dạng đặt ra bài toán giúp người mua khám phá sản phẩm phù hợp.</a:t>
            </a:r>
          </a:p>
          <a:p>
            <a:r>
              <a:t>Trong bài toán C2C, dữ liệu hành vi và thuộc tính item là nguồn tín hiệu cho gợi ý.</a:t>
            </a:r>
          </a:p>
          <a:p>
            <a:r>
              <a:t>Đề tài dùng MerRec từ Mercari để thực nghiệm; không dùng dữ liệu thị trường Việt Nam để huấn luyện.</a:t>
            </a:r>
          </a:p>
          <a:p/>
          <a:p>
            <a:r>
              <a:t>Ghi chú: Số liệu Việt Nam chỉ là bối cảnh năm 2024, không phải thống kê năm hiện tại. Nhu cầu khám phá sản phẩm là động lực thiết kế, không phải kết quả khảo sát người dùng của đồ án. Nguồn Bộ Công Thương đăng ngày 18/02/2025.</a:t>
            </a:r>
          </a:p>
          <a:p/>
          <a:p>
            <a:r>
              <a:t>Nguồn tham khảo (URL hoặc đường dẫn trong D:/MerRec):</a:t>
            </a:r>
          </a:p>
          <a:p>
            <a:r>
              <a:t>https://moit.gov.vn/khoa-hoc-va-cong-nghe/thuong-mai-dien-tu-viet-nam-nam-2024-nhung-buoc-tien-va-thach-thuc.html</a:t>
            </a:r>
          </a:p>
          <a:p>
            <a:r>
              <a:t>https://arxiv.org/abs/2402.14230</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04 — Vấn đề thực tiễn: tìm sản phẩm nào giữa catalog lớn?</a:t>
            </a:r>
          </a:p>
          <a:p/>
          <a:p>
            <a:r>
              <a:t>Người mua cần thu hẹp lựa chọn và tìm item phù hợp với mối quan tâm.</a:t>
            </a:r>
          </a:p>
          <a:p>
            <a:r>
              <a:t>Tìm kiếm theo từ khóa cần người dùng diễn đạt được nhu cầu; danh sách phổ biến không tự phản ánh sở thích riêng.</a:t>
            </a:r>
          </a:p>
          <a:p>
            <a:r>
              <a:t>Dữ liệu dự án có 30,05 triệu item nhưng 71,17% item có dưới 5 tương tác.</a:t>
            </a:r>
          </a:p>
          <a:p>
            <a:r>
              <a:t>84,55% sự kiện là view: cần khai thác cả lịch sử hành vi thay vì chỉ chờ tín hiệu mua.</a:t>
            </a:r>
          </a:p>
          <a:p/>
          <a:p>
            <a:r>
              <a:t>Ghi chú: Các hạn chế của tìm kiếm/phổ biến là phân tích thiết kế phương pháp; không khẳng định tất cả sàn thương mại điện tử đang hoạt động như vậy. Không suy ra conversion từ tỷ lệ event.</a:t>
            </a:r>
          </a:p>
          <a:p/>
          <a:p>
            <a:r>
              <a:t>Nguồn tham khảo (URL hoặc đường dẫn trong D:/MerRec):</a:t>
            </a:r>
          </a:p>
          <a:p>
            <a:r>
              <a:t>data/processed/eda_merrec_may/kernel_1752/tables/02_overview.csv</a:t>
            </a:r>
          </a:p>
          <a:p>
            <a:r>
              <a:t>data/processed/eda_merrec_may/kernel_1752/tables/06_cold_items.csv</a:t>
            </a:r>
          </a:p>
          <a:p>
            <a:r>
              <a:t>data/processed/recommender/tables/01_event_mapping.csv</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05 — Lý do chọn đề tài</a:t>
            </a:r>
          </a:p>
          <a:p/>
          <a:p>
            <a:r>
              <a:t>Tính thực tiễn: hỗ trợ khám phá sản phẩm dựa trên nhu cầu và lịch sử người dùng.</a:t>
            </a:r>
          </a:p>
          <a:p>
            <a:r>
              <a:t>Tính học thuật: nghiên cứu implicit feedback, long-tail, cold-start và dữ liệu tuần tự trong C2C.</a:t>
            </a:r>
          </a:p>
          <a:p>
            <a:r>
              <a:t>Tính khả thi: MerRec có timestamp, nhiều hành vi và metadata để xây dựng thực nghiệm.</a:t>
            </a:r>
          </a:p>
          <a:p>
            <a:r>
              <a:t>Tính ứng dụng: kết nối quy trình dữ liệu, mô hình gợi ý và giao diện minh họa.</a:t>
            </a:r>
          </a:p>
          <a:p/>
          <a:p>
            <a:r>
              <a:t>Ghi chú: Đây là lý do lựa chọn và giá trị kỳ vọng của đề tài, không phải tuyên bố đồ án đã tăng doanh thu, giảm thời gian tìm kiếm hoặc hoàn tất tích hợp model.</a:t>
            </a:r>
          </a:p>
          <a:p/>
          <a:p>
            <a:r>
              <a:t>Nguồn tham khảo (URL hoặc đường dẫn trong D:/MerRec):</a:t>
            </a:r>
          </a:p>
          <a:p>
            <a:r>
              <a:t>https://arxiv.org/abs/2402.14230</a:t>
            </a:r>
          </a:p>
          <a:p>
            <a:r>
              <a:t>training/00_eda.ipynb</a:t>
            </a:r>
          </a:p>
          <a:p>
            <a:r>
              <a:t>training/01_preprocess.ipynb</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06 — Mục tiêu, ý nghĩa và phạm vi nghiên cứu</a:t>
            </a:r>
          </a:p>
          <a:p/>
          <a:p>
            <a:r>
              <a:t>Mục tiêu tổng quát: xây dựng và đánh giá phương pháp gợi ý Top-K trên dữ liệu hành vi MerRec.</a:t>
            </a:r>
          </a:p>
          <a:p>
            <a:r>
              <a:t>Mục tiêu cụ thể: EDA, xử lý dữ liệu, truy hồi đa nguồn và xếp hạng bằng DCN/LightGBM.</a:t>
            </a:r>
          </a:p>
          <a:p>
            <a:r>
              <a:t>Ý nghĩa: hiểu tác động của dữ liệu thưa, cold-start và giao thức đánh giá tới chất lượng gợi ý.</a:t>
            </a:r>
          </a:p>
          <a:p>
            <a:r>
              <a:t>Phạm vi: lát dữ liệu tháng 05/2023, đánh giá offline; demo web tách riêng.</a:t>
            </a:r>
          </a:p>
          <a:p/>
          <a:p>
            <a:r>
              <a:t>Ghi chú: Không khẳng định ưu thế mô hình khi các thực nghiệm chưa thống nhất protocol. DCN và LightGBM đã có kết quả; chưa có kiểm chứng hiệu quả kinh doanh hoặc A/B test.</a:t>
            </a:r>
          </a:p>
          <a:p/>
          <a:p>
            <a:r>
              <a:t>Nguồn tham khảo (URL hoặc đường dẫn trong D:/MerRec):</a:t>
            </a:r>
          </a:p>
          <a:p>
            <a:r>
              <a:t>training/00_eda.ipynb</a:t>
            </a:r>
          </a:p>
          <a:p>
            <a:r>
              <a:t>training/01_preprocess.ipynb</a:t>
            </a:r>
          </a:p>
          <a:p>
            <a:r>
              <a:t>training/models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07 — Bài toán gợi ý và các thách thức</a:t>
            </a:r>
          </a:p>
          <a:p/>
          <a:p>
            <a:r>
              <a:t>Đầu vào: lịch sử user, loại hành vi và metadata; đầu ra: danh sách Top-K item.</a:t>
            </a:r>
          </a:p>
          <a:p>
            <a:r>
              <a:t>Hai tầng: truy hồi tập ứng viên nhỏ, sau đó xếp hạng cá nhân hóa Top-K.</a:t>
            </a:r>
          </a:p>
          <a:p>
            <a:r>
              <a:t>Độ thưa user–item khoảng 99,999843%; 32,75% dòng TEST chứa cold item.</a:t>
            </a:r>
          </a:p>
          <a:p>
            <a:r>
              <a:t>Đánh giá Recall, HitRate, NDCG; chú ý coverage, tập user và candidate universe.</a:t>
            </a:r>
          </a:p>
          <a:p/>
          <a:p>
            <a:r>
              <a:t>Ghi chú: Gộp phát biểu bài toán và thách thức để dành thêm chỗ cho lý do chọn đề tài, giữ tổng 40 trang.</a:t>
            </a:r>
          </a:p>
          <a:p/>
          <a:p>
            <a:r>
              <a:t>Nguồn tham khảo (URL hoặc đường dẫn trong D:/MerRec):</a:t>
            </a:r>
          </a:p>
          <a:p>
            <a:r>
              <a:t>training/models/04_gru4rec.ipynb</a:t>
            </a:r>
          </a:p>
          <a:p>
            <a:r>
              <a:t>training/models/05_two_tower.ipynb</a:t>
            </a:r>
          </a:p>
          <a:p>
            <a:r>
              <a:t>data/processed/eda_merrec_may/kernel_1752/tables/12_matrix_sparsity.csv</a:t>
            </a:r>
          </a:p>
          <a:p>
            <a:r>
              <a:t>data/processed/recommender/tables/03_cold_start_summary.csv</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08 — MerRec: quy mô và cấu trúc dữ liệu</a:t>
            </a:r>
          </a:p>
          <a:p/>
          <a:p>
            <a:r>
              <a:t>312 file Parquet, khoảng 21,57 GB; 174.872.167 tương tác trong lát dữ liệu tháng 05/2023.</a:t>
            </a:r>
          </a:p>
          <a:p>
            <a:r>
              <a:t>2.765.863 user; 30.054.040 item_id; 913.718 product_id duy nhất.</a:t>
            </a:r>
          </a:p>
          <a:p>
            <a:r>
              <a:t>Các nhóm trường: định danh; event/timestamp/session; tên, giá, category và thuộc tính item.</a:t>
            </a:r>
          </a:p>
          <a:p>
            <a:r>
              <a:t>Nguồn là nền tảng C2C Mercari; session EDA dùng cặp (user_id, session_id).</a:t>
            </a:r>
          </a:p>
          <a:p/>
          <a:p>
            <a:r>
              <a:t>Ghi chú: Dataset gốc trong bài báo bao phủ 6 tháng năm 2023; đồ án chỉ dùng lát tháng 05. Phân biệt item_id và product_id. 4.196.977 session_id khác 34.832.704 cặp (user_id, session_id).</a:t>
            </a:r>
          </a:p>
          <a:p/>
          <a:p>
            <a:r>
              <a:t>Nguồn tham khảo (URL hoặc đường dẫn trong D:/MerRec):</a:t>
            </a:r>
          </a:p>
          <a:p>
            <a:r>
              <a:t>https://arxiv.org/abs/2402.14230</a:t>
            </a:r>
          </a:p>
          <a:p>
            <a:r>
              <a:t>data/processed/eda_merrec_may/kernel_1752/tables/01_structure_summary.csv</a:t>
            </a:r>
          </a:p>
          <a:p>
            <a:r>
              <a:t>data/processed/eda_merrec_may/kernel_1752/tables/02_overview.csv</a:t>
            </a:r>
          </a:p>
          <a:p>
            <a:r>
              <a:t>data/processed/eda_merrec_may/kernel_1752/tables/01_union_schema.csv</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09 — Sáu loại hành vi</a:t>
            </a:r>
          </a:p>
          <a:p/>
          <a:p>
            <a:r>
              <a:t>item_view → view; item_like → like.</a:t>
            </a:r>
          </a:p>
          <a:p>
            <a:r>
              <a:t>item_add_to_cart_tap → cart; offer_make → offer.</a:t>
            </a:r>
          </a:p>
          <a:p>
            <a:r>
              <a:t>buy_start → bắt đầu mua; buy_comp → hoàn tất mua.</a:t>
            </a:r>
          </a:p>
          <a:p>
            <a:r>
              <a:t>Đây là implicit feedback, không phải điểm rating.</a:t>
            </a:r>
          </a:p>
          <a:p/>
          <a:p>
            <a:r>
              <a:t>Nguồn tham khảo (URL hoặc đường dẫn trong D:/MerRec):</a:t>
            </a:r>
          </a:p>
          <a:p>
            <a:r>
              <a:t>data/processed/recommender/tables/01_event_mapping.csv</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Pipeline tiền xử lý</a:t>
            </a:r>
          </a:p>
          <a:p/>
          <a:p>
            <a:r>
              <a:t>Parquet → DuckDB raw view → chuẩn hóa ID, timestamp, event và metadata.</a:t>
            </a:r>
          </a:p>
          <a:p>
            <a:r>
              <a:t>Lọc bản ghi không hợp lệ → khử trùng → chia theo thời gian.</a:t>
            </a:r>
          </a:p>
          <a:p>
            <a:r>
              <a:t>Xuất interactions, train-only ID maps, catalog và implicit-feedback pairs.</a:t>
            </a:r>
          </a:p>
          <a:p>
            <a:r>
              <a:t>Tạo popularity/trending và các cohort cold-start.</a:t>
            </a:r>
          </a:p>
          <a:p/>
          <a:p>
            <a:r>
              <a:t>Ghi chú: DuckDB VIEW và xử lý theo batch tránh nạp toàn bộ raw vào Pandas.</a:t>
            </a:r>
          </a:p>
          <a:p/>
          <a:p>
            <a:r>
              <a:t>Nguồn tham khảo (URL hoặc đường dẫn trong D:/MerRec):</a:t>
            </a:r>
          </a:p>
          <a:p>
            <a:r>
              <a:t>training/01_preprocess.ipynb</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Làm sạch và khử trùng</a:t>
            </a:r>
          </a:p>
          <a:p/>
          <a:p>
            <a:r>
              <a:t>Chuẩn hóa ID thành chuỗi; trim; đọc timestamp theo kiểu dữ liệu nguồn.</a:t>
            </a:r>
          </a:p>
          <a:p>
            <a:r>
              <a:t>Lọc thiếu user_id/item_id/timestamp và event không hỗ trợ.</a:t>
            </a:r>
          </a:p>
          <a:p>
            <a:r>
              <a:t>Khóa khử trùng: user, item, event, timestamp, session và sequence.</a:t>
            </a:r>
          </a:p>
          <a:p>
            <a:r>
              <a:t>174.872.167 → 174.725.659 dòng; tổng giảm 146.508 dòng.</a:t>
            </a:r>
          </a:p>
          <a:p/>
          <a:p>
            <a:r>
              <a:t>Ghi chú: 146.508 là chênh lệch raw và tổng split đã lưu. Không thay bằng 152.779 từ chẩn đoán duplicate-key EDA vì khóa khác nhau.</a:t>
            </a:r>
          </a:p>
          <a:p/>
          <a:p>
            <a:r>
              <a:t>Nguồn tham khảo (URL hoặc đường dẫn trong D:/MerRec):</a:t>
            </a:r>
          </a:p>
          <a:p>
            <a:r>
              <a:t>training/01_preprocess.ipynb</a:t>
            </a:r>
          </a:p>
          <a:p>
            <a:r>
              <a:t>data/processed/recommender/tables/02_split_summary.csv</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Xử lý metadata thiếu</a:t>
            </a:r>
          </a:p>
          <a:p/>
          <a:p>
            <a:r>
              <a:t>Color thiếu 95,61%; size_name 62,74%; brand_name 19,20%.</a:t>
            </a:r>
          </a:p>
          <a:p>
            <a:r>
              <a:t>Danh mục thiếu lấy cấp cha; brand/condition/shipper dùng __UNK__.</a:t>
            </a:r>
          </a:p>
          <a:p>
            <a:r>
              <a:t>Size giữ NULL lúc chuẩn hóa; color không xuất vào interactions train/val/test.</a:t>
            </a:r>
          </a:p>
          <a:p>
            <a:r>
              <a:t>Giữ lại hành vi hữu ích khi chỉ thiếu metadata tùy chọn.</a:t>
            </a:r>
          </a:p>
          <a:p/>
          <a:p>
            <a:r>
              <a:t>Ghi chú: Tỷ lệ thiếu tính theo dòng tương tác. Không suy ra mọi field đều đã xuất vào serving catalog.</a:t>
            </a:r>
          </a:p>
          <a:p/>
          <a:p>
            <a:r>
              <a:t>Nguồn tham khảo (URL hoặc đường dẫn trong D:/MerRec):</a:t>
            </a:r>
          </a:p>
          <a:p>
            <a:r>
              <a:t>data/processed/eda_merrec_may/kernel_1752/tables/03_missing.csv</a:t>
            </a:r>
          </a:p>
          <a:p>
            <a:r>
              <a:t>training/01_preprocess.ipynb</a:t>
            </a:r>
          </a:p>
          <a:p/>
          <a:p>
            <a:r>
              <a:t>Ảnh: 03_missing_percentage.png</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Chia TRAIN / VAL / TEST theo thời gian</a:t>
            </a:r>
          </a:p>
          <a:p/>
          <a:p>
            <a:r>
              <a:t>TRAIN 01–25/05: 145.998.253 tương tác.</a:t>
            </a:r>
          </a:p>
          <a:p>
            <a:r>
              <a:t>VAL 26–28/05: 16.885.121 tương tác.</a:t>
            </a:r>
          </a:p>
          <a:p>
            <a:r>
              <a:t>TEST 29–31/05: 11.842.285 tương tác; kết thúc 31/05 lúc 00:00:00.</a:t>
            </a:r>
          </a:p>
          <a:p>
            <a:r>
              <a:t>Integrity đã lưu: TRAIN trước VAL, VAL trước TEST.</a:t>
            </a:r>
          </a:p>
          <a:p/>
          <a:p>
            <a:r>
              <a:t>Ghi chú: Ngày cuối không đầy đủ. Split đúng thứ tự chưa chứng minh mọi khâu metadata/mô hình đều không leakage.</a:t>
            </a:r>
          </a:p>
          <a:p/>
          <a:p>
            <a:r>
              <a:t>Nguồn tham khảo (URL hoặc đường dẫn trong D:/MerRec):</a:t>
            </a:r>
          </a:p>
          <a:p>
            <a:r>
              <a:t>data/processed/recommender/tables/02_split_summary.csv</a:t>
            </a:r>
          </a:p>
          <a:p>
            <a:r>
              <a:t>data/processed/recommender/tables/09_split_integrity.csv</a:t>
            </a:r>
          </a:p>
          <a:p/>
          <a:p>
            <a:r>
              <a:t>Ảnh: s13_temporal_split.png</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 ID mapping và cold-start</a:t>
            </a:r>
          </a:p>
          <a:p/>
          <a:p>
            <a:r>
              <a:t>Mapping từ TRAIN: 2.581.378 user; 27.328.461 item.</a:t>
            </a:r>
          </a:p>
          <a:p>
            <a:r>
              <a:t>TEST cold-user 6,35%; cold-item 32,75%; cả hai cold 1,64% số dòng.</a:t>
            </a:r>
          </a:p>
          <a:p>
            <a:r>
              <a:t>Tách cohort warm, cold-user, cold-item và cold-both.</a:t>
            </a:r>
          </a:p>
          <a:p>
            <a:r>
              <a:t>Cần phương án fallback cho trường hợp thiếu lịch sử.</a:t>
            </a:r>
          </a:p>
          <a:p/>
          <a:p>
            <a:r>
              <a:t>Ghi chú: Cold-user và cold-item trong biểu đồ có giao nhau; không cộng ba cột thành tổng.</a:t>
            </a:r>
          </a:p>
          <a:p/>
          <a:p>
            <a:r>
              <a:t>Nguồn tham khảo (URL hoặc đường dẫn trong D:/MerRec):</a:t>
            </a:r>
          </a:p>
          <a:p>
            <a:r>
              <a:t>data/processed/recommender/tables/03_cold_start_summary.csv</a:t>
            </a:r>
          </a:p>
          <a:p>
            <a:r>
              <a:t>data/processed/recommender/tables/04_cf_train_summary.csv</a:t>
            </a:r>
          </a:p>
          <a:p/>
          <a:p>
            <a:r>
              <a:t>Ảnh: s14_cold_start.png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 EDA: mất cân bằng hành vi</a:t>
            </a:r>
          </a:p>
          <a:p/>
          <a:p>
            <a:r>
              <a:t>View 84,551%; like 12,736%; cart 1,656%.</a:t>
            </a:r>
          </a:p>
          <a:p>
            <a:r>
              <a:t>Offer 0,700%; buy_start 0,247%; buy_comp 0,109%.</a:t>
            </a:r>
          </a:p>
          <a:p>
            <a:r>
              <a:t>Tín hiệu mua hoàn tất rất hiếm so với lượt xem.</a:t>
            </a:r>
          </a:p>
          <a:p>
            <a:r>
              <a:t>Cần khai thác nhiều hành vi và báo cáo target mua hàng riêng.</a:t>
            </a:r>
          </a:p>
          <a:p/>
          <a:p>
            <a:r>
              <a:t>Ghi chú: Ảnh vẽ lại theo mapping đúng của preprocessing. Tỷ lệ đếm hành vi không phải conversion rate; không dùng funnel cũ có cart=0.</a:t>
            </a:r>
          </a:p>
          <a:p/>
          <a:p>
            <a:r>
              <a:t>Nguồn tham khảo (URL hoặc đường dẫn trong D:/MerRec):</a:t>
            </a:r>
          </a:p>
          <a:p>
            <a:r>
              <a:t>data/processed/recommender/tables/01_event_mapping.csv</a:t>
            </a:r>
          </a:p>
          <a:p/>
          <a:p>
            <a:r>
              <a:t>Ảnh: s15_event_mapping_corrected.png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 EDA: người dùng có phân bố dài đuôi</a:t>
            </a:r>
          </a:p>
          <a:p/>
          <a:p>
            <a:r>
              <a:t>Trung bình 63,23 tương tác/user nhưng trung vị chỉ 12.</a:t>
            </a:r>
          </a:p>
          <a:p>
            <a:r>
              <a:t>P95=275; P99=791; cực đại=29.597.</a:t>
            </a:r>
          </a:p>
          <a:p>
            <a:r>
              <a:t>13,31% user có đúng một tương tác; 31,36% có dưới 5.</a:t>
            </a:r>
          </a:p>
          <a:p>
            <a:r>
              <a:t>Cần xử lý cả ít lịch sử và hoạt động rất mạnh.</a:t>
            </a:r>
          </a:p>
          <a:p/>
          <a:p>
            <a:r>
              <a:t>Ghi chú: Ảnh histogram dùng mẫu 100.000 user. Thống kê tóm tắt tính trên toàn bộ user.</a:t>
            </a:r>
          </a:p>
          <a:p/>
          <a:p>
            <a:r>
              <a:t>Nguồn tham khảo (URL hoặc đường dẫn trong D:/MerRec):</a:t>
            </a:r>
          </a:p>
          <a:p>
            <a:r>
              <a:t>data/processed/eda_merrec_may/kernel_1752/tables/05_user_summary.csv</a:t>
            </a:r>
          </a:p>
          <a:p>
            <a:r>
              <a:t>data/processed/eda_merrec_may/kernel_1752/tables/05_user_thresholds.csv</a:t>
            </a:r>
          </a:p>
          <a:p/>
          <a:p>
            <a:r>
              <a:t>Ảnh: 05_user_interactions_log.png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 EDA: long-tail của sản phẩm</a:t>
            </a:r>
          </a:p>
          <a:p/>
          <a:p>
            <a:r>
              <a:t>Trung vị 2 tương tác/item; trung bình 5,82.</a:t>
            </a:r>
          </a:p>
          <a:p>
            <a:r>
              <a:t>38,80% item có dưới 2 tương tác; 71,17% có dưới 5.</a:t>
            </a:r>
          </a:p>
          <a:p>
            <a:r>
              <a:t>85,59% item có dưới 10 tương tác.</a:t>
            </a:r>
          </a:p>
          <a:p>
            <a:r>
              <a:t>Cần quan tâm tới item ít dữ liệu, không chỉ item phổ biến.</a:t>
            </a:r>
          </a:p>
          <a:p/>
          <a:p>
            <a:r>
              <a:t>Ghi chú: Histogram dùng mẫu 100.000 item. Không tự kết luận quy luật 80/20 hoặc dùng view_only_items từ mapping EDA cũ.</a:t>
            </a:r>
          </a:p>
          <a:p/>
          <a:p>
            <a:r>
              <a:t>Nguồn tham khảo (URL hoặc đường dẫn trong D:/MerRec):</a:t>
            </a:r>
          </a:p>
          <a:p>
            <a:r>
              <a:t>data/processed/eda_merrec_may/kernel_1752/tables/06_item_summary.csv</a:t>
            </a:r>
          </a:p>
          <a:p>
            <a:r>
              <a:t>data/processed/eda_merrec_may/kernel_1752/tables/06_cold_items.csv</a:t>
            </a:r>
          </a:p>
          <a:p/>
          <a:p>
            <a:r>
              <a:t>Ảnh: 06_item_interactions_log.png, 06_popularity_pareto.png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 EDA: các phiên tương tác thường ngắn</a:t>
            </a:r>
          </a:p>
          <a:p/>
          <a:p>
            <a:r>
              <a:t>34.832.704 session theo cặp (user_id, session_id).</a:t>
            </a:r>
          </a:p>
          <a:p>
            <a:r>
              <a:t>Trung vị 2 tương tác; P95=18; P99=39.</a:t>
            </a:r>
          </a:p>
          <a:p>
            <a:r>
              <a:t>Trung vị thời lượng 37 giây; P95=890 giây.</a:t>
            </a:r>
          </a:p>
          <a:p>
            <a:r>
              <a:t>Hành vi gần nhất là nguồn ngữ cảnh đáng thử nghiệm.</a:t>
            </a:r>
          </a:p>
          <a:p/>
          <a:p>
            <a:r>
              <a:t>Ghi chú: Histogram dùng mẫu 100.000 session. Không dùng pct_has_cart=0 từ EDA cũ. EDA không tự chứng minh mô hình chuỗi tốt hơn.</a:t>
            </a:r>
          </a:p>
          <a:p/>
          <a:p>
            <a:r>
              <a:t>Nguồn tham khảo (URL hoặc đường dẫn trong D:/MerRec):</a:t>
            </a:r>
          </a:p>
          <a:p>
            <a:r>
              <a:t>data/processed/eda_merrec_may/kernel_1752/tables/07_session_summary.csv</a:t>
            </a:r>
          </a:p>
          <a:p/>
          <a:p>
            <a:r>
              <a:t>Ảnh: 07_session_length.png, 07_session_duration.png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 EDA: thời gian và biên dữ liệu</a:t>
            </a:r>
          </a:p>
          <a:p/>
          <a:p>
            <a:r>
              <a:t>01–30/05 có khoảng 5,54–6,29 triệu tương tác/ngày.</a:t>
            </a:r>
          </a:p>
          <a:p>
            <a:r>
              <a:t>31/05 chỉ có 88 sự kiện: không phải ngày quan sát đầy đủ.</a:t>
            </a:r>
          </a:p>
          <a:p>
            <a:r>
              <a:t>Mọi phân tích giờ dùng UTC.</a:t>
            </a:r>
          </a:p>
          <a:p>
            <a:r>
              <a:t>Cần đọc đúng biên dữ liệu trước khi diễn giải xu hướng.</a:t>
            </a:r>
          </a:p>
          <a:p/>
          <a:p>
            <a:r>
              <a:t>Ghi chú: Không kết luận nhu cầu thị trường sụt giảm vào 31/05. Không đổi giờ UTC thành giờ địa phương nếu chưa xác nhận.</a:t>
            </a:r>
          </a:p>
          <a:p/>
          <a:p>
            <a:r>
              <a:t>Nguồn tham khảo (URL hoặc đường dẫn trong D:/MerRec):</a:t>
            </a:r>
          </a:p>
          <a:p>
            <a:r>
              <a:t>data/processed/eda_merrec_may/kernel_1752/tables/09_daily.csv</a:t>
            </a:r>
          </a:p>
          <a:p/>
          <a:p>
            <a:r>
              <a:t>Ảnh: 09_daily_interactions.png, 09_day_hour_heatmap.png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 EDA: mức độ quan tâm theo danh mục</a:t>
            </a:r>
          </a:p>
          <a:p/>
          <a:p>
            <a:r>
              <a:t>Women: 59.154.207 tương tác, khoảng 33,83% toàn bộ.</a:t>
            </a:r>
          </a:p>
          <a:p>
            <a:r>
              <a:t>Toys &amp; Collectibles: 32.901.840; Men: 15.672.537.</a:t>
            </a:r>
          </a:p>
          <a:p>
            <a:r>
              <a:t>Category1 nổi bật gồm Shoes và Women’s handbags.</a:t>
            </a:r>
          </a:p>
          <a:p>
            <a:r>
              <a:t>Category phân cấp là nguồn đặc trưng cho nội dung và retrieval.</a:t>
            </a:r>
          </a:p>
          <a:p/>
          <a:p>
            <a:r>
              <a:t>Ghi chú: Biểu đồ là số tương tác; không phải số item, số người mua hoặc thị phần.</a:t>
            </a:r>
          </a:p>
          <a:p/>
          <a:p>
            <a:r>
              <a:t>Nguồn tham khảo (URL hoặc đường dẫn trong D:/MerRec):</a:t>
            </a:r>
          </a:p>
          <a:p>
            <a:r>
              <a:t>data/processed/eda_merrec_may/kernel_1752/tables/10_top_category0.csv</a:t>
            </a:r>
          </a:p>
          <a:p>
            <a:r>
              <a:t>data/processed/eda_merrec_may/kernel_1752/tables/10_top_category1.csv</a:t>
            </a:r>
          </a:p>
          <a:p/>
          <a:p>
            <a:r>
              <a:t>Ảnh: 10_top_category0.png, 10_top_category1.png</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 EDA: phân bố giá lệch phải</a:t>
            </a:r>
          </a:p>
          <a:p/>
          <a:p>
            <a:r>
              <a:t>Giá trung bình 62,69; trung vị 25; P95=225; P99=636.</a:t>
            </a:r>
          </a:p>
          <a:p>
            <a:r>
              <a:t>Khoảng giá quan sát 1–5.000, theo đơn vị gốc của dataset.</a:t>
            </a:r>
          </a:p>
          <a:p>
            <a:r>
              <a:t>11,51% dòng ngoài ngưỡng IQR; không đồng nghĩa đều là lỗi.</a:t>
            </a:r>
          </a:p>
          <a:p>
            <a:r>
              <a:t>Two-Tower dùng log(1+price), sau đó chuẩn hóa mean/std.</a:t>
            </a:r>
          </a:p>
          <a:p/>
          <a:p>
            <a:r>
              <a:t>Ghi chú: Thống kê theo dòng tương tác, không phải item duy nhất. Không tự quy đổi tiền tệ.</a:t>
            </a:r>
          </a:p>
          <a:p/>
          <a:p>
            <a:r>
              <a:t>Nguồn tham khảo (URL hoặc đường dẫn trong D:/MerRec):</a:t>
            </a:r>
          </a:p>
          <a:p>
            <a:r>
              <a:t>data/processed/eda_merrec_may/kernel_1752/tables/11_price_stats.csv</a:t>
            </a:r>
          </a:p>
          <a:p>
            <a:r>
              <a:t>data/processed/eda_merrec_may/kernel_1752/tables/11_price_outliers.csv</a:t>
            </a:r>
          </a:p>
          <a:p>
            <a:r>
              <a:t>training/models/05_two_tower.ipynb</a:t>
            </a:r>
          </a:p>
          <a:p/>
          <a:p>
            <a:r>
              <a:t>Ảnh: 11_price_log_hist.png</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 Từ EDA đến quyết định mô hình hóa</a:t>
            </a:r>
          </a:p>
          <a:p/>
          <a:p>
            <a:r>
              <a:t>130.233.126 cặp user–item duy nhất; độ thưa 99,999843%.</a:t>
            </a:r>
          </a:p>
          <a:p>
            <a:r>
              <a:t>25,53% phần tương tác là lặp thêm trên các cặp đã có.</a:t>
            </a:r>
          </a:p>
          <a:p>
            <a:r>
              <a:t>Dữ liệu thưa → thử implicit CF, metadata và chuỗi hành vi.</a:t>
            </a:r>
          </a:p>
          <a:p>
            <a:r>
              <a:t>One-pass 5-core loại 22,33% tương tác trong chẩn đoán.</a:t>
            </a:r>
          </a:p>
          <a:p/>
          <a:p>
            <a:r>
              <a:t>Ghi chú: One-pass k-core chưa phải thuật toán k-core lặp tới hội tụ và không phải bước lọc đã áp dụng trong preprocessing cuối.</a:t>
            </a:r>
          </a:p>
          <a:p/>
          <a:p>
            <a:r>
              <a:t>Nguồn tham khảo (URL hoặc đường dẫn trong D:/MerRec):</a:t>
            </a:r>
          </a:p>
          <a:p>
            <a:r>
              <a:t>data/processed/eda_merrec_may/kernel_1752/tables/12_matrix_sparsity.csv</a:t>
            </a:r>
          </a:p>
          <a:p>
            <a:r>
              <a:t>data/processed/eda_merrec_may/kernel_1752/tables/12_repeated_interactions.csv</a:t>
            </a:r>
          </a:p>
          <a:p>
            <a:r>
              <a:t>data/processed/eda_merrec_may/kernel_1752/tables/12_k_core_one_pass.csv</a:t>
            </a:r>
          </a:p>
          <a:p/>
          <a:p>
            <a:r>
              <a:t>Ảnh: 12_k_core_removed.png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 Implicit feedback có trọng số</a:t>
            </a:r>
          </a:p>
          <a:p/>
          <a:p>
            <a:r>
              <a:t>view=1; like=2; cart=4; offer=5; buy_start=7; buy_comp=10.</a:t>
            </a:r>
          </a:p>
          <a:p>
            <a:r>
              <a:t>implicit_score(u,i) = tổng trọng số sự kiện của cặp user–item.</a:t>
            </a:r>
          </a:p>
          <a:p>
            <a:r>
              <a:t>Lưu thêm số hành vi từng loại và thời điểm tương tác cuối.</a:t>
            </a:r>
          </a:p>
          <a:p>
            <a:r>
              <a:t>TRAIN tổng hợp thành 109.718.519 cặp user–item.</a:t>
            </a:r>
          </a:p>
          <a:p/>
          <a:p>
            <a:r>
              <a:t>Ghi chú: Trọng số là cấu hình của dự án, không phải giá trị mô hình tự học.</a:t>
            </a:r>
          </a:p>
          <a:p/>
          <a:p>
            <a:r>
              <a:t>Nguồn tham khảo (URL hoặc đường dẫn trong D:/MerRec):</a:t>
            </a:r>
          </a:p>
          <a:p>
            <a:r>
              <a:t>training/01_preprocess.ipynb</a:t>
            </a:r>
          </a:p>
          <a:p>
            <a:r>
              <a:t>data/processed/recommender/tables/04_cf_train_summary.csv</a:t>
            </a:r>
          </a:p>
          <a:p/>
          <a:p>
            <a:r>
              <a:t>Ảnh: s23_event_weights.png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 Biểu diễn nội dung và metadata</a:t>
            </a:r>
          </a:p>
          <a:p/>
          <a:p>
            <a:r>
              <a:t>Content-Based: Hashing TF-IDF 262.144 chiều, unigram và bigram.</a:t>
            </a:r>
          </a:p>
          <a:p>
            <a:r>
              <a:t>Văn bản: name, category0/1/2, brand, condition.</a:t>
            </a:r>
          </a:p>
          <a:p>
            <a:r>
              <a:t>Two-Tower: hash 7 trường metadata thành embedding, ghép price_z.</a:t>
            </a:r>
          </a:p>
          <a:p>
            <a:r>
              <a:t>Hashing và batch processing giúp kiểm soát bộ nhớ.</a:t>
            </a:r>
          </a:p>
          <a:p/>
          <a:p>
            <a:r>
              <a:t>Ghi chú: Content-Based dùng full metadata catalog; cần ghi rõ giới hạn đánh giá thời gian khi bàn kết quả.</a:t>
            </a:r>
          </a:p>
          <a:p/>
          <a:p>
            <a:r>
              <a:t>Nguồn tham khảo (URL hoặc đường dẫn trong D:/MerRec):</a:t>
            </a:r>
          </a:p>
          <a:p>
            <a:r>
              <a:t>training/models/01_content_based.ipynb</a:t>
            </a:r>
          </a:p>
          <a:p>
            <a:r>
              <a:t>training/models/05_two_tower.ipynb</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 Chuỗi item và hành vi cho GRU4Rec</a:t>
            </a:r>
          </a:p>
          <a:p/>
          <a:p>
            <a:r>
              <a:t>Lịch sử được sắp theo thời gian; mỗi bước có item và loại hành vi.</a:t>
            </a:r>
          </a:p>
          <a:p>
            <a:r>
              <a:t>Item embedding 32 chiều; event embedding 16 chiều.</a:t>
            </a:r>
          </a:p>
          <a:p>
            <a:r>
              <a:t>Độ dài cấu hình tối đa 100; PAD=0, OOV=1.</a:t>
            </a:r>
          </a:p>
          <a:p>
            <a:r>
              <a:t>Nhãn là item tiếp theo; hành vi là feature đầu vào.</a:t>
            </a:r>
          </a:p>
          <a:p/>
          <a:p>
            <a:r>
              <a:t>Ghi chú: Chuỗi trên là ví dụ mô tả phương pháp, không phải dữ liệu thật của một người dùng.</a:t>
            </a:r>
          </a:p>
          <a:p/>
          <a:p>
            <a:r>
              <a:t>Nguồn tham khảo (URL hoặc đường dẫn trong D:/MerRec):</a:t>
            </a:r>
          </a:p>
          <a:p>
            <a:r>
              <a:t>training/models/04_gru4rec.ipynb</a:t>
            </a:r>
          </a:p>
          <a:p>
            <a:r>
              <a:t>artifacts/merrec_models/GRU4Rec/serving/gru4rec_config.json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 Các nhóm mô hình và phạm vi thực nghiệm</a:t>
            </a:r>
          </a:p>
          <a:p/>
          <a:p>
            <a:r>
              <a:t>Baseline/fallback: Popularity và Trending từ tương tác có trọng số.</a:t>
            </a:r>
          </a:p>
          <a:p>
            <a:r>
              <a:t>Truy hồi: Content-Based, Co-visitation, ALS, GRU4Rec và Two-Tower.</a:t>
            </a:r>
          </a:p>
          <a:p>
            <a:r>
              <a:t>Xếp hạng ứng viên: DCN và LightGBM Ranker; đã có checkpoint và kết quả.</a:t>
            </a:r>
          </a:p>
          <a:p>
            <a:r>
              <a:t>Đánh giá riêng retrieval, sampled validation và reranking theo từng giao thức.</a:t>
            </a:r>
          </a:p>
          <a:p/>
          <a:p>
            <a:r>
              <a:t>Ghi chú: Giới thiệu đúng vai trò của mỗi nhóm. DCN và LightGBM xếp hạng tập ứng viên, không chấm toàn bộ catalog trong mỗi yêu cầu.</a:t>
            </a:r>
          </a:p>
          <a:p/>
          <a:p>
            <a:r>
              <a:t>Nguồn tham khảo (URL hoặc đường dẫn trong D:/MerRec):</a:t>
            </a:r>
          </a:p>
          <a:p>
            <a:r>
              <a:t>training/models</a:t>
            </a:r>
          </a:p>
          <a:p>
            <a:r>
              <a:t>artifacts/merrec_models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 Pipeline offline: từ dữ liệu đến model</a:t>
            </a:r>
          </a:p>
          <a:p/>
          <a:p>
            <a:r>
              <a:t>Chuẩn hóa Parquet, lọc dữ liệu và chia TRAIN / VAL / TEST theo thời gian.</a:t>
            </a:r>
          </a:p>
          <a:p>
            <a:r>
              <a:t>Tạo metadata, implicit pairs và chuỗi hành vi cho từng nhóm mô hình.</a:t>
            </a:r>
          </a:p>
          <a:p>
            <a:r>
              <a:t>Huấn luyện retrieval → xuất ứng viên và đặc trưng → huấn luyện ranker.</a:t>
            </a:r>
          </a:p>
          <a:p>
            <a:r>
              <a:t>Chọn tham số trên VAL; lưu checkpoint, schema và kết quả TEST theo protocol.</a:t>
            </a:r>
          </a:p>
          <a:p/>
          <a:p>
            <a:r>
              <a:t>Ghi chú: Đọc sơ đồ từ trái sang phải. Dữ liệu đầu vào được xử lý trước khi sinh các nhánh đặc trưng. Retrieval tạo tập ứng viên; ranker học thứ tự của ứng viên. TRAIN dùng học tham số, VAL dùng lựa chọn, TEST dùng báo cáo. Không chạy lại training khi biên soạn bài này.</a:t>
            </a:r>
          </a:p>
          <a:p/>
          <a:p>
            <a:r>
              <a:t>Nguồn tham khảo (URL hoặc đường dẫn trong D:/MerRec):</a:t>
            </a:r>
          </a:p>
          <a:p>
            <a:r>
              <a:t>training/01_preprocess.ipynb</a:t>
            </a:r>
          </a:p>
          <a:p>
            <a:r>
              <a:t>scripts/export_all_candidate_datasets.py</a:t>
            </a:r>
          </a:p>
          <a:p>
            <a:r>
              <a:t>scripts/build_ranker_datasets.py</a:t>
            </a:r>
          </a:p>
          <a:p>
            <a:r>
              <a:t>scripts/train_lightgbm_ranker.py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28 — Pipeline gợi ý: truy hồi → hợp nhất → xếp hạng</a:t>
            </a:r>
          </a:p>
          <a:p/>
          <a:p>
            <a:r>
              <a:t>Đầu vào: user/session, lịch sử hành vi, ngữ cảnh trang và item đang xem.</a:t>
            </a:r>
          </a:p>
          <a:p>
            <a:r>
              <a:t>Content-Based, Co-visitation, ALS, GRU4Rec, Two-Tower tạo các nguồn ứng viên.</a:t>
            </a:r>
          </a:p>
          <a:p>
            <a:r>
              <a:t>Hợp nhất theo item_id; giữ score/rank từng nguồn; lọc lịch sử theo policy.</a:t>
            </a:r>
          </a:p>
          <a:p>
            <a:r>
              <a:t>DCN hoặc LightGBM xếp hạng → lấy Top-K → ghép metadata và ảnh để hiển thị.</a:t>
            </a:r>
          </a:p>
          <a:p/>
          <a:p>
            <a:r>
              <a:t>Ghi chú: Đây là kiến trúc hai tầng của thực nghiệm. Năm nguồn truy hồi có đầu vào và cách tính điểm khác nhau. Hợp nhất không chỉ ghép danh sách: cần khử trùng và giữ đặc trưng nguồn cho ranker. Popularity/Trending là baseline hoặc phương án dự phòng. Nhánh có thể chạy trong phục vụ còn phụ thuộc cấu hình và artifact khả dụng; xem sơ đồ online ở cuối phần chính.</a:t>
            </a:r>
          </a:p>
          <a:p/>
          <a:p>
            <a:r>
              <a:t>Nguồn tham khảo (URL hoặc đường dẫn trong D:/MerRec):</a:t>
            </a:r>
          </a:p>
          <a:p>
            <a:r>
              <a:t>scripts/candidate_case_builder.py</a:t>
            </a:r>
          </a:p>
          <a:p>
            <a:r>
              <a:t>scripts/build_ranker_datasets.py</a:t>
            </a:r>
          </a:p>
          <a:p>
            <a:r>
              <a:t>scripts/online_models.py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29 — Popularity và Trending</a:t>
            </a:r>
          </a:p>
          <a:p/>
          <a:p>
            <a:r>
              <a:t>Popularity tổng hợp mức tương tác có trọng số theo item.</a:t>
            </a:r>
          </a:p>
          <a:p>
            <a:r>
              <a:t>Trending giảm ảnh hưởng sự kiện cũ với half-life 3 ngày.</a:t>
            </a:r>
          </a:p>
          <a:p>
            <a:r>
              <a:t>Điểm trending = Σ weight × 0,5^(tuổi sự kiện/3 ngày).</a:t>
            </a:r>
          </a:p>
          <a:p>
            <a:r>
              <a:t>Snapshot TRAIN dùng offline; snapshot processed toàn bộ phục vụ catalog/demo.</a:t>
            </a:r>
          </a:p>
          <a:p/>
          <a:p>
            <a:r>
              <a:t>Ghi chú: Không dùng snapshot toàn thời gian để báo cáo chất lượng dự đoán quá khứ.</a:t>
            </a:r>
          </a:p>
          <a:p/>
          <a:p>
            <a:r>
              <a:t>Nguồn tham khảo (URL hoặc đường dẫn trong D:/MerRec):</a:t>
            </a:r>
          </a:p>
          <a:p>
            <a:r>
              <a:t>training/01_preprocess.ipynb</a:t>
            </a:r>
          </a:p>
          <a:p>
            <a:r>
              <a:t>training/models/00_popularity_trending.ipynb</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30 — Content-Based: gợi ý từ hồ sơ nội dung</a:t>
            </a:r>
          </a:p>
          <a:p/>
          <a:p>
            <a:r>
              <a:t>Sản phẩm được biểu diễn bằng Hashing TF-IDF và các thành phần điểm trong notebook.</a:t>
            </a:r>
          </a:p>
          <a:p>
            <a:r>
              <a:t>Hồ sơ user dùng tối đa 100 item lịch sử, recency decay 0,97.</a:t>
            </a:r>
          </a:p>
          <a:p>
            <a:r>
              <a:t>So khớp vector chuẩn hóa; tìm qua các shard; lọc item đã xem.</a:t>
            </a:r>
          </a:p>
          <a:p>
            <a:r>
              <a:t>VAL dùng lịch sử TRAIN; TEST dùng lịch sử TRAIN+VAL.</a:t>
            </a:r>
          </a:p>
          <a:p/>
          <a:p>
            <a:r>
              <a:t>Ghi chú: Catalog metadata và IDF dùng cả catalog đầy đủ, gồm các split. Không coi là benchmark thời gian nghiêm ngặt tương đương train-only metadata.</a:t>
            </a:r>
          </a:p>
          <a:p/>
          <a:p>
            <a:r>
              <a:t>Nguồn tham khảo (URL hoặc đường dẫn trong D:/MerRec):</a:t>
            </a:r>
          </a:p>
          <a:p>
            <a:r>
              <a:t>training/models/01_content_based.ipynb</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31 — Co-visitation: quan hệ đồng xuất hiện</a:t>
            </a:r>
          </a:p>
          <a:p/>
          <a:p>
            <a:r>
              <a:t>Chia session bucket → tạo cặp sliding window → reduce Top-K.</a:t>
            </a:r>
          </a:p>
          <a:p>
            <a:r>
              <a:t>Best VAL: history_items=30, decay=0,9.</a:t>
            </a:r>
          </a:p>
          <a:p>
            <a:r>
              <a:t>reverse_weight=0,4; popularity_penalty=0,1; window=5; model_topk=250.</a:t>
            </a:r>
          </a:p>
          <a:p>
            <a:r>
              <a:t>Refit TRAIN+VAL sau tuning, rồi đánh giá TEST.</a:t>
            </a:r>
          </a:p>
          <a:p/>
          <a:p>
            <a:r>
              <a:t>Nguồn tham khảo (URL hoặc đường dẫn trong D:/MerRec):</a:t>
            </a:r>
          </a:p>
          <a:p>
            <a:r>
              <a:t>training/models/02_covisitation.ipynb</a:t>
            </a:r>
          </a:p>
          <a:p>
            <a:r>
              <a:t>training/checkpoints/covisitation/polars_v2/tuning/best_config.json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32 — ALS: collaborative filtering cho implicit data</a:t>
            </a:r>
          </a:p>
          <a:p/>
          <a:p>
            <a:r>
              <a:t>Học vector ẩn user và item từ ma trận tương tác thưa.</a:t>
            </a:r>
          </a:p>
          <a:p>
            <a:r>
              <a:t>Artifact: factors=32, regularization=0,15, alpha=40, iterations=12.</a:t>
            </a:r>
          </a:p>
          <a:p>
            <a:r>
              <a:t>Chọn cấu hình bằng POSITIVE NDCG@20 trên VAL.</a:t>
            </a:r>
          </a:p>
          <a:p>
            <a:r>
              <a:t>Polars/PyArrow và CSR trên đĩa giúp kiểm soát bộ nhớ.</a:t>
            </a:r>
          </a:p>
          <a:p/>
          <a:p>
            <a:r>
              <a:t>Nguồn tham khảo (URL hoặc đường dẫn trong D:/MerRec):</a:t>
            </a:r>
          </a:p>
          <a:p>
            <a:r>
              <a:t>training/models/03_als.ipynb</a:t>
            </a:r>
          </a:p>
          <a:p>
            <a:r>
              <a:t>artifacts/merrec_models/ALS/serving/als_config.json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33 — GRU4Rec: học thứ tự và loại hành vi</a:t>
            </a:r>
          </a:p>
          <a:p/>
          <a:p>
            <a:r>
              <a:t>Ghép item/event embedding → GRU 2 lớp, hidden_dim=128.</a:t>
            </a:r>
          </a:p>
          <a:p>
            <a:r>
              <a:t>Dự đoán item tiếp theo với sampled softmax; cấu hình train 64 negatives.</a:t>
            </a:r>
          </a:p>
          <a:p>
            <a:r>
              <a:t>Item embedding đặt CPU; GRU/dense được thiết kế chạy GPU.</a:t>
            </a:r>
          </a:p>
          <a:p>
            <a:r>
              <a:t>Metric đang có là sampled validation, không phải full-catalog TEST.</a:t>
            </a:r>
          </a:p>
          <a:p/>
          <a:p>
            <a:r>
              <a:t>Ghi chú: Catalog TRAIN đầy đủ không có nghĩa metric được đo trên toàn catalog. Không khẳng định index đã tồn tại chỉ từ serving config.</a:t>
            </a:r>
          </a:p>
          <a:p/>
          <a:p>
            <a:r>
              <a:t>Nguồn tham khảo (URL hoặc đường dẫn trong D:/MerRec):</a:t>
            </a:r>
          </a:p>
          <a:p>
            <a:r>
              <a:t>training/models/04_gru4rec.ipynb</a:t>
            </a:r>
          </a:p>
          <a:p>
            <a:r>
              <a:t>artifacts/merrec_models/GRU4Rec/metrics/train_history.json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34 — Two-Tower: biểu diễn user và item</a:t>
            </a:r>
          </a:p>
          <a:p/>
          <a:p>
            <a:r>
              <a:t>User tower: user embedding 64 chiều.</a:t>
            </a:r>
          </a:p>
          <a:p>
            <a:r>
              <a:t>Item tower: 7 metadata embedding ×16 chiều + price_z → MLP 256 → 64.</a:t>
            </a:r>
          </a:p>
          <a:p>
            <a:r>
              <a:t>Chuẩn hóa vector; in-batch negatives và symmetric InfoNCE.</a:t>
            </a:r>
          </a:p>
          <a:p>
            <a:r>
              <a:t>Summary ghi FAISS index chứa 27.328.461 TRAIN item.</a:t>
            </a:r>
          </a:p>
          <a:p/>
          <a:p>
            <a:r>
              <a:t>Ghi chú: Không suy ra website đã phục vụ bằng model này. Cold-user fallback là vấn đề cần tích hợp/kiểm chứng.</a:t>
            </a:r>
          </a:p>
          <a:p/>
          <a:p>
            <a:r>
              <a:t>Nguồn tham khảo (URL hoặc đường dẫn trong D:/MerRec):</a:t>
            </a:r>
          </a:p>
          <a:p>
            <a:r>
              <a:t>training/models/05_two_tower.ipynb</a:t>
            </a:r>
          </a:p>
          <a:p>
            <a:r>
              <a:t>artifacts/merrec_models/TwoTower/serving/twotower_config.json</a:t>
            </a:r>
          </a:p>
          <a:p>
            <a:r>
              <a:t>artifacts/merrec_models/TwoTower/metrics/summary.json</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35 — DCN: học tương tác chéo giữa các đặc trưng</a:t>
            </a:r>
          </a:p>
          <a:p/>
          <a:p>
            <a:r>
              <a:t>Ghép embedding metadata với score/rank từ các nguồn truy hồi.</a:t>
            </a:r>
          </a:p>
          <a:p>
            <a:r>
              <a:t>Cross Network gồm 3 lớp; Deep Network có các lớp 256 → 128 → 64.</a:t>
            </a:r>
          </a:p>
          <a:p>
            <a:r>
              <a:t>Embedding 8 chiều; dropout=0,15; tối ưu BCEWithLogitsLoss có trọng số.</a:t>
            </a:r>
          </a:p>
          <a:p>
            <a:r>
              <a:t>Ghép hai nhánh → logit ứng viên → sắp xếp Top-K trong từng case.</a:t>
            </a:r>
          </a:p>
          <a:p/>
          <a:p>
            <a:r>
              <a:t>Ghi chú: DCN kết hợp tương tác đặc trưng rõ ràng trong nhánh Cross với quan hệ phi tuyến trong nhánh Deep. Công thức Cross: x(l+1) = x0 · (w(l)^T x(l)) + b(l) + x(l). Đầu ra là một điểm ứng viên. Notebook chọn checkpoint bằng NDCG@20 trên VAL; không dùng độ giảm train loss làm kết luận chất lượng cuối.</a:t>
            </a:r>
          </a:p>
          <a:p/>
          <a:p>
            <a:r>
              <a:t>Nguồn tham khảo (URL hoặc đường dẫn trong D:/MerRec):</a:t>
            </a:r>
          </a:p>
          <a:p>
            <a:r>
              <a:t>training/models/06_dcn.ipynb</a:t>
            </a:r>
          </a:p>
          <a:p>
            <a:r>
              <a:t>training/dcn/metrics/summary.json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36 — LightGBM Ranker: học thứ tự trong từng yêu cầu</a:t>
            </a:r>
          </a:p>
          <a:p/>
          <a:p>
            <a:r>
              <a:t>LambdaRank; 30 features; nhóm dữ liệu theo case_id.</a:t>
            </a:r>
          </a:p>
          <a:p>
            <a:r>
              <a:t>6 metadata categorical + 20 score/rank nguồn + 4 đặc trưng tổng hợp.</a:t>
            </a:r>
          </a:p>
          <a:p>
            <a:r>
              <a:t>Learning rate=0,03; num_leaves=15; max_depth=6; regularization λ=5.</a:t>
            </a:r>
          </a:p>
          <a:p>
            <a:r>
              <a:t>Best iteration=6; blend chọn trên VAL: 70% model + 30% baseline.</a:t>
            </a:r>
          </a:p>
          <a:p/>
          <a:p>
            <a:r>
              <a:t>Ghi chú: Mỗi case chứa một tập ứng viên của một yêu cầu. Chỉ các case có positive đóng góp gradient trong script hiện tại; đánh giá vẫn cộng điểm 0 cho case không truy hồi được positive. Bốn đặc trưng bổ sung là source_count, rrf_score, candidate_price và candidate_popularity. ID dùng để nhóm/định danh, không phải feature model trong schema hiện tại. Blend dùng điểm model đã chuẩn hóa theo thứ hạng và baseline min-max; không cộng trực tiếp điểm thô.</a:t>
            </a:r>
          </a:p>
          <a:p/>
          <a:p>
            <a:r>
              <a:t>Nguồn tham khảo (URL hoặc đường dẫn trong D:/MerRec):</a:t>
            </a:r>
          </a:p>
          <a:p>
            <a:r>
              <a:t>scripts/train_lightgbm_ranker.py</a:t>
            </a:r>
          </a:p>
          <a:p>
            <a:r>
              <a:t>training/lightgbm_ranker/metrics/summary.json</a:t>
            </a:r>
          </a:p>
          <a:p>
            <a:r>
              <a:t>training/lightgbm_ranker/model/feature_schema.json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37 — Thiết lập huấn luyện</a:t>
            </a:r>
          </a:p>
          <a:p/>
          <a:p>
            <a:r>
              <a:t>ALS: 32 factors, 12 iterations; chọn theo POSITIVE NDCG@20.</a:t>
            </a:r>
          </a:p>
          <a:p>
            <a:r>
              <a:t>GRU4Rec: batch=128, tối đa 1 triệu windows/epoch; history có 8 epoch.</a:t>
            </a:r>
          </a:p>
          <a:p>
            <a:r>
              <a:t>Two-Tower: batch=2.048; history có 15 epoch; best ở epoch 15.</a:t>
            </a:r>
          </a:p>
          <a:p>
            <a:r>
              <a:t>Đọc theo batch/row-group, lưu checkpoint và hỗ trợ resume.</a:t>
            </a:r>
          </a:p>
          <a:p/>
          <a:p>
            <a:r>
              <a:t>Ghi chú: Không tự nêu GPU, thời gian toàn bộ training hoặc số epoch full-pass chưa xác minh. GRU bị giới hạn windows mỗi epoch.</a:t>
            </a:r>
          </a:p>
          <a:p/>
          <a:p>
            <a:r>
              <a:t>Nguồn tham khảo (URL hoặc đường dẫn trong D:/MerRec):</a:t>
            </a:r>
          </a:p>
          <a:p>
            <a:r>
              <a:t>training/models/04_gru4rec.ipynb</a:t>
            </a:r>
          </a:p>
          <a:p>
            <a:r>
              <a:t>artifacts/merrec_models/TwoTower/serving/twotower_config.json</a:t>
            </a:r>
          </a:p>
          <a:p>
            <a:r>
              <a:t>artifacts/merrec_models/ALS/serving/als_config.json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38 — Huấn luyện ranker: lưu đúng phiên bản thực nghiệm</a:t>
            </a:r>
          </a:p>
          <a:p/>
          <a:p>
            <a:r>
              <a:t>DCN: history có 10 epoch; best epoch=1 theo VAL NDCG@20.</a:t>
            </a:r>
          </a:p>
          <a:p>
            <a:r>
              <a:t>DCN lượt đã lưu: 1,990,345 dòng TRAIN sau xử lý cho ranker.</a:t>
            </a:r>
          </a:p>
          <a:p>
            <a:r>
              <a:t>LightGBM mới: 3,159/9,997 case TRAIN có positive trong ứng viên.</a:t>
            </a:r>
          </a:p>
          <a:p>
            <a:r>
              <a:t>Checkpoint, feature schema, candidate policy và metric phải thuộc cùng một lượt.</a:t>
            </a:r>
          </a:p>
          <a:p/>
          <a:p>
            <a:r>
              <a:t>Ghi chú: Các file summary DCN và LightGBM mô tả hai lượt khác nhau. Dataset ranker hiện tại đã được xây lại: không dùng row count hiện tại để diễn giải ngược lượt DCN cũ. LightGBM chọn số cây bằng early stopping NDCG@20 với patience 50; best iteration đang lưu là 6. Không suy ra thời gian hoặc phần cứng huấn luyện từ các file chưa ghi nhận.</a:t>
            </a:r>
          </a:p>
          <a:p/>
          <a:p>
            <a:r>
              <a:t>Nguồn tham khảo (URL hoặc đường dẫn trong D:/MerRec):</a:t>
            </a:r>
          </a:p>
          <a:p>
            <a:r>
              <a:t>training/dcn/metrics/summary.json</a:t>
            </a:r>
          </a:p>
          <a:p>
            <a:r>
              <a:t>training/lightgbm_ranker/metrics/summary.json</a:t>
            </a:r>
          </a:p>
          <a:p>
            <a:r>
              <a:t>training/dcn/metrics/train_history.json</a:t>
            </a:r>
          </a:p>
          <a:p>
            <a:r>
              <a:t>scripts/train_lightgbm_ranker.py</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39 — Theo dõi loss và chọn checkpoint</a:t>
            </a:r>
          </a:p>
          <a:p/>
          <a:p>
            <a:r>
              <a:t>GRU4Rec: train loss 3,994 → 3,886 trong 8 epoch đã lưu.</a:t>
            </a:r>
          </a:p>
          <a:p>
            <a:r>
              <a:t>Two-Tower: train loss 6,854 → 4,441 trong 15 epoch đã lưu.</a:t>
            </a:r>
          </a:p>
          <a:p>
            <a:r>
              <a:t>GRU chọn epoch 6 theo sampled VAL Recall@20.</a:t>
            </a:r>
          </a:p>
          <a:p>
            <a:r>
              <a:t>Two-Tower chọn epoch 15 theo POSITIVE NDCG@20 trên pool validation.</a:t>
            </a:r>
          </a:p>
          <a:p/>
          <a:p>
            <a:r>
              <a:t>Ghi chú: Hai loss có mục tiêu khác nhau; chỉ đọc xu hướng riêng, không so trị số loss để chọn mô hình.</a:t>
            </a:r>
          </a:p>
          <a:p/>
          <a:p>
            <a:r>
              <a:t>Nguồn tham khảo (URL hoặc đường dẫn trong D:/MerRec):</a:t>
            </a:r>
          </a:p>
          <a:p>
            <a:r>
              <a:t>artifacts/merrec_models/GRU4Rec/metrics/train_history.json</a:t>
            </a:r>
          </a:p>
          <a:p>
            <a:r>
              <a:t>artifacts/merrec_models/TwoTower/metrics/train_history.json</a:t>
            </a:r>
          </a:p>
          <a:p/>
          <a:p>
            <a:r>
              <a:t>Ảnh: s34_training_loss.png</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40 — Đọc đúng giao thức đánh giá</a:t>
            </a:r>
          </a:p>
          <a:p/>
          <a:p>
            <a:r>
              <a:t>Recall đo phần target tìm thấy; HitRate đo có hit; NDCG xét vị trí.</a:t>
            </a:r>
          </a:p>
          <a:p>
            <a:r>
              <a:t>Phải ghi split, nhóm target, số user, candidate universe và seen-item filtering.</a:t>
            </a:r>
          </a:p>
          <a:p>
            <a:r>
              <a:t>Two-Tower VAL POSITIVE NDCG@20: 0,023326 trên pool chọn checkpoint; 0,000826 trên full-index.</a:t>
            </a:r>
          </a:p>
          <a:p>
            <a:r>
              <a:t>GRU4Rec dùng 1 target + 255 negatives, không so trực tiếp với full-index.</a:t>
            </a:r>
          </a:p>
          <a:p/>
          <a:p>
            <a:r>
              <a:t>Ghi chú: Không quy toàn bộ chênh lệch cho FAISS. Muốn xếp hạng các mô hình phải thống nhất protocol.</a:t>
            </a:r>
          </a:p>
          <a:p/>
          <a:p>
            <a:r>
              <a:t>Nguồn tham khảo (URL hoặc đường dẫn trong D:/MerRec):</a:t>
            </a:r>
          </a:p>
          <a:p>
            <a:r>
              <a:t>artifacts/merrec_models/TwoTower/metrics/train_history.json</a:t>
            </a:r>
          </a:p>
          <a:p>
            <a:r>
              <a:t>artifacts/merrec_models/TwoTower/metrics/val_full_index_metrics.json</a:t>
            </a:r>
          </a:p>
          <a:p>
            <a:r>
              <a:t>artifacts/merrec_models/GRU4Rec/metrics/train_history.json</a:t>
            </a:r>
          </a:p>
          <a:p/>
          <a:p>
            <a:r>
              <a:t>Ảnh: s35_twotower_protocols.png</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41 — Kết quả TEST hiện có — từng thực nghiệm riêng</a:t>
            </a:r>
          </a:p>
          <a:p/>
          <a:p>
            <a:r>
              <a:t>Content-Based / POSITIVE: Recall@20=1,2514%; NDCG@20=0,004429.</a:t>
            </a:r>
          </a:p>
          <a:p>
            <a:r>
              <a:t>Co-visitation / POSITIVE: Recall@20=1,2245%; NDCG@20=0,006931.</a:t>
            </a:r>
          </a:p>
          <a:p>
            <a:r>
              <a:t>ALS / POSITIVE: Recall@20=0,1122%; NDCG@20=0,000347.</a:t>
            </a:r>
          </a:p>
          <a:p>
            <a:r>
              <a:t>Two-Tower full-index / POSITIVE: Recall@20=0,0729%; NDCG@20=0,000263.</a:t>
            </a:r>
          </a:p>
          <a:p/>
          <a:p>
            <a:r>
              <a:t>Ghi chú: Content-Based có 192 user POSITIVE, Co-visitation 2.191, ALS 2.201. Two-Tower dùng mẫu TEST cấu hình 5.000 user trước lọc. Khác tập user, coverage, candidate universe và pipeline target; không kết luận mô hình thắng chung. DCN và LightGBM được trình bày ở nhóm kết quả reranking riêng.</a:t>
            </a:r>
          </a:p>
          <a:p/>
          <a:p>
            <a:r>
              <a:t>Nguồn tham khảo (URL hoặc đường dẫn trong D:/MerRec):</a:t>
            </a:r>
          </a:p>
          <a:p>
            <a:r>
              <a:t>training/checkpoints/content_based_full_catalog/evaluation_test.csv</a:t>
            </a:r>
          </a:p>
          <a:p>
            <a:r>
              <a:t>training/checkpoints/covisitation/polars_v2/results/test_metrics.csv</a:t>
            </a:r>
          </a:p>
          <a:p>
            <a:r>
              <a:t>artifacts/merrec_models/ALS/metrics/test_metrics.csv</a:t>
            </a:r>
          </a:p>
          <a:p>
            <a:r>
              <a:t>artifacts/merrec_models/TwoTower/metrics/test_full_index_metrics.json</a:t>
            </a:r>
          </a:p>
          <a:p/>
          <a:p>
            <a:r>
              <a:t>Ảnh: s36_results_table.png</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42 — Kết quả GRU4Rec và bài học đánh giá</a:t>
            </a:r>
          </a:p>
          <a:p/>
          <a:p>
            <a:r>
              <a:t>Best sampled validation Recall@20=15,69% tại epoch 6.</a:t>
            </a:r>
          </a:p>
          <a:p>
            <a:r>
              <a:t>1.810 user được đánh giá; mỗi target xếp cùng 255 sampled negatives.</a:t>
            </a:r>
          </a:p>
          <a:p>
            <a:r>
              <a:t>Đây chưa phải metric full-index TEST hoặc chất lượng online.</a:t>
            </a:r>
          </a:p>
          <a:p>
            <a:r>
              <a:t>Bước tiếp theo: thống nhất cohort/candidates và đánh giá full-index.</a:t>
            </a:r>
          </a:p>
          <a:p/>
          <a:p>
            <a:r>
              <a:t>Nguồn tham khảo (URL hoặc đường dẫn trong D:/MerRec):</a:t>
            </a:r>
          </a:p>
          <a:p>
            <a:r>
              <a:t>artifacts/merrec_models/GRU4Rec/metrics/summary.json</a:t>
            </a:r>
          </a:p>
          <a:p>
            <a:r>
              <a:t>artifacts/merrec_models/GRU4Rec/metrics/train_history.json</a:t>
            </a:r>
          </a:p>
          <a:p/>
          <a:p>
            <a:r>
              <a:t>Ảnh: s37_gru_sampled_recall.png</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43 — Đọc kết quả ranker: mẫu số quyết định ý nghĩa</a:t>
            </a:r>
          </a:p>
          <a:p/>
          <a:p>
            <a:r>
              <a:t>Candidate recall: tỷ lệ yêu cầu tìm được target trong tập ứng viên.</a:t>
            </a:r>
          </a:p>
          <a:p>
            <a:r>
              <a:t>Conditional Recall/NDCG: chỉ tính yêu cầu có target trong ứng viên.</a:t>
            </a:r>
          </a:p>
          <a:p>
            <a:r>
              <a:t>All-case Recall/NDCG: tính mọi yêu cầu; không có target nhận điểm 0.</a:t>
            </a:r>
          </a:p>
          <a:p>
            <a:r>
              <a:t>DCN đang báo conditional; LightGBM summary mới có cả hai cách tính.</a:t>
            </a:r>
          </a:p>
          <a:p/>
          <a:p>
            <a:r>
              <a:t>Ghi chú: Với một target mỗi case, all-case Recall@K = số case hit / tất cả case. Conditional Recall@K = số case hit / số case có target trong candidates. Trong cùng dataset, all-case metric bằng conditional metric nhân candidate recall. Quan hệ này giúp phân biệt nút thắt truy hồi và xếp hạng. Chỉ áp dụng phép so sánh trực tiếp khi các case và candidate policy giống nhau.</a:t>
            </a:r>
          </a:p>
          <a:p/>
          <a:p>
            <a:r>
              <a:t>Nguồn tham khảo (URL hoặc đường dẫn trong D:/MerRec):</a:t>
            </a:r>
          </a:p>
          <a:p>
            <a:r>
              <a:t>training/models/06_dcn.ipynb</a:t>
            </a:r>
          </a:p>
          <a:p>
            <a:r>
              <a:t>scripts/train_lightgbm_ranker.py</a:t>
            </a:r>
          </a:p>
          <a:p>
            <a:r>
              <a:t>training/lightgbm_ranker/metrics/summary.json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44 — DCN: kết quả TEST trên candidate pool đã lưu</a:t>
            </a:r>
          </a:p>
          <a:p/>
          <a:p>
            <a:r>
              <a:t>Candidate recall của lượt DCN: 3,38%.</a:t>
            </a:r>
          </a:p>
          <a:p>
            <a:r>
              <a:t>Conditional Recall@20=3,66%; NDCG@20=0,012566.</a:t>
            </a:r>
          </a:p>
          <a:p>
            <a:r>
              <a:t>MRR@20=0,005893; AUC=0,506953.</a:t>
            </a:r>
          </a:p>
          <a:p>
            <a:r>
              <a:t>Đã huấn luyện và đánh giá; kết quả cho thấy cần cải thiện tập ứng viên.</a:t>
            </a:r>
          </a:p>
          <a:p/>
          <a:p>
            <a:r>
              <a:t>Ghi chú: Notebook DCN bỏ qua case không có positive khi tính ranking_metrics, vì vậy phải hiện nhãn conditional. Candidate recall thấp giới hạn những gì ranker có thể thu hồi. AUC đo phân tách ở mức cặp ứng viên, không thay thế metric xếp hạng mỗi yêu cầu. Không so các con số này trực tiếp với LightGBM mới vì dataset đã khác. Kết quả chưa tốt vẫn là kết quả thực nghiệm và cần được trình bày trung thực.</a:t>
            </a:r>
          </a:p>
          <a:p/>
          <a:p>
            <a:r>
              <a:t>Nguồn tham khảo (URL hoặc đường dẫn trong D:/MerRec):</a:t>
            </a:r>
          </a:p>
          <a:p>
            <a:r>
              <a:t>training/dcn/metrics/summary.json</a:t>
            </a:r>
          </a:p>
          <a:p>
            <a:r>
              <a:t>training/dcn/metrics/test_metrics.json</a:t>
            </a:r>
          </a:p>
          <a:p>
            <a:r>
              <a:t>training/models/06_dcn.ipynb</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45 — Candidate recall: giới hạn trên của bước xếp hạng</a:t>
            </a:r>
          </a:p>
          <a:p/>
          <a:p>
            <a:r>
              <a:t>TRAIN: 3,159/9,997 case có target (31,60%).</a:t>
            </a:r>
          </a:p>
          <a:p>
            <a:r>
              <a:t>VAL: 934/2,909 case (32,11%).</a:t>
            </a:r>
          </a:p>
          <a:p>
            <a:r>
              <a:t>TEST: 1,535/4,854 case (31,62%).</a:t>
            </a:r>
          </a:p>
          <a:p>
            <a:r>
              <a:t>Dataset hiện tại dùng exclude_history; ranker không thể phục hồi target ngoài candidates.</a:t>
            </a:r>
          </a:p>
          <a:p/>
          <a:p>
            <a:r>
              <a:t>Ghi chú: Các số này lấy từ candidate_audit và khớp summary LightGBM mới. Candidate recall là coverage của truy hồi trên case, không phải warm-item coverage. TEST có khoảng 857 ứng viên/case theo audit. Việc tăng candidate recall cần cân nhắc chi phí truy hồi và độ trễ; thêm cây hoặc lớp neural không giải quyết được target đã bị bỏ mất trước ranker.</a:t>
            </a:r>
          </a:p>
          <a:p/>
          <a:p>
            <a:r>
              <a:t>Nguồn tham khảo (URL hoặc đường dẫn trong D:/MerRec):</a:t>
            </a:r>
          </a:p>
          <a:p>
            <a:r>
              <a:t>training/dcn/dataset/candidate_audit.json</a:t>
            </a:r>
          </a:p>
          <a:p>
            <a:r>
              <a:t>training/lightgbm_ranker/metrics/summary.json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46 — LightGBM: so sánh cùng candidate pool TEST</a:t>
            </a:r>
          </a:p>
          <a:p/>
          <a:p>
            <a:r>
              <a:t>Cùng 4,854 case; không tìm được target được tính 0.</a:t>
            </a:r>
          </a:p>
          <a:p>
            <a:r>
              <a:t>RRF: Recall@20=7,54%; NDCG@20=0,031076.</a:t>
            </a:r>
          </a:p>
          <a:p>
            <a:r>
              <a:t>LightGBM: Recall@20=13,19%; NDCG@20=0,118196.</a:t>
            </a:r>
          </a:p>
          <a:p>
            <a:r>
              <a:t>Blend: Recall@20=17,10%; NDCG@20=0,129527.</a:t>
            </a:r>
          </a:p>
          <a:p/>
          <a:p>
            <a:r>
              <a:t>Ghi chú: Đây là phép so sánh trực tiếp hợp lệ hơn vì ba biến thể được tính trong cùng summary trên cùng TEST và candidate pool. LightGBM thuần và blend đều cải thiện NDCG@20 so với RRF ở lượt này. Trọng số blend đã chọn trên VAL. Cờ accepted_for_serving là gate offline trong artifact, không phải kết quả A/B test hoặc bằng chứng server hiện đang dùng model. Không mở rộng kết luận sang các retrieval model khác giao thức.</a:t>
            </a:r>
          </a:p>
          <a:p/>
          <a:p>
            <a:r>
              <a:t>Nguồn tham khảo (URL hoặc đường dẫn trong D:/MerRec):</a:t>
            </a:r>
          </a:p>
          <a:p>
            <a:r>
              <a:t>training/lightgbm_ranker/metrics/summary.json</a:t>
            </a:r>
          </a:p>
          <a:p>
            <a:r>
              <a:t>scripts/train_lightgbm_ranker.py</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47 — Thảo luận: kết quả tốt đến từ cả hai tầng</a:t>
            </a:r>
          </a:p>
          <a:p/>
          <a:p>
            <a:r>
              <a:t>Retrieval quyết định target có xuất hiện trong candidate pool hay không.</a:t>
            </a:r>
          </a:p>
          <a:p>
            <a:r>
              <a:t>Ranker dùng đặc trưng đa nguồn để đưa target lên vị trí cao hơn.</a:t>
            </a:r>
          </a:p>
          <a:p>
            <a:r>
              <a:t>LightGBM mới tốt hơn RRF trong cùng TEST; chưa suy ra thắng mọi mô hình.</a:t>
            </a:r>
          </a:p>
          <a:p>
            <a:r>
              <a:t>Cần benchmark chung, phân tích cold-start, độ trễ và kiểm thử online.</a:t>
            </a:r>
          </a:p>
          <a:p/>
          <a:p>
            <a:r>
              <a:t>Ghi chú: Phân biệt ba câu hỏi: có truy hồi được đúng sản phẩm không, có xếp sản phẩm đó lên cao không, và người dùng thực có hài lòng không. Thực nghiệm hiện tại trả lời hai câu đầu trong phạm vi dữ liệu đã đo. Chưa đo online CTR/conversion hoặc latency benchmark. File feature_importance.csv cũ chứa feature không có trong schema mới nên không dùng để giải thích model mới. File test_metrics.json LightGBM cũ cũng không trộn vào bảng hiện tại.</a:t>
            </a:r>
          </a:p>
          <a:p/>
          <a:p>
            <a:r>
              <a:t>Nguồn tham khảo (URL hoặc đường dẫn trong D:/MerRec):</a:t>
            </a:r>
          </a:p>
          <a:p>
            <a:r>
              <a:t>training/lightgbm_ranker/metrics/summary.json</a:t>
            </a:r>
          </a:p>
          <a:p>
            <a:r>
              <a:t>training/dcn/metrics/summary.json</a:t>
            </a:r>
          </a:p>
          <a:p>
            <a:r>
              <a:t>training/dcn/dataset/candidate_audit.json</a:t>
            </a:r>
          </a:p>
          <a:p>
            <a:r>
              <a:t>scripts/train_lightgbm_ranker.py</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48 — Kết luận và hướng phát triển</a:t>
            </a:r>
          </a:p>
          <a:p/>
          <a:p>
            <a:r>
              <a:t>Đã xử lý và phân tích 174,87 triệu sự kiện, xây dựng đặc trưng và các nhóm mô hình.</a:t>
            </a:r>
          </a:p>
          <a:p>
            <a:r>
              <a:t>Đã có kết quả Content-Based, Co-visitation, ALS, GRU4Rec, Two-Tower, DCN và LightGBM.</a:t>
            </a:r>
          </a:p>
          <a:p>
            <a:r>
              <a:t>LightGBM blend: TEST Recall@20=17,10%; NDCG@20=0,129527.</a:t>
            </a:r>
          </a:p>
          <a:p>
            <a:r>
              <a:t>Hướng tiếp theo: tăng candidate recall, thống nhất benchmark, kiểm chứng phục vụ và đánh giá online.</a:t>
            </a:r>
          </a:p>
          <a:p/>
          <a:p>
            <a:r>
              <a:t>Ghi chú: Đóng góp là pipeline dữ liệu, đa phương pháp truy hồi và thực nghiệm xếp hạng. Kết quả offline chưa chứng minh tác động doanh thu. Không xem việc có checkpoint là bằng chứng mọi model đang chạy trên website.</a:t>
            </a:r>
          </a:p>
          <a:p/>
          <a:p>
            <a:r>
              <a:t>Nguồn tham khảo (URL hoặc đường dẫn trong D:/MerRec):</a:t>
            </a:r>
          </a:p>
          <a:p>
            <a:r>
              <a:t>training/01_preprocess.ipynb</a:t>
            </a:r>
          </a:p>
          <a:p>
            <a:r>
              <a:t>training/checkpoints</a:t>
            </a:r>
          </a:p>
          <a:p>
            <a:r>
              <a:t>artifacts/merrec_models</a:t>
            </a:r>
          </a:p>
          <a:p>
            <a:r>
              <a:t>training/lightgbm_ranker/metrics/summary.json</a:t>
            </a:r>
          </a:p>
          <a:p>
            <a:r>
              <a:t>training/dcn/metrics/summary.json</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49 — Pipeline online: từ trang web đến danh sách gợi ý</a:t>
            </a:r>
          </a:p>
          <a:p/>
          <a:p>
            <a:r>
              <a:t>RecommendationStrip gọi API Next.js với context, item và session.</a:t>
            </a:r>
          </a:p>
          <a:p>
            <a:r>
              <a:t>Route /api/recommendations hiện ưu tiên backend /api/v1/recommendations.</a:t>
            </a:r>
          </a:p>
          <a:p>
            <a:r>
              <a:t>Backend trả danh sách; khi nhánh đó không trả thành công, route gọi Python bridge.</a:t>
            </a:r>
          </a:p>
          <a:p>
            <a:r>
              <a:t>ProductCard ghép metadata với ảnh trong image/images; ảnh thiếu gọi API ảnh.</a:t>
            </a:r>
          </a:p>
          <a:p/>
          <a:p>
            <a:r>
              <a:t>Ghi chú: Đây là sơ đồ theo code đọc tại thời điểm cập nhật, không phải cam kết mọi nhánh đã chạy model học sâu. Backend còn có /recommendations/feed nối personalization_service; route Next.js hiện đang gọi endpoint /recommendations. online_models hỗ trợ DCN/LightGBM theo MERREC_RANKER, mặc định rules. Phân biệt pipeline thiết kế, module đã có và đường gọi đang sử dụng. Ảnh tìm kiếm không phải nguồn metadata sản phẩm; khi search lỗi giao diện phải báo lỗi và cho thử lại.</a:t>
            </a:r>
          </a:p>
          <a:p/>
          <a:p>
            <a:r>
              <a:t>Nguồn tham khảo (URL hoặc đường dẫn trong D:/MerRec):</a:t>
            </a:r>
          </a:p>
          <a:p>
            <a:r>
              <a:t>frontend/src/components/recommendation-strip/RecommendationStrip.tsx</a:t>
            </a:r>
          </a:p>
          <a:p>
            <a:r>
              <a:t>frontend/src/app/api/recommendations/route.ts</a:t>
            </a:r>
          </a:p>
          <a:p>
            <a:r>
              <a:t>backend/src/api/recommendations.py</a:t>
            </a:r>
          </a:p>
          <a:p>
            <a:r>
              <a:t>scripts/online_models.py</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50 — Vòng phản hồi: hành vi → dữ liệu → gợi ý lần sau</a:t>
            </a:r>
          </a:p>
          <a:p/>
          <a:p>
            <a:r>
              <a:t>Ghi view/click/like/cart cùng item, session, ngữ cảnh và vị trí gợi ý.</a:t>
            </a:r>
          </a:p>
          <a:p>
            <a:r>
              <a:t>Client giữ sự kiện trong outbox; gửi API và thử lại với event_key cũ.</a:t>
            </a:r>
          </a:p>
          <a:p>
            <a:r>
              <a:t>Ảnh đã xác minh lưu SQLite; outbox đồng bộ PostgreSQL khi khả dụng.</a:t>
            </a:r>
          </a:p>
          <a:p>
            <a:r>
              <a:t>Dùng dữ liệu phản hồi cho lần gợi ý/huấn luyện sau; chưa có tự huấn luyện realtime.</a:t>
            </a:r>
          </a:p>
          <a:p/>
          <a:p>
            <a:r>
              <a:t>Ghi chú: Vòng phản hồi không có nghĩa trọng số neural network cập nhật ngay sau mỗi click. Client có cơ chế lưu hàng đợi và thông báo tương tác đã lưu để làm mới gợi ý. Chưa kiểm chứng toàn bộ vòng event tới PostgreSQL và retraining trong công việc chỉnh slide. Kiểm thử ảnh đã dùng sự kiện giả lập tại biên ghi event để tránh tạo hành vi kiểm thử vào dữ liệu thật. Khả năng đồng bộ ảnh và kiểm tra SSRF thuộc module riêng với test local.</a:t>
            </a:r>
          </a:p>
          <a:p/>
          <a:p>
            <a:r>
              <a:t>Nguồn tham khảo (URL hoặc đường dẫn trong D:/MerRec):</a:t>
            </a:r>
          </a:p>
          <a:p>
            <a:r>
              <a:t>frontend/src/lib/recommendations-client.ts</a:t>
            </a:r>
          </a:p>
          <a:p>
            <a:r>
              <a:t>frontend/src/app/api/events/route.ts</a:t>
            </a:r>
          </a:p>
          <a:p>
            <a:r>
              <a:t>scripts/storefront_images.py</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51 — Demo MerRec — trình bày riêng</a:t>
            </a:r>
          </a:p>
          <a:p/>
          <a:p>
            <a:r>
              <a:t>Mở trang chủ và cuộn đến khu vực gợi ý.</a:t>
            </a:r>
          </a:p>
          <a:p>
            <a:r>
              <a:t>Quan sát ảnh sản phẩm xuất hiện ngay trên thẻ.</a:t>
            </a:r>
          </a:p>
          <a:p>
            <a:r>
              <a:t>Chọn sản phẩm để chuyển sang trang chi tiết.</a:t>
            </a:r>
          </a:p>
          <a:p/>
          <a:p>
            <a:r>
              <a:t>Ghi chú: Ảnh chụp website local ở chế độ khách. Giao diện dùng thương hiệu KDZino, dữ liệu và thực nghiệm dùng MerRec. Ảnh chụp chứng minh giao diện tại thời điểm kiểm tra, không chứng minh hiệu quả gợi ý online. Tên model cần đọc từ phản hồi API thực tế.</a:t>
            </a:r>
          </a:p>
          <a:p/>
          <a:p>
            <a:r>
              <a:t>Ảnh: demo-home-real.png</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52 — Ảnh demo và thảo luận</a:t>
            </a:r>
          </a:p>
          <a:p/>
          <a:p>
            <a:r>
              <a:t>Xem ảnh và metadata sản phẩm từ catalog.</a:t>
            </a:r>
          </a:p>
          <a:p>
            <a:r>
              <a:t>Cuộn tới danh sách sản phẩm tương tự.</a:t>
            </a:r>
          </a:p>
          <a:p>
            <a:r>
              <a:t>Thảo luận: coverage, thứ tự gợi ý và khả năng phục vụ.</a:t>
            </a:r>
          </a:p>
          <a:p/>
          <a:p>
            <a:r>
              <a:t>Ghi chú: Ảnh chụp website local ở chế độ khách. Giao diện dùng thương hiệu KDZino, dữ liệu và thực nghiệm dùng MerRec. Ảnh chụp chứng minh giao diện tại thời điểm kiểm tra, không chứng minh hiệu quả gợi ý online. Tên model cần đọc từ phản hồi API thực tế.</a:t>
            </a:r>
          </a:p>
          <a:p/>
          <a:p>
            <a:r>
              <a:t>Ảnh: demo-detail-real.png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moit.gov.vn/khoa-hoc-va-cong-nghe/thuong-mai-dien-tu-viet-nam-nam-2024-nhung-buoc-tien-va-thach-thuc.html" TargetMode="Externa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abs/2402.14230" TargetMode="Externa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5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13C"/>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MỞ ĐẦU</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MerRec — Gợi ý sản phẩm từ dữ liệu hành vi</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01 / 52</a:t>
            </a:r>
          </a:p>
        </p:txBody>
      </p:sp>
      <p:sp>
        <p:nvSpPr>
          <p:cNvPr id="8" name="Rectangle 7"/>
          <p:cNvSpPr/>
          <p:nvPr/>
        </p:nvSpPr>
        <p:spPr>
          <a:xfrm>
            <a:off x="566928" y="6391656"/>
            <a:ext cx="212773"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0"/>
            <a:ext cx="12191999" cy="6858000"/>
          </a:xfrm>
          <a:prstGeom prst="rect">
            <a:avLst/>
          </a:prstGeom>
          <a:solidFill>
            <a:srgbClr val="1021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8368" y="502920"/>
            <a:ext cx="1965960" cy="329184"/>
          </a:xfrm>
          <a:prstGeom prst="roundRect">
            <a:avLst>
              <a:gd name="adj" fmla="val 9000"/>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566928"/>
            <a:ext cx="1783080" cy="182880"/>
          </a:xfrm>
          <a:prstGeom prst="rect">
            <a:avLst/>
          </a:prstGeom>
          <a:noFill/>
        </p:spPr>
        <p:txBody>
          <a:bodyPr wrap="square" lIns="0" rIns="0" tIns="0" bIns="0">
            <a:spAutoFit/>
          </a:bodyPr>
          <a:lstStyle/>
          <a:p>
            <a:pPr algn="l">
              <a:spcBef>
                <a:spcPts val="0"/>
              </a:spcBef>
              <a:spcAft>
                <a:spcPts val="600"/>
              </a:spcAft>
              <a:defRPr sz="1000" b="1">
                <a:solidFill>
                  <a:srgbClr val="FFFFFF"/>
                </a:solidFill>
                <a:latin typeface="Arial"/>
              </a:defRPr>
            </a:pPr>
            <a:r>
              <a:t>RECOMMENDER SYSTEM</a:t>
            </a:r>
          </a:p>
        </p:txBody>
      </p:sp>
      <p:sp>
        <p:nvSpPr>
          <p:cNvPr id="12" name="TextBox 11"/>
          <p:cNvSpPr txBox="1"/>
          <p:nvPr/>
        </p:nvSpPr>
        <p:spPr>
          <a:xfrm>
            <a:off x="658368" y="1417320"/>
            <a:ext cx="6583680" cy="1051560"/>
          </a:xfrm>
          <a:prstGeom prst="rect">
            <a:avLst/>
          </a:prstGeom>
          <a:noFill/>
        </p:spPr>
        <p:txBody>
          <a:bodyPr wrap="square" lIns="0" rIns="0" tIns="0" bIns="0">
            <a:spAutoFit/>
          </a:bodyPr>
          <a:lstStyle/>
          <a:p>
            <a:pPr algn="l">
              <a:spcBef>
                <a:spcPts val="0"/>
              </a:spcBef>
              <a:spcAft>
                <a:spcPts val="600"/>
              </a:spcAft>
              <a:defRPr sz="6400" b="1">
                <a:solidFill>
                  <a:srgbClr val="FFFFFF"/>
                </a:solidFill>
                <a:latin typeface="Arial"/>
              </a:defRPr>
            </a:pPr>
            <a:r>
              <a:t>MerRec</a:t>
            </a:r>
          </a:p>
        </p:txBody>
      </p:sp>
      <p:sp>
        <p:nvSpPr>
          <p:cNvPr id="13" name="TextBox 12"/>
          <p:cNvSpPr txBox="1"/>
          <p:nvPr/>
        </p:nvSpPr>
        <p:spPr>
          <a:xfrm>
            <a:off x="694944" y="2487168"/>
            <a:ext cx="6766560" cy="1207008"/>
          </a:xfrm>
          <a:prstGeom prst="rect">
            <a:avLst/>
          </a:prstGeom>
          <a:noFill/>
        </p:spPr>
        <p:txBody>
          <a:bodyPr wrap="square" lIns="0" rIns="0" tIns="0" bIns="0">
            <a:spAutoFit/>
          </a:bodyPr>
          <a:lstStyle/>
          <a:p>
            <a:pPr algn="l">
              <a:spcBef>
                <a:spcPts val="0"/>
              </a:spcBef>
              <a:spcAft>
                <a:spcPts val="600"/>
              </a:spcAft>
              <a:defRPr sz="3500" b="1">
                <a:solidFill>
                  <a:srgbClr val="FFFFFF"/>
                </a:solidFill>
                <a:latin typeface="Arial"/>
              </a:defRPr>
            </a:pPr>
            <a:r>
              <a:t>Gợi ý sản phẩm từ</a:t>
            </a:r>
          </a:p>
          <a:p>
            <a:pPr algn="l">
              <a:spcBef>
                <a:spcPts val="0"/>
              </a:spcBef>
              <a:spcAft>
                <a:spcPts val="600"/>
              </a:spcAft>
              <a:defRPr sz="3500" b="1">
                <a:solidFill>
                  <a:srgbClr val="FFFFFF"/>
                </a:solidFill>
                <a:latin typeface="Arial"/>
              </a:defRPr>
            </a:pPr>
            <a:r>
              <a:t>dữ liệu hành vi</a:t>
            </a:r>
          </a:p>
        </p:txBody>
      </p:sp>
      <p:sp>
        <p:nvSpPr>
          <p:cNvPr id="14" name="TextBox 13"/>
          <p:cNvSpPr txBox="1"/>
          <p:nvPr/>
        </p:nvSpPr>
        <p:spPr>
          <a:xfrm>
            <a:off x="713232" y="4014215"/>
            <a:ext cx="6080760" cy="768096"/>
          </a:xfrm>
          <a:prstGeom prst="rect">
            <a:avLst/>
          </a:prstGeom>
          <a:noFill/>
        </p:spPr>
        <p:txBody>
          <a:bodyPr wrap="square" lIns="0" rIns="0" tIns="0" bIns="0">
            <a:spAutoFit/>
          </a:bodyPr>
          <a:lstStyle/>
          <a:p>
            <a:pPr algn="l">
              <a:spcBef>
                <a:spcPts val="0"/>
              </a:spcBef>
              <a:spcAft>
                <a:spcPts val="600"/>
              </a:spcAft>
              <a:defRPr sz="2000" b="0">
                <a:solidFill>
                  <a:srgbClr val="B6C6DD"/>
                </a:solidFill>
                <a:latin typeface="Arial"/>
              </a:defRPr>
            </a:pPr>
            <a:r>
              <a:t>Phân tích dữ liệu · Xây dựng đặc trưng</a:t>
            </a:r>
          </a:p>
          <a:p>
            <a:pPr algn="l">
              <a:spcBef>
                <a:spcPts val="0"/>
              </a:spcBef>
              <a:spcAft>
                <a:spcPts val="600"/>
              </a:spcAft>
              <a:defRPr sz="2000" b="0">
                <a:solidFill>
                  <a:srgbClr val="B6C6DD"/>
                </a:solidFill>
                <a:latin typeface="Arial"/>
              </a:defRPr>
            </a:pPr>
            <a:r>
              <a:t>Thực nghiệm mô hình Top-K</a:t>
            </a:r>
          </a:p>
        </p:txBody>
      </p:sp>
      <p:sp>
        <p:nvSpPr>
          <p:cNvPr id="15" name="TextBox 14"/>
          <p:cNvSpPr txBox="1"/>
          <p:nvPr/>
        </p:nvSpPr>
        <p:spPr>
          <a:xfrm>
            <a:off x="713232" y="5742432"/>
            <a:ext cx="6400800" cy="548640"/>
          </a:xfrm>
          <a:prstGeom prst="rect">
            <a:avLst/>
          </a:prstGeom>
          <a:noFill/>
        </p:spPr>
        <p:txBody>
          <a:bodyPr wrap="square" lIns="0" rIns="0" tIns="0" bIns="0">
            <a:spAutoFit/>
          </a:bodyPr>
          <a:lstStyle/>
          <a:p>
            <a:pPr algn="l">
              <a:spcBef>
                <a:spcPts val="0"/>
              </a:spcBef>
              <a:spcAft>
                <a:spcPts val="600"/>
              </a:spcAft>
              <a:defRPr sz="1200" b="0">
                <a:solidFill>
                  <a:srgbClr val="B6C6DD"/>
                </a:solidFill>
                <a:latin typeface="Arial"/>
              </a:defRPr>
            </a:pPr>
            <a:r>
              <a:t>Nhóm thực hiện: [Tên nhóm]    |    GVHD: [Tên giảng viên]</a:t>
            </a:r>
          </a:p>
        </p:txBody>
      </p:sp>
      <p:sp>
        <p:nvSpPr>
          <p:cNvPr id="16" name="Rounded Rectangle 15"/>
          <p:cNvSpPr/>
          <p:nvPr/>
        </p:nvSpPr>
        <p:spPr>
          <a:xfrm>
            <a:off x="8229600" y="1261872"/>
            <a:ext cx="3108960" cy="1234440"/>
          </a:xfrm>
          <a:prstGeom prst="roundRect">
            <a:avLst>
              <a:gd name="adj" fmla="val 9000"/>
            </a:avLst>
          </a:prstGeom>
          <a:solidFill>
            <a:srgbClr val="2035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76488" y="1426463"/>
            <a:ext cx="2651760" cy="493776"/>
          </a:xfrm>
          <a:prstGeom prst="rect">
            <a:avLst/>
          </a:prstGeom>
          <a:noFill/>
        </p:spPr>
        <p:txBody>
          <a:bodyPr wrap="square" lIns="0" rIns="0" tIns="0" bIns="0">
            <a:spAutoFit/>
          </a:bodyPr>
          <a:lstStyle/>
          <a:p>
            <a:pPr algn="l">
              <a:spcBef>
                <a:spcPts val="0"/>
              </a:spcBef>
              <a:spcAft>
                <a:spcPts val="600"/>
              </a:spcAft>
              <a:defRPr sz="3000" b="1">
                <a:solidFill>
                  <a:srgbClr val="FFFFFF"/>
                </a:solidFill>
                <a:latin typeface="Arial"/>
              </a:defRPr>
            </a:pPr>
            <a:r>
              <a:t>174,87M</a:t>
            </a:r>
          </a:p>
        </p:txBody>
      </p:sp>
      <p:sp>
        <p:nvSpPr>
          <p:cNvPr id="18" name="TextBox 17"/>
          <p:cNvSpPr txBox="1"/>
          <p:nvPr/>
        </p:nvSpPr>
        <p:spPr>
          <a:xfrm>
            <a:off x="8494776" y="2039112"/>
            <a:ext cx="2606040" cy="256032"/>
          </a:xfrm>
          <a:prstGeom prst="rect">
            <a:avLst/>
          </a:prstGeom>
          <a:noFill/>
        </p:spPr>
        <p:txBody>
          <a:bodyPr wrap="square" lIns="0" rIns="0" tIns="0" bIns="0">
            <a:spAutoFit/>
          </a:bodyPr>
          <a:lstStyle/>
          <a:p>
            <a:pPr algn="l">
              <a:spcBef>
                <a:spcPts val="0"/>
              </a:spcBef>
              <a:spcAft>
                <a:spcPts val="600"/>
              </a:spcAft>
              <a:defRPr sz="1400" b="0">
                <a:solidFill>
                  <a:srgbClr val="B6C6DD"/>
                </a:solidFill>
                <a:latin typeface="Arial"/>
              </a:defRPr>
            </a:pPr>
            <a:r>
              <a:t>tương tác</a:t>
            </a:r>
          </a:p>
        </p:txBody>
      </p:sp>
      <p:sp>
        <p:nvSpPr>
          <p:cNvPr id="19" name="Rounded Rectangle 18"/>
          <p:cNvSpPr/>
          <p:nvPr/>
        </p:nvSpPr>
        <p:spPr>
          <a:xfrm>
            <a:off x="8229600" y="2770632"/>
            <a:ext cx="3108960" cy="1234440"/>
          </a:xfrm>
          <a:prstGeom prst="roundRect">
            <a:avLst>
              <a:gd name="adj" fmla="val 9000"/>
            </a:avLst>
          </a:prstGeom>
          <a:solidFill>
            <a:srgbClr val="2035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76488" y="2935224"/>
            <a:ext cx="2651760" cy="493776"/>
          </a:xfrm>
          <a:prstGeom prst="rect">
            <a:avLst/>
          </a:prstGeom>
          <a:noFill/>
        </p:spPr>
        <p:txBody>
          <a:bodyPr wrap="square" lIns="0" rIns="0" tIns="0" bIns="0">
            <a:spAutoFit/>
          </a:bodyPr>
          <a:lstStyle/>
          <a:p>
            <a:pPr algn="l">
              <a:spcBef>
                <a:spcPts val="0"/>
              </a:spcBef>
              <a:spcAft>
                <a:spcPts val="600"/>
              </a:spcAft>
              <a:defRPr sz="3000" b="1">
                <a:solidFill>
                  <a:srgbClr val="FFFFFF"/>
                </a:solidFill>
                <a:latin typeface="Arial"/>
              </a:defRPr>
            </a:pPr>
            <a:r>
              <a:t>30,05M</a:t>
            </a:r>
          </a:p>
        </p:txBody>
      </p:sp>
      <p:sp>
        <p:nvSpPr>
          <p:cNvPr id="21" name="TextBox 20"/>
          <p:cNvSpPr txBox="1"/>
          <p:nvPr/>
        </p:nvSpPr>
        <p:spPr>
          <a:xfrm>
            <a:off x="8494776" y="3547872"/>
            <a:ext cx="2606040" cy="256032"/>
          </a:xfrm>
          <a:prstGeom prst="rect">
            <a:avLst/>
          </a:prstGeom>
          <a:noFill/>
        </p:spPr>
        <p:txBody>
          <a:bodyPr wrap="square" lIns="0" rIns="0" tIns="0" bIns="0">
            <a:spAutoFit/>
          </a:bodyPr>
          <a:lstStyle/>
          <a:p>
            <a:pPr algn="l">
              <a:spcBef>
                <a:spcPts val="0"/>
              </a:spcBef>
              <a:spcAft>
                <a:spcPts val="600"/>
              </a:spcAft>
              <a:defRPr sz="1400" b="0">
                <a:solidFill>
                  <a:srgbClr val="B6C6DD"/>
                </a:solidFill>
                <a:latin typeface="Arial"/>
              </a:defRPr>
            </a:pPr>
            <a:r>
              <a:t>item</a:t>
            </a:r>
          </a:p>
        </p:txBody>
      </p:sp>
      <p:sp>
        <p:nvSpPr>
          <p:cNvPr id="22" name="Rounded Rectangle 21"/>
          <p:cNvSpPr/>
          <p:nvPr/>
        </p:nvSpPr>
        <p:spPr>
          <a:xfrm>
            <a:off x="8229600" y="4279392"/>
            <a:ext cx="3108960" cy="1234440"/>
          </a:xfrm>
          <a:prstGeom prst="roundRect">
            <a:avLst>
              <a:gd name="adj" fmla="val 9000"/>
            </a:avLst>
          </a:prstGeom>
          <a:solidFill>
            <a:srgbClr val="20355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76488" y="4443983"/>
            <a:ext cx="2651760" cy="493776"/>
          </a:xfrm>
          <a:prstGeom prst="rect">
            <a:avLst/>
          </a:prstGeom>
          <a:noFill/>
        </p:spPr>
        <p:txBody>
          <a:bodyPr wrap="square" lIns="0" rIns="0" tIns="0" bIns="0">
            <a:spAutoFit/>
          </a:bodyPr>
          <a:lstStyle/>
          <a:p>
            <a:pPr algn="l">
              <a:spcBef>
                <a:spcPts val="0"/>
              </a:spcBef>
              <a:spcAft>
                <a:spcPts val="600"/>
              </a:spcAft>
              <a:defRPr sz="3000" b="1">
                <a:solidFill>
                  <a:srgbClr val="FFFFFF"/>
                </a:solidFill>
                <a:latin typeface="Arial"/>
              </a:defRPr>
            </a:pPr>
            <a:r>
              <a:t>05/2023</a:t>
            </a:r>
          </a:p>
        </p:txBody>
      </p:sp>
      <p:sp>
        <p:nvSpPr>
          <p:cNvPr id="24" name="TextBox 23"/>
          <p:cNvSpPr txBox="1"/>
          <p:nvPr/>
        </p:nvSpPr>
        <p:spPr>
          <a:xfrm>
            <a:off x="8494776" y="5056631"/>
            <a:ext cx="2606040" cy="256032"/>
          </a:xfrm>
          <a:prstGeom prst="rect">
            <a:avLst/>
          </a:prstGeom>
          <a:noFill/>
        </p:spPr>
        <p:txBody>
          <a:bodyPr wrap="square" lIns="0" rIns="0" tIns="0" bIns="0">
            <a:spAutoFit/>
          </a:bodyPr>
          <a:lstStyle/>
          <a:p>
            <a:pPr algn="l">
              <a:spcBef>
                <a:spcPts val="0"/>
              </a:spcBef>
              <a:spcAft>
                <a:spcPts val="600"/>
              </a:spcAft>
              <a:defRPr sz="1400" b="0">
                <a:solidFill>
                  <a:srgbClr val="B6C6DD"/>
                </a:solidFill>
                <a:latin typeface="Arial"/>
              </a:defRPr>
            </a:pPr>
            <a:r>
              <a:t>dữ liệu quan sát</a:t>
            </a:r>
          </a:p>
        </p:txBody>
      </p:sp>
      <p:sp>
        <p:nvSpPr>
          <p:cNvPr id="25" name="TextBox 24"/>
          <p:cNvSpPr txBox="1"/>
          <p:nvPr/>
        </p:nvSpPr>
        <p:spPr>
          <a:xfrm>
            <a:off x="713232" y="6455664"/>
            <a:ext cx="5486400" cy="256032"/>
          </a:xfrm>
          <a:prstGeom prst="rect">
            <a:avLst/>
          </a:prstGeom>
          <a:noFill/>
        </p:spPr>
        <p:txBody>
          <a:bodyPr wrap="square" lIns="0" rIns="0" tIns="0" bIns="0">
            <a:spAutoFit/>
          </a:bodyPr>
          <a:lstStyle/>
          <a:p>
            <a:pPr algn="l">
              <a:spcBef>
                <a:spcPts val="0"/>
              </a:spcBef>
              <a:spcAft>
                <a:spcPts val="600"/>
              </a:spcAft>
              <a:defRPr sz="1000" b="1">
                <a:solidFill>
                  <a:srgbClr val="B6C6DD"/>
                </a:solidFill>
                <a:latin typeface="Arial"/>
              </a:defRPr>
            </a:pPr>
            <a:r>
              <a:t>50 SLIDE NỘI DUNG + 2 TRANG DEMO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MỞ ĐẦU</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Nội dung trình bày</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02 / 52</a:t>
            </a:r>
          </a:p>
        </p:txBody>
      </p:sp>
      <p:sp>
        <p:nvSpPr>
          <p:cNvPr id="8" name="Rectangle 7"/>
          <p:cNvSpPr/>
          <p:nvPr/>
        </p:nvSpPr>
        <p:spPr>
          <a:xfrm>
            <a:off x="566928" y="6391656"/>
            <a:ext cx="425547"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667512" y="1773936"/>
            <a:ext cx="393192" cy="393192"/>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874519"/>
            <a:ext cx="393192" cy="210312"/>
          </a:xfrm>
          <a:prstGeom prst="rect">
            <a:avLst/>
          </a:prstGeom>
          <a:noFill/>
        </p:spPr>
        <p:txBody>
          <a:bodyPr wrap="square" lIns="0" rIns="0" tIns="0" bIns="0">
            <a:spAutoFit/>
          </a:bodyPr>
          <a:lstStyle/>
          <a:p>
            <a:pPr algn="ctr">
              <a:spcBef>
                <a:spcPts val="0"/>
              </a:spcBef>
              <a:spcAft>
                <a:spcPts val="600"/>
              </a:spcAft>
              <a:defRPr sz="1200" b="1">
                <a:solidFill>
                  <a:srgbClr val="FFFFFF"/>
                </a:solidFill>
                <a:latin typeface="Arial"/>
              </a:defRPr>
            </a:pPr>
            <a:r>
              <a:t>01</a:t>
            </a:r>
          </a:p>
        </p:txBody>
      </p:sp>
      <p:sp>
        <p:nvSpPr>
          <p:cNvPr id="11" name="TextBox 10"/>
          <p:cNvSpPr txBox="1"/>
          <p:nvPr/>
        </p:nvSpPr>
        <p:spPr>
          <a:xfrm>
            <a:off x="1243584" y="1764792"/>
            <a:ext cx="4480560" cy="274320"/>
          </a:xfrm>
          <a:prstGeom prst="rect">
            <a:avLst/>
          </a:prstGeom>
          <a:noFill/>
        </p:spPr>
        <p:txBody>
          <a:bodyPr wrap="square" lIns="0" rIns="0" tIns="0" bIns="0">
            <a:spAutoFit/>
          </a:bodyPr>
          <a:lstStyle/>
          <a:p>
            <a:pPr algn="l">
              <a:spcBef>
                <a:spcPts val="0"/>
              </a:spcBef>
              <a:spcAft>
                <a:spcPts val="600"/>
              </a:spcAft>
              <a:defRPr sz="1800" b="1">
                <a:solidFill>
                  <a:srgbClr val="172B49"/>
                </a:solidFill>
                <a:latin typeface="Arial"/>
              </a:defRPr>
            </a:pPr>
            <a:r>
              <a:t>Introduction</a:t>
            </a:r>
          </a:p>
        </p:txBody>
      </p:sp>
      <p:sp>
        <p:nvSpPr>
          <p:cNvPr id="12" name="TextBox 11"/>
          <p:cNvSpPr txBox="1"/>
          <p:nvPr/>
        </p:nvSpPr>
        <p:spPr>
          <a:xfrm>
            <a:off x="1243584" y="2093976"/>
            <a:ext cx="4480560" cy="219456"/>
          </a:xfrm>
          <a:prstGeom prst="rect">
            <a:avLst/>
          </a:prstGeom>
          <a:noFill/>
        </p:spPr>
        <p:txBody>
          <a:bodyPr wrap="square" lIns="0" rIns="0" tIns="0" bIns="0">
            <a:spAutoFit/>
          </a:bodyPr>
          <a:lstStyle/>
          <a:p>
            <a:pPr algn="l">
              <a:spcBef>
                <a:spcPts val="0"/>
              </a:spcBef>
              <a:spcAft>
                <a:spcPts val="600"/>
              </a:spcAft>
              <a:defRPr sz="1200" b="0">
                <a:solidFill>
                  <a:srgbClr val="5B6B83"/>
                </a:solidFill>
                <a:latin typeface="Arial"/>
              </a:defRPr>
            </a:pPr>
            <a:r>
              <a:t>Bối cảnh và mục tiêu</a:t>
            </a:r>
          </a:p>
        </p:txBody>
      </p:sp>
      <p:sp>
        <p:nvSpPr>
          <p:cNvPr id="13" name="Oval 12"/>
          <p:cNvSpPr/>
          <p:nvPr/>
        </p:nvSpPr>
        <p:spPr>
          <a:xfrm>
            <a:off x="667512" y="2505456"/>
            <a:ext cx="393192" cy="393192"/>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2606040"/>
            <a:ext cx="393192" cy="210312"/>
          </a:xfrm>
          <a:prstGeom prst="rect">
            <a:avLst/>
          </a:prstGeom>
          <a:noFill/>
        </p:spPr>
        <p:txBody>
          <a:bodyPr wrap="square" lIns="0" rIns="0" tIns="0" bIns="0">
            <a:spAutoFit/>
          </a:bodyPr>
          <a:lstStyle/>
          <a:p>
            <a:pPr algn="ctr">
              <a:spcBef>
                <a:spcPts val="0"/>
              </a:spcBef>
              <a:spcAft>
                <a:spcPts val="600"/>
              </a:spcAft>
              <a:defRPr sz="1200" b="1">
                <a:solidFill>
                  <a:srgbClr val="FFFFFF"/>
                </a:solidFill>
                <a:latin typeface="Arial"/>
              </a:defRPr>
            </a:pPr>
            <a:r>
              <a:t>02</a:t>
            </a:r>
          </a:p>
        </p:txBody>
      </p:sp>
      <p:sp>
        <p:nvSpPr>
          <p:cNvPr id="15" name="TextBox 14"/>
          <p:cNvSpPr txBox="1"/>
          <p:nvPr/>
        </p:nvSpPr>
        <p:spPr>
          <a:xfrm>
            <a:off x="1243584" y="2496312"/>
            <a:ext cx="4480560" cy="274320"/>
          </a:xfrm>
          <a:prstGeom prst="rect">
            <a:avLst/>
          </a:prstGeom>
          <a:noFill/>
        </p:spPr>
        <p:txBody>
          <a:bodyPr wrap="square" lIns="0" rIns="0" tIns="0" bIns="0">
            <a:spAutoFit/>
          </a:bodyPr>
          <a:lstStyle/>
          <a:p>
            <a:pPr algn="l">
              <a:spcBef>
                <a:spcPts val="0"/>
              </a:spcBef>
              <a:spcAft>
                <a:spcPts val="600"/>
              </a:spcAft>
              <a:defRPr sz="1800" b="1">
                <a:solidFill>
                  <a:srgbClr val="172B49"/>
                </a:solidFill>
                <a:latin typeface="Arial"/>
              </a:defRPr>
            </a:pPr>
            <a:r>
              <a:t>Problem Definition</a:t>
            </a:r>
          </a:p>
        </p:txBody>
      </p:sp>
      <p:sp>
        <p:nvSpPr>
          <p:cNvPr id="16" name="TextBox 15"/>
          <p:cNvSpPr txBox="1"/>
          <p:nvPr/>
        </p:nvSpPr>
        <p:spPr>
          <a:xfrm>
            <a:off x="1243584" y="2825496"/>
            <a:ext cx="4480560" cy="219456"/>
          </a:xfrm>
          <a:prstGeom prst="rect">
            <a:avLst/>
          </a:prstGeom>
          <a:noFill/>
        </p:spPr>
        <p:txBody>
          <a:bodyPr wrap="square" lIns="0" rIns="0" tIns="0" bIns="0">
            <a:spAutoFit/>
          </a:bodyPr>
          <a:lstStyle/>
          <a:p>
            <a:pPr algn="l">
              <a:spcBef>
                <a:spcPts val="0"/>
              </a:spcBef>
              <a:spcAft>
                <a:spcPts val="600"/>
              </a:spcAft>
              <a:defRPr sz="1200" b="0">
                <a:solidFill>
                  <a:srgbClr val="5B6B83"/>
                </a:solidFill>
                <a:latin typeface="Arial"/>
              </a:defRPr>
            </a:pPr>
            <a:r>
              <a:t>Bài toán và thách thức</a:t>
            </a:r>
          </a:p>
        </p:txBody>
      </p:sp>
      <p:sp>
        <p:nvSpPr>
          <p:cNvPr id="17" name="Oval 16"/>
          <p:cNvSpPr/>
          <p:nvPr/>
        </p:nvSpPr>
        <p:spPr>
          <a:xfrm>
            <a:off x="667512" y="3236976"/>
            <a:ext cx="393192" cy="393192"/>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7512" y="3337560"/>
            <a:ext cx="393192" cy="210312"/>
          </a:xfrm>
          <a:prstGeom prst="rect">
            <a:avLst/>
          </a:prstGeom>
          <a:noFill/>
        </p:spPr>
        <p:txBody>
          <a:bodyPr wrap="square" lIns="0" rIns="0" tIns="0" bIns="0">
            <a:spAutoFit/>
          </a:bodyPr>
          <a:lstStyle/>
          <a:p>
            <a:pPr algn="ctr">
              <a:spcBef>
                <a:spcPts val="0"/>
              </a:spcBef>
              <a:spcAft>
                <a:spcPts val="600"/>
              </a:spcAft>
              <a:defRPr sz="1200" b="1">
                <a:solidFill>
                  <a:srgbClr val="FFFFFF"/>
                </a:solidFill>
                <a:latin typeface="Arial"/>
              </a:defRPr>
            </a:pPr>
            <a:r>
              <a:t>03</a:t>
            </a:r>
          </a:p>
        </p:txBody>
      </p:sp>
      <p:sp>
        <p:nvSpPr>
          <p:cNvPr id="19" name="TextBox 18"/>
          <p:cNvSpPr txBox="1"/>
          <p:nvPr/>
        </p:nvSpPr>
        <p:spPr>
          <a:xfrm>
            <a:off x="1243584" y="3227832"/>
            <a:ext cx="4480560" cy="274320"/>
          </a:xfrm>
          <a:prstGeom prst="rect">
            <a:avLst/>
          </a:prstGeom>
          <a:noFill/>
        </p:spPr>
        <p:txBody>
          <a:bodyPr wrap="square" lIns="0" rIns="0" tIns="0" bIns="0">
            <a:spAutoFit/>
          </a:bodyPr>
          <a:lstStyle/>
          <a:p>
            <a:pPr algn="l">
              <a:spcBef>
                <a:spcPts val="0"/>
              </a:spcBef>
              <a:spcAft>
                <a:spcPts val="600"/>
              </a:spcAft>
              <a:defRPr sz="1800" b="1">
                <a:solidFill>
                  <a:srgbClr val="172B49"/>
                </a:solidFill>
                <a:latin typeface="Arial"/>
              </a:defRPr>
            </a:pPr>
            <a:r>
              <a:t>Dataset Description</a:t>
            </a:r>
          </a:p>
        </p:txBody>
      </p:sp>
      <p:sp>
        <p:nvSpPr>
          <p:cNvPr id="20" name="TextBox 19"/>
          <p:cNvSpPr txBox="1"/>
          <p:nvPr/>
        </p:nvSpPr>
        <p:spPr>
          <a:xfrm>
            <a:off x="1243584" y="3557016"/>
            <a:ext cx="4480560" cy="219456"/>
          </a:xfrm>
          <a:prstGeom prst="rect">
            <a:avLst/>
          </a:prstGeom>
          <a:noFill/>
        </p:spPr>
        <p:txBody>
          <a:bodyPr wrap="square" lIns="0" rIns="0" tIns="0" bIns="0">
            <a:spAutoFit/>
          </a:bodyPr>
          <a:lstStyle/>
          <a:p>
            <a:pPr algn="l">
              <a:spcBef>
                <a:spcPts val="0"/>
              </a:spcBef>
              <a:spcAft>
                <a:spcPts val="600"/>
              </a:spcAft>
              <a:defRPr sz="1200" b="0">
                <a:solidFill>
                  <a:srgbClr val="5B6B83"/>
                </a:solidFill>
                <a:latin typeface="Arial"/>
              </a:defRPr>
            </a:pPr>
            <a:r>
              <a:t>Quy mô và cấu trúc</a:t>
            </a:r>
          </a:p>
        </p:txBody>
      </p:sp>
      <p:sp>
        <p:nvSpPr>
          <p:cNvPr id="21" name="Oval 20"/>
          <p:cNvSpPr/>
          <p:nvPr/>
        </p:nvSpPr>
        <p:spPr>
          <a:xfrm>
            <a:off x="667512" y="3968496"/>
            <a:ext cx="393192" cy="393192"/>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 y="4069080"/>
            <a:ext cx="393192" cy="210312"/>
          </a:xfrm>
          <a:prstGeom prst="rect">
            <a:avLst/>
          </a:prstGeom>
          <a:noFill/>
        </p:spPr>
        <p:txBody>
          <a:bodyPr wrap="square" lIns="0" rIns="0" tIns="0" bIns="0">
            <a:spAutoFit/>
          </a:bodyPr>
          <a:lstStyle/>
          <a:p>
            <a:pPr algn="ctr">
              <a:spcBef>
                <a:spcPts val="0"/>
              </a:spcBef>
              <a:spcAft>
                <a:spcPts val="600"/>
              </a:spcAft>
              <a:defRPr sz="1200" b="1">
                <a:solidFill>
                  <a:srgbClr val="FFFFFF"/>
                </a:solidFill>
                <a:latin typeface="Arial"/>
              </a:defRPr>
            </a:pPr>
            <a:r>
              <a:t>04</a:t>
            </a:r>
          </a:p>
        </p:txBody>
      </p:sp>
      <p:sp>
        <p:nvSpPr>
          <p:cNvPr id="23" name="TextBox 22"/>
          <p:cNvSpPr txBox="1"/>
          <p:nvPr/>
        </p:nvSpPr>
        <p:spPr>
          <a:xfrm>
            <a:off x="1243584" y="3959352"/>
            <a:ext cx="4480560" cy="274320"/>
          </a:xfrm>
          <a:prstGeom prst="rect">
            <a:avLst/>
          </a:prstGeom>
          <a:noFill/>
        </p:spPr>
        <p:txBody>
          <a:bodyPr wrap="square" lIns="0" rIns="0" tIns="0" bIns="0">
            <a:spAutoFit/>
          </a:bodyPr>
          <a:lstStyle/>
          <a:p>
            <a:pPr algn="l">
              <a:spcBef>
                <a:spcPts val="0"/>
              </a:spcBef>
              <a:spcAft>
                <a:spcPts val="600"/>
              </a:spcAft>
              <a:defRPr sz="1800" b="1">
                <a:solidFill>
                  <a:srgbClr val="172B49"/>
                </a:solidFill>
                <a:latin typeface="Arial"/>
              </a:defRPr>
            </a:pPr>
            <a:r>
              <a:t>Data Preprocessing</a:t>
            </a:r>
          </a:p>
        </p:txBody>
      </p:sp>
      <p:sp>
        <p:nvSpPr>
          <p:cNvPr id="24" name="TextBox 23"/>
          <p:cNvSpPr txBox="1"/>
          <p:nvPr/>
        </p:nvSpPr>
        <p:spPr>
          <a:xfrm>
            <a:off x="1243584" y="4288536"/>
            <a:ext cx="4480560" cy="219456"/>
          </a:xfrm>
          <a:prstGeom prst="rect">
            <a:avLst/>
          </a:prstGeom>
          <a:noFill/>
        </p:spPr>
        <p:txBody>
          <a:bodyPr wrap="square" lIns="0" rIns="0" tIns="0" bIns="0">
            <a:spAutoFit/>
          </a:bodyPr>
          <a:lstStyle/>
          <a:p>
            <a:pPr algn="l">
              <a:spcBef>
                <a:spcPts val="0"/>
              </a:spcBef>
              <a:spcAft>
                <a:spcPts val="600"/>
              </a:spcAft>
              <a:defRPr sz="1200" b="0">
                <a:solidFill>
                  <a:srgbClr val="5B6B83"/>
                </a:solidFill>
                <a:latin typeface="Arial"/>
              </a:defRPr>
            </a:pPr>
            <a:r>
              <a:t>Làm sạch và chia tập</a:t>
            </a:r>
          </a:p>
        </p:txBody>
      </p:sp>
      <p:sp>
        <p:nvSpPr>
          <p:cNvPr id="25" name="Oval 24"/>
          <p:cNvSpPr/>
          <p:nvPr/>
        </p:nvSpPr>
        <p:spPr>
          <a:xfrm>
            <a:off x="667512" y="4700016"/>
            <a:ext cx="393192" cy="393192"/>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7512" y="4800600"/>
            <a:ext cx="393192" cy="210312"/>
          </a:xfrm>
          <a:prstGeom prst="rect">
            <a:avLst/>
          </a:prstGeom>
          <a:noFill/>
        </p:spPr>
        <p:txBody>
          <a:bodyPr wrap="square" lIns="0" rIns="0" tIns="0" bIns="0">
            <a:spAutoFit/>
          </a:bodyPr>
          <a:lstStyle/>
          <a:p>
            <a:pPr algn="ctr">
              <a:spcBef>
                <a:spcPts val="0"/>
              </a:spcBef>
              <a:spcAft>
                <a:spcPts val="600"/>
              </a:spcAft>
              <a:defRPr sz="1200" b="1">
                <a:solidFill>
                  <a:srgbClr val="FFFFFF"/>
                </a:solidFill>
                <a:latin typeface="Arial"/>
              </a:defRPr>
            </a:pPr>
            <a:r>
              <a:t>05</a:t>
            </a:r>
          </a:p>
        </p:txBody>
      </p:sp>
      <p:sp>
        <p:nvSpPr>
          <p:cNvPr id="27" name="TextBox 26"/>
          <p:cNvSpPr txBox="1"/>
          <p:nvPr/>
        </p:nvSpPr>
        <p:spPr>
          <a:xfrm>
            <a:off x="1243584" y="4690872"/>
            <a:ext cx="4480560" cy="274320"/>
          </a:xfrm>
          <a:prstGeom prst="rect">
            <a:avLst/>
          </a:prstGeom>
          <a:noFill/>
        </p:spPr>
        <p:txBody>
          <a:bodyPr wrap="square" lIns="0" rIns="0" tIns="0" bIns="0">
            <a:spAutoFit/>
          </a:bodyPr>
          <a:lstStyle/>
          <a:p>
            <a:pPr algn="l">
              <a:spcBef>
                <a:spcPts val="0"/>
              </a:spcBef>
              <a:spcAft>
                <a:spcPts val="600"/>
              </a:spcAft>
              <a:defRPr sz="1800" b="1">
                <a:solidFill>
                  <a:srgbClr val="172B49"/>
                </a:solidFill>
                <a:latin typeface="Arial"/>
              </a:defRPr>
            </a:pPr>
            <a:r>
              <a:t>EDA</a:t>
            </a:r>
          </a:p>
        </p:txBody>
      </p:sp>
      <p:sp>
        <p:nvSpPr>
          <p:cNvPr id="28" name="TextBox 27"/>
          <p:cNvSpPr txBox="1"/>
          <p:nvPr/>
        </p:nvSpPr>
        <p:spPr>
          <a:xfrm>
            <a:off x="1243584" y="5020056"/>
            <a:ext cx="4480560" cy="219456"/>
          </a:xfrm>
          <a:prstGeom prst="rect">
            <a:avLst/>
          </a:prstGeom>
          <a:noFill/>
        </p:spPr>
        <p:txBody>
          <a:bodyPr wrap="square" lIns="0" rIns="0" tIns="0" bIns="0">
            <a:spAutoFit/>
          </a:bodyPr>
          <a:lstStyle/>
          <a:p>
            <a:pPr algn="l">
              <a:spcBef>
                <a:spcPts val="0"/>
              </a:spcBef>
              <a:spcAft>
                <a:spcPts val="600"/>
              </a:spcAft>
              <a:defRPr sz="1200" b="0">
                <a:solidFill>
                  <a:srgbClr val="5B6B83"/>
                </a:solidFill>
                <a:latin typeface="Arial"/>
              </a:defRPr>
            </a:pPr>
            <a:r>
              <a:t>Khám phá dữ liệu</a:t>
            </a:r>
          </a:p>
        </p:txBody>
      </p:sp>
      <p:sp>
        <p:nvSpPr>
          <p:cNvPr id="29" name="Oval 28"/>
          <p:cNvSpPr/>
          <p:nvPr/>
        </p:nvSpPr>
        <p:spPr>
          <a:xfrm>
            <a:off x="6245352" y="1773936"/>
            <a:ext cx="393192" cy="393192"/>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45352" y="1874519"/>
            <a:ext cx="393192" cy="210312"/>
          </a:xfrm>
          <a:prstGeom prst="rect">
            <a:avLst/>
          </a:prstGeom>
          <a:noFill/>
        </p:spPr>
        <p:txBody>
          <a:bodyPr wrap="square" lIns="0" rIns="0" tIns="0" bIns="0">
            <a:spAutoFit/>
          </a:bodyPr>
          <a:lstStyle/>
          <a:p>
            <a:pPr algn="ctr">
              <a:spcBef>
                <a:spcPts val="0"/>
              </a:spcBef>
              <a:spcAft>
                <a:spcPts val="600"/>
              </a:spcAft>
              <a:defRPr sz="1200" b="1">
                <a:solidFill>
                  <a:srgbClr val="FFFFFF"/>
                </a:solidFill>
                <a:latin typeface="Arial"/>
              </a:defRPr>
            </a:pPr>
            <a:r>
              <a:t>06</a:t>
            </a:r>
          </a:p>
        </p:txBody>
      </p:sp>
      <p:sp>
        <p:nvSpPr>
          <p:cNvPr id="31" name="TextBox 30"/>
          <p:cNvSpPr txBox="1"/>
          <p:nvPr/>
        </p:nvSpPr>
        <p:spPr>
          <a:xfrm>
            <a:off x="6821424" y="1764792"/>
            <a:ext cx="4480560" cy="274320"/>
          </a:xfrm>
          <a:prstGeom prst="rect">
            <a:avLst/>
          </a:prstGeom>
          <a:noFill/>
        </p:spPr>
        <p:txBody>
          <a:bodyPr wrap="square" lIns="0" rIns="0" tIns="0" bIns="0">
            <a:spAutoFit/>
          </a:bodyPr>
          <a:lstStyle/>
          <a:p>
            <a:pPr algn="l">
              <a:spcBef>
                <a:spcPts val="0"/>
              </a:spcBef>
              <a:spcAft>
                <a:spcPts val="600"/>
              </a:spcAft>
              <a:defRPr sz="1800" b="1">
                <a:solidFill>
                  <a:srgbClr val="172B49"/>
                </a:solidFill>
                <a:latin typeface="Arial"/>
              </a:defRPr>
            </a:pPr>
            <a:r>
              <a:t>Feature Engineering</a:t>
            </a:r>
          </a:p>
        </p:txBody>
      </p:sp>
      <p:sp>
        <p:nvSpPr>
          <p:cNvPr id="32" name="TextBox 31"/>
          <p:cNvSpPr txBox="1"/>
          <p:nvPr/>
        </p:nvSpPr>
        <p:spPr>
          <a:xfrm>
            <a:off x="6821424" y="2093976"/>
            <a:ext cx="4480560" cy="219456"/>
          </a:xfrm>
          <a:prstGeom prst="rect">
            <a:avLst/>
          </a:prstGeom>
          <a:noFill/>
        </p:spPr>
        <p:txBody>
          <a:bodyPr wrap="square" lIns="0" rIns="0" tIns="0" bIns="0">
            <a:spAutoFit/>
          </a:bodyPr>
          <a:lstStyle/>
          <a:p>
            <a:pPr algn="l">
              <a:spcBef>
                <a:spcPts val="0"/>
              </a:spcBef>
              <a:spcAft>
                <a:spcPts val="600"/>
              </a:spcAft>
              <a:defRPr sz="1200" b="0">
                <a:solidFill>
                  <a:srgbClr val="5B6B83"/>
                </a:solidFill>
                <a:latin typeface="Arial"/>
              </a:defRPr>
            </a:pPr>
            <a:r>
              <a:t>Biểu diễn dữ liệu</a:t>
            </a:r>
          </a:p>
        </p:txBody>
      </p:sp>
      <p:sp>
        <p:nvSpPr>
          <p:cNvPr id="33" name="Oval 32"/>
          <p:cNvSpPr/>
          <p:nvPr/>
        </p:nvSpPr>
        <p:spPr>
          <a:xfrm>
            <a:off x="6245352" y="2505456"/>
            <a:ext cx="393192" cy="393192"/>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45352" y="2606040"/>
            <a:ext cx="393192" cy="210312"/>
          </a:xfrm>
          <a:prstGeom prst="rect">
            <a:avLst/>
          </a:prstGeom>
          <a:noFill/>
        </p:spPr>
        <p:txBody>
          <a:bodyPr wrap="square" lIns="0" rIns="0" tIns="0" bIns="0">
            <a:spAutoFit/>
          </a:bodyPr>
          <a:lstStyle/>
          <a:p>
            <a:pPr algn="ctr">
              <a:spcBef>
                <a:spcPts val="0"/>
              </a:spcBef>
              <a:spcAft>
                <a:spcPts val="600"/>
              </a:spcAft>
              <a:defRPr sz="1200" b="1">
                <a:solidFill>
                  <a:srgbClr val="FFFFFF"/>
                </a:solidFill>
                <a:latin typeface="Arial"/>
              </a:defRPr>
            </a:pPr>
            <a:r>
              <a:t>07</a:t>
            </a:r>
          </a:p>
        </p:txBody>
      </p:sp>
      <p:sp>
        <p:nvSpPr>
          <p:cNvPr id="35" name="TextBox 34"/>
          <p:cNvSpPr txBox="1"/>
          <p:nvPr/>
        </p:nvSpPr>
        <p:spPr>
          <a:xfrm>
            <a:off x="6821424" y="2496312"/>
            <a:ext cx="4480560" cy="274320"/>
          </a:xfrm>
          <a:prstGeom prst="rect">
            <a:avLst/>
          </a:prstGeom>
          <a:noFill/>
        </p:spPr>
        <p:txBody>
          <a:bodyPr wrap="square" lIns="0" rIns="0" tIns="0" bIns="0">
            <a:spAutoFit/>
          </a:bodyPr>
          <a:lstStyle/>
          <a:p>
            <a:pPr algn="l">
              <a:spcBef>
                <a:spcPts val="0"/>
              </a:spcBef>
              <a:spcAft>
                <a:spcPts val="600"/>
              </a:spcAft>
              <a:defRPr sz="1800" b="1">
                <a:solidFill>
                  <a:srgbClr val="172B49"/>
                </a:solidFill>
                <a:latin typeface="Arial"/>
              </a:defRPr>
            </a:pPr>
            <a:r>
              <a:t>Models</a:t>
            </a:r>
          </a:p>
        </p:txBody>
      </p:sp>
      <p:sp>
        <p:nvSpPr>
          <p:cNvPr id="36" name="TextBox 35"/>
          <p:cNvSpPr txBox="1"/>
          <p:nvPr/>
        </p:nvSpPr>
        <p:spPr>
          <a:xfrm>
            <a:off x="6821424" y="2825496"/>
            <a:ext cx="4480560" cy="219456"/>
          </a:xfrm>
          <a:prstGeom prst="rect">
            <a:avLst/>
          </a:prstGeom>
          <a:noFill/>
        </p:spPr>
        <p:txBody>
          <a:bodyPr wrap="square" lIns="0" rIns="0" tIns="0" bIns="0">
            <a:spAutoFit/>
          </a:bodyPr>
          <a:lstStyle/>
          <a:p>
            <a:pPr algn="l">
              <a:spcBef>
                <a:spcPts val="0"/>
              </a:spcBef>
              <a:spcAft>
                <a:spcPts val="600"/>
              </a:spcAft>
              <a:defRPr sz="1200" b="0">
                <a:solidFill>
                  <a:srgbClr val="5B6B83"/>
                </a:solidFill>
                <a:latin typeface="Arial"/>
              </a:defRPr>
            </a:pPr>
            <a:r>
              <a:t>Các hướng mô hình</a:t>
            </a:r>
          </a:p>
        </p:txBody>
      </p:sp>
      <p:sp>
        <p:nvSpPr>
          <p:cNvPr id="37" name="Oval 36"/>
          <p:cNvSpPr/>
          <p:nvPr/>
        </p:nvSpPr>
        <p:spPr>
          <a:xfrm>
            <a:off x="6245352" y="3236976"/>
            <a:ext cx="393192" cy="393192"/>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245352" y="3337560"/>
            <a:ext cx="393192" cy="210312"/>
          </a:xfrm>
          <a:prstGeom prst="rect">
            <a:avLst/>
          </a:prstGeom>
          <a:noFill/>
        </p:spPr>
        <p:txBody>
          <a:bodyPr wrap="square" lIns="0" rIns="0" tIns="0" bIns="0">
            <a:spAutoFit/>
          </a:bodyPr>
          <a:lstStyle/>
          <a:p>
            <a:pPr algn="ctr">
              <a:spcBef>
                <a:spcPts val="0"/>
              </a:spcBef>
              <a:spcAft>
                <a:spcPts val="600"/>
              </a:spcAft>
              <a:defRPr sz="1200" b="1">
                <a:solidFill>
                  <a:srgbClr val="FFFFFF"/>
                </a:solidFill>
                <a:latin typeface="Arial"/>
              </a:defRPr>
            </a:pPr>
            <a:r>
              <a:t>08</a:t>
            </a:r>
          </a:p>
        </p:txBody>
      </p:sp>
      <p:sp>
        <p:nvSpPr>
          <p:cNvPr id="39" name="TextBox 38"/>
          <p:cNvSpPr txBox="1"/>
          <p:nvPr/>
        </p:nvSpPr>
        <p:spPr>
          <a:xfrm>
            <a:off x="6821424" y="3227832"/>
            <a:ext cx="4480560" cy="274320"/>
          </a:xfrm>
          <a:prstGeom prst="rect">
            <a:avLst/>
          </a:prstGeom>
          <a:noFill/>
        </p:spPr>
        <p:txBody>
          <a:bodyPr wrap="square" lIns="0" rIns="0" tIns="0" bIns="0">
            <a:spAutoFit/>
          </a:bodyPr>
          <a:lstStyle/>
          <a:p>
            <a:pPr algn="l">
              <a:spcBef>
                <a:spcPts val="0"/>
              </a:spcBef>
              <a:spcAft>
                <a:spcPts val="600"/>
              </a:spcAft>
              <a:defRPr sz="1800" b="1">
                <a:solidFill>
                  <a:srgbClr val="172B49"/>
                </a:solidFill>
                <a:latin typeface="Arial"/>
              </a:defRPr>
            </a:pPr>
            <a:r>
              <a:t>Model Training</a:t>
            </a:r>
          </a:p>
        </p:txBody>
      </p:sp>
      <p:sp>
        <p:nvSpPr>
          <p:cNvPr id="40" name="TextBox 39"/>
          <p:cNvSpPr txBox="1"/>
          <p:nvPr/>
        </p:nvSpPr>
        <p:spPr>
          <a:xfrm>
            <a:off x="6821424" y="3557016"/>
            <a:ext cx="4480560" cy="219456"/>
          </a:xfrm>
          <a:prstGeom prst="rect">
            <a:avLst/>
          </a:prstGeom>
          <a:noFill/>
        </p:spPr>
        <p:txBody>
          <a:bodyPr wrap="square" lIns="0" rIns="0" tIns="0" bIns="0">
            <a:spAutoFit/>
          </a:bodyPr>
          <a:lstStyle/>
          <a:p>
            <a:pPr algn="l">
              <a:spcBef>
                <a:spcPts val="0"/>
              </a:spcBef>
              <a:spcAft>
                <a:spcPts val="600"/>
              </a:spcAft>
              <a:defRPr sz="1200" b="0">
                <a:solidFill>
                  <a:srgbClr val="5B6B83"/>
                </a:solidFill>
                <a:latin typeface="Arial"/>
              </a:defRPr>
            </a:pPr>
            <a:r>
              <a:t>Huấn luyện</a:t>
            </a:r>
          </a:p>
        </p:txBody>
      </p:sp>
      <p:sp>
        <p:nvSpPr>
          <p:cNvPr id="41" name="Oval 40"/>
          <p:cNvSpPr/>
          <p:nvPr/>
        </p:nvSpPr>
        <p:spPr>
          <a:xfrm>
            <a:off x="6245352" y="3968496"/>
            <a:ext cx="393192" cy="393192"/>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45352" y="4069080"/>
            <a:ext cx="393192" cy="210312"/>
          </a:xfrm>
          <a:prstGeom prst="rect">
            <a:avLst/>
          </a:prstGeom>
          <a:noFill/>
        </p:spPr>
        <p:txBody>
          <a:bodyPr wrap="square" lIns="0" rIns="0" tIns="0" bIns="0">
            <a:spAutoFit/>
          </a:bodyPr>
          <a:lstStyle/>
          <a:p>
            <a:pPr algn="ctr">
              <a:spcBef>
                <a:spcPts val="0"/>
              </a:spcBef>
              <a:spcAft>
                <a:spcPts val="600"/>
              </a:spcAft>
              <a:defRPr sz="1200" b="1">
                <a:solidFill>
                  <a:srgbClr val="FFFFFF"/>
                </a:solidFill>
                <a:latin typeface="Arial"/>
              </a:defRPr>
            </a:pPr>
            <a:r>
              <a:t>09</a:t>
            </a:r>
          </a:p>
        </p:txBody>
      </p:sp>
      <p:sp>
        <p:nvSpPr>
          <p:cNvPr id="43" name="TextBox 42"/>
          <p:cNvSpPr txBox="1"/>
          <p:nvPr/>
        </p:nvSpPr>
        <p:spPr>
          <a:xfrm>
            <a:off x="6821424" y="3959352"/>
            <a:ext cx="4480560" cy="274320"/>
          </a:xfrm>
          <a:prstGeom prst="rect">
            <a:avLst/>
          </a:prstGeom>
          <a:noFill/>
        </p:spPr>
        <p:txBody>
          <a:bodyPr wrap="square" lIns="0" rIns="0" tIns="0" bIns="0">
            <a:spAutoFit/>
          </a:bodyPr>
          <a:lstStyle/>
          <a:p>
            <a:pPr algn="l">
              <a:spcBef>
                <a:spcPts val="0"/>
              </a:spcBef>
              <a:spcAft>
                <a:spcPts val="600"/>
              </a:spcAft>
              <a:defRPr sz="1800" b="1">
                <a:solidFill>
                  <a:srgbClr val="172B49"/>
                </a:solidFill>
                <a:latin typeface="Arial"/>
              </a:defRPr>
            </a:pPr>
            <a:r>
              <a:t>Results</a:t>
            </a:r>
          </a:p>
        </p:txBody>
      </p:sp>
      <p:sp>
        <p:nvSpPr>
          <p:cNvPr id="44" name="TextBox 43"/>
          <p:cNvSpPr txBox="1"/>
          <p:nvPr/>
        </p:nvSpPr>
        <p:spPr>
          <a:xfrm>
            <a:off x="6821424" y="4288536"/>
            <a:ext cx="4480560" cy="219456"/>
          </a:xfrm>
          <a:prstGeom prst="rect">
            <a:avLst/>
          </a:prstGeom>
          <a:noFill/>
        </p:spPr>
        <p:txBody>
          <a:bodyPr wrap="square" lIns="0" rIns="0" tIns="0" bIns="0">
            <a:spAutoFit/>
          </a:bodyPr>
          <a:lstStyle/>
          <a:p>
            <a:pPr algn="l">
              <a:spcBef>
                <a:spcPts val="0"/>
              </a:spcBef>
              <a:spcAft>
                <a:spcPts val="600"/>
              </a:spcAft>
              <a:defRPr sz="1200" b="0">
                <a:solidFill>
                  <a:srgbClr val="5B6B83"/>
                </a:solidFill>
                <a:latin typeface="Arial"/>
              </a:defRPr>
            </a:pPr>
            <a:r>
              <a:t>Kết quả và giao thức</a:t>
            </a:r>
          </a:p>
        </p:txBody>
      </p:sp>
      <p:sp>
        <p:nvSpPr>
          <p:cNvPr id="45" name="Oval 44"/>
          <p:cNvSpPr/>
          <p:nvPr/>
        </p:nvSpPr>
        <p:spPr>
          <a:xfrm>
            <a:off x="6245352" y="4700016"/>
            <a:ext cx="393192" cy="393192"/>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245352" y="4800600"/>
            <a:ext cx="393192" cy="210312"/>
          </a:xfrm>
          <a:prstGeom prst="rect">
            <a:avLst/>
          </a:prstGeom>
          <a:noFill/>
        </p:spPr>
        <p:txBody>
          <a:bodyPr wrap="square" lIns="0" rIns="0" tIns="0" bIns="0">
            <a:spAutoFit/>
          </a:bodyPr>
          <a:lstStyle/>
          <a:p>
            <a:pPr algn="ctr">
              <a:spcBef>
                <a:spcPts val="0"/>
              </a:spcBef>
              <a:spcAft>
                <a:spcPts val="600"/>
              </a:spcAft>
              <a:defRPr sz="1200" b="1">
                <a:solidFill>
                  <a:srgbClr val="FFFFFF"/>
                </a:solidFill>
                <a:latin typeface="Arial"/>
              </a:defRPr>
            </a:pPr>
            <a:r>
              <a:t>11</a:t>
            </a:r>
          </a:p>
        </p:txBody>
      </p:sp>
      <p:sp>
        <p:nvSpPr>
          <p:cNvPr id="47" name="TextBox 46"/>
          <p:cNvSpPr txBox="1"/>
          <p:nvPr/>
        </p:nvSpPr>
        <p:spPr>
          <a:xfrm>
            <a:off x="6821424" y="4690872"/>
            <a:ext cx="4480560" cy="274320"/>
          </a:xfrm>
          <a:prstGeom prst="rect">
            <a:avLst/>
          </a:prstGeom>
          <a:noFill/>
        </p:spPr>
        <p:txBody>
          <a:bodyPr wrap="square" lIns="0" rIns="0" tIns="0" bIns="0">
            <a:spAutoFit/>
          </a:bodyPr>
          <a:lstStyle/>
          <a:p>
            <a:pPr algn="l">
              <a:spcBef>
                <a:spcPts val="0"/>
              </a:spcBef>
              <a:spcAft>
                <a:spcPts val="600"/>
              </a:spcAft>
              <a:defRPr sz="1800" b="1">
                <a:solidFill>
                  <a:srgbClr val="172B49"/>
                </a:solidFill>
                <a:latin typeface="Arial"/>
              </a:defRPr>
            </a:pPr>
            <a:r>
              <a:t>Conclusion</a:t>
            </a:r>
          </a:p>
        </p:txBody>
      </p:sp>
      <p:sp>
        <p:nvSpPr>
          <p:cNvPr id="48" name="TextBox 47"/>
          <p:cNvSpPr txBox="1"/>
          <p:nvPr/>
        </p:nvSpPr>
        <p:spPr>
          <a:xfrm>
            <a:off x="6821424" y="5020056"/>
            <a:ext cx="4480560" cy="219456"/>
          </a:xfrm>
          <a:prstGeom prst="rect">
            <a:avLst/>
          </a:prstGeom>
          <a:noFill/>
        </p:spPr>
        <p:txBody>
          <a:bodyPr wrap="square" lIns="0" rIns="0" tIns="0" bIns="0">
            <a:spAutoFit/>
          </a:bodyPr>
          <a:lstStyle/>
          <a:p>
            <a:pPr algn="l">
              <a:spcBef>
                <a:spcPts val="0"/>
              </a:spcBef>
              <a:spcAft>
                <a:spcPts val="600"/>
              </a:spcAft>
              <a:defRPr sz="1200" b="0">
                <a:solidFill>
                  <a:srgbClr val="5B6B83"/>
                </a:solidFill>
                <a:latin typeface="Arial"/>
              </a:defRPr>
            </a:pPr>
            <a:r>
              <a:t>Kết luận và hướng đi</a:t>
            </a:r>
          </a:p>
        </p:txBody>
      </p:sp>
      <p:sp>
        <p:nvSpPr>
          <p:cNvPr id="49" name="Rounded Rectangle 48"/>
          <p:cNvSpPr/>
          <p:nvPr/>
        </p:nvSpPr>
        <p:spPr>
          <a:xfrm>
            <a:off x="566928" y="5824728"/>
            <a:ext cx="11064240" cy="438912"/>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49808" y="5907024"/>
            <a:ext cx="10698480" cy="329184"/>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10  Web Application / Demo được tách thành phụ lục, trang 51–52.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01 INTRODUCTION</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Bối cảnh và thực trạng thương mại điện tử</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03 / 52</a:t>
            </a:r>
          </a:p>
        </p:txBody>
      </p:sp>
      <p:sp>
        <p:nvSpPr>
          <p:cNvPr id="8" name="Rectangle 7"/>
          <p:cNvSpPr/>
          <p:nvPr/>
        </p:nvSpPr>
        <p:spPr>
          <a:xfrm>
            <a:off x="566928" y="6391656"/>
            <a:ext cx="638321"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58368" y="1810512"/>
            <a:ext cx="5321808" cy="1847088"/>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93392"/>
            <a:ext cx="4919472" cy="621792"/>
          </a:xfrm>
          <a:prstGeom prst="rect">
            <a:avLst/>
          </a:prstGeom>
          <a:noFill/>
        </p:spPr>
        <p:txBody>
          <a:bodyPr wrap="square" lIns="0" rIns="0" tIns="0" bIns="0">
            <a:spAutoFit/>
          </a:bodyPr>
          <a:lstStyle/>
          <a:p>
            <a:pPr algn="l">
              <a:spcBef>
                <a:spcPts val="0"/>
              </a:spcBef>
              <a:spcAft>
                <a:spcPts val="600"/>
              </a:spcAft>
              <a:defRPr sz="3500" b="1">
                <a:solidFill>
                  <a:srgbClr val="244BFF"/>
                </a:solidFill>
                <a:latin typeface="Arial"/>
              </a:defRPr>
            </a:pPr>
            <a:r>
              <a:t>&gt;25 tỷ USD</a:t>
            </a:r>
          </a:p>
        </p:txBody>
      </p:sp>
      <p:sp>
        <p:nvSpPr>
          <p:cNvPr id="11" name="TextBox 10"/>
          <p:cNvSpPr txBox="1"/>
          <p:nvPr/>
        </p:nvSpPr>
        <p:spPr>
          <a:xfrm>
            <a:off x="859536" y="2670048"/>
            <a:ext cx="4919472" cy="530352"/>
          </a:xfrm>
          <a:prstGeom prst="rect">
            <a:avLst/>
          </a:prstGeom>
          <a:noFill/>
        </p:spPr>
        <p:txBody>
          <a:bodyPr wrap="square" lIns="0" rIns="0" tIns="0" bIns="0">
            <a:spAutoFit/>
          </a:bodyPr>
          <a:lstStyle/>
          <a:p>
            <a:pPr algn="l">
              <a:spcBef>
                <a:spcPts val="0"/>
              </a:spcBef>
              <a:spcAft>
                <a:spcPts val="600"/>
              </a:spcAft>
              <a:defRPr sz="1800" b="1">
                <a:solidFill>
                  <a:srgbClr val="172B49"/>
                </a:solidFill>
                <a:latin typeface="Arial"/>
              </a:defRPr>
            </a:pPr>
            <a:r>
              <a:t>Quy mô TMĐT Việt Nam · 2024</a:t>
            </a:r>
          </a:p>
        </p:txBody>
      </p:sp>
      <p:sp>
        <p:nvSpPr>
          <p:cNvPr id="12" name="Rounded Rectangle 11"/>
          <p:cNvSpPr/>
          <p:nvPr/>
        </p:nvSpPr>
        <p:spPr>
          <a:xfrm>
            <a:off x="6217920" y="1810512"/>
            <a:ext cx="5321808" cy="1847088"/>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19088" y="1993392"/>
            <a:ext cx="4919472" cy="621792"/>
          </a:xfrm>
          <a:prstGeom prst="rect">
            <a:avLst/>
          </a:prstGeom>
          <a:noFill/>
        </p:spPr>
        <p:txBody>
          <a:bodyPr wrap="square" lIns="0" rIns="0" tIns="0" bIns="0">
            <a:spAutoFit/>
          </a:bodyPr>
          <a:lstStyle/>
          <a:p>
            <a:pPr algn="l">
              <a:spcBef>
                <a:spcPts val="0"/>
              </a:spcBef>
              <a:spcAft>
                <a:spcPts val="600"/>
              </a:spcAft>
              <a:defRPr sz="3500" b="1">
                <a:solidFill>
                  <a:srgbClr val="244BFF"/>
                </a:solidFill>
                <a:latin typeface="Arial"/>
              </a:defRPr>
            </a:pPr>
            <a:r>
              <a:t>+20%</a:t>
            </a:r>
          </a:p>
        </p:txBody>
      </p:sp>
      <p:sp>
        <p:nvSpPr>
          <p:cNvPr id="14" name="TextBox 13"/>
          <p:cNvSpPr txBox="1"/>
          <p:nvPr/>
        </p:nvSpPr>
        <p:spPr>
          <a:xfrm>
            <a:off x="6419088" y="2670048"/>
            <a:ext cx="4919472" cy="530352"/>
          </a:xfrm>
          <a:prstGeom prst="rect">
            <a:avLst/>
          </a:prstGeom>
          <a:noFill/>
        </p:spPr>
        <p:txBody>
          <a:bodyPr wrap="square" lIns="0" rIns="0" tIns="0" bIns="0">
            <a:spAutoFit/>
          </a:bodyPr>
          <a:lstStyle/>
          <a:p>
            <a:pPr algn="l">
              <a:spcBef>
                <a:spcPts val="0"/>
              </a:spcBef>
              <a:spcAft>
                <a:spcPts val="600"/>
              </a:spcAft>
              <a:defRPr sz="1800" b="1">
                <a:solidFill>
                  <a:srgbClr val="172B49"/>
                </a:solidFill>
                <a:latin typeface="Arial"/>
              </a:defRPr>
            </a:pPr>
            <a:r>
              <a:t>Tăng trưởng so với năm 2023</a:t>
            </a:r>
          </a:p>
        </p:txBody>
      </p:sp>
      <p:sp>
        <p:nvSpPr>
          <p:cNvPr id="15" name="Oval 14"/>
          <p:cNvSpPr/>
          <p:nvPr/>
        </p:nvSpPr>
        <p:spPr>
          <a:xfrm>
            <a:off x="804672" y="4096512"/>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96696" y="3995928"/>
            <a:ext cx="10415015" cy="630936"/>
          </a:xfrm>
          <a:prstGeom prst="rect">
            <a:avLst/>
          </a:prstGeom>
          <a:noFill/>
        </p:spPr>
        <p:txBody>
          <a:bodyPr wrap="square" lIns="0" rIns="0" tIns="0" bIns="0">
            <a:spAutoFit/>
          </a:bodyPr>
          <a:lstStyle/>
          <a:p>
            <a:pPr algn="l">
              <a:spcBef>
                <a:spcPts val="0"/>
              </a:spcBef>
              <a:spcAft>
                <a:spcPts val="600"/>
              </a:spcAft>
              <a:defRPr sz="2000" b="0">
                <a:solidFill>
                  <a:srgbClr val="172B49"/>
                </a:solidFill>
                <a:latin typeface="Arial"/>
              </a:defRPr>
            </a:pPr>
            <a:r>
              <a:t>Nhu cầu ứng dụng: giúp người mua khám phá sản phẩm phù hợp trong catalog đa dạng.</a:t>
            </a:r>
          </a:p>
        </p:txBody>
      </p:sp>
      <p:sp>
        <p:nvSpPr>
          <p:cNvPr id="17" name="Oval 16"/>
          <p:cNvSpPr/>
          <p:nvPr/>
        </p:nvSpPr>
        <p:spPr>
          <a:xfrm>
            <a:off x="804672" y="4809744"/>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96696" y="4709160"/>
            <a:ext cx="10415015" cy="630936"/>
          </a:xfrm>
          <a:prstGeom prst="rect">
            <a:avLst/>
          </a:prstGeom>
          <a:noFill/>
        </p:spPr>
        <p:txBody>
          <a:bodyPr wrap="square" lIns="0" rIns="0" tIns="0" bIns="0">
            <a:spAutoFit/>
          </a:bodyPr>
          <a:lstStyle/>
          <a:p>
            <a:pPr algn="l">
              <a:spcBef>
                <a:spcPts val="0"/>
              </a:spcBef>
              <a:spcAft>
                <a:spcPts val="600"/>
              </a:spcAft>
              <a:defRPr sz="2000" b="0">
                <a:solidFill>
                  <a:srgbClr val="172B49"/>
                </a:solidFill>
                <a:latin typeface="Arial"/>
              </a:defRPr>
            </a:pPr>
            <a:r>
              <a:t>Bài toán nghiên cứu: khai thác dữ liệu hành vi và metadata cho gợi ý C2C.</a:t>
            </a:r>
          </a:p>
        </p:txBody>
      </p:sp>
      <p:sp>
        <p:nvSpPr>
          <p:cNvPr id="19" name="Rounded Rectangle 18"/>
          <p:cNvSpPr/>
          <p:nvPr/>
        </p:nvSpPr>
        <p:spPr>
          <a:xfrm>
            <a:off x="566928" y="5632704"/>
            <a:ext cx="11064240" cy="393192"/>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5715000"/>
            <a:ext cx="10698480" cy="283464"/>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Bối cảnh: Việt Nam. Dữ liệu thực nghiệm: MerRec từ Mercari — hai phạm vi khác nhau.</a:t>
            </a:r>
          </a:p>
        </p:txBody>
      </p:sp>
      <p:sp>
        <p:nvSpPr>
          <p:cNvPr id="21" name="TextBox 20"/>
          <p:cNvSpPr txBox="1"/>
          <p:nvPr/>
        </p:nvSpPr>
        <p:spPr>
          <a:xfrm>
            <a:off x="777240" y="6117336"/>
            <a:ext cx="1069848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rPr>
                <a:hlinkClick r:id="rId2"/>
              </a:rPr>
              <a:t>Nguồn: Bộ Công Thương, báo cáo năm 2024 (18/02/2025); Li et al., MerRec (2024).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01 INTRODUCTION</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Vấn đề thực tiễn: tìm sản phẩm nào giữa catalog lớn?</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04 / 52</a:t>
            </a:r>
          </a:p>
        </p:txBody>
      </p:sp>
      <p:sp>
        <p:nvSpPr>
          <p:cNvPr id="8" name="Rectangle 7"/>
          <p:cNvSpPr/>
          <p:nvPr/>
        </p:nvSpPr>
        <p:spPr>
          <a:xfrm>
            <a:off x="566928" y="6391656"/>
            <a:ext cx="851095"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7512" y="1810512"/>
            <a:ext cx="5303520" cy="3630168"/>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2066543"/>
            <a:ext cx="4754880" cy="256032"/>
          </a:xfrm>
          <a:prstGeom prst="rect">
            <a:avLst/>
          </a:prstGeom>
          <a:noFill/>
        </p:spPr>
        <p:txBody>
          <a:bodyPr wrap="square" lIns="0" rIns="0" tIns="0" bIns="0">
            <a:spAutoFit/>
          </a:bodyPr>
          <a:lstStyle/>
          <a:p>
            <a:pPr algn="l">
              <a:spcBef>
                <a:spcPts val="0"/>
              </a:spcBef>
              <a:spcAft>
                <a:spcPts val="600"/>
              </a:spcAft>
              <a:defRPr sz="1300" b="1">
                <a:solidFill>
                  <a:srgbClr val="244BFF"/>
                </a:solidFill>
                <a:latin typeface="Arial"/>
              </a:defRPr>
            </a:pPr>
            <a:r>
              <a:t>GÓC NHÌN NGƯỜI DÙNG</a:t>
            </a:r>
          </a:p>
        </p:txBody>
      </p:sp>
      <p:sp>
        <p:nvSpPr>
          <p:cNvPr id="11" name="Oval 10"/>
          <p:cNvSpPr/>
          <p:nvPr/>
        </p:nvSpPr>
        <p:spPr>
          <a:xfrm>
            <a:off x="914400" y="2788920"/>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06424" y="2688336"/>
            <a:ext cx="4498848" cy="704088"/>
          </a:xfrm>
          <a:prstGeom prst="rect">
            <a:avLst/>
          </a:prstGeom>
          <a:noFill/>
        </p:spPr>
        <p:txBody>
          <a:bodyPr wrap="square" lIns="0" rIns="0" tIns="0" bIns="0">
            <a:spAutoFit/>
          </a:bodyPr>
          <a:lstStyle/>
          <a:p>
            <a:pPr algn="l">
              <a:spcBef>
                <a:spcPts val="0"/>
              </a:spcBef>
              <a:spcAft>
                <a:spcPts val="600"/>
              </a:spcAft>
              <a:defRPr sz="2000" b="0">
                <a:solidFill>
                  <a:srgbClr val="172B49"/>
                </a:solidFill>
                <a:latin typeface="Arial"/>
              </a:defRPr>
            </a:pPr>
            <a:r>
              <a:t>Cần thu hẹp lựa chọn theo mối quan tâm.</a:t>
            </a:r>
          </a:p>
        </p:txBody>
      </p:sp>
      <p:sp>
        <p:nvSpPr>
          <p:cNvPr id="13" name="Oval 12"/>
          <p:cNvSpPr/>
          <p:nvPr/>
        </p:nvSpPr>
        <p:spPr>
          <a:xfrm>
            <a:off x="914400" y="3575303"/>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06424" y="3474720"/>
            <a:ext cx="4498848" cy="704088"/>
          </a:xfrm>
          <a:prstGeom prst="rect">
            <a:avLst/>
          </a:prstGeom>
          <a:noFill/>
        </p:spPr>
        <p:txBody>
          <a:bodyPr wrap="square" lIns="0" rIns="0" tIns="0" bIns="0">
            <a:spAutoFit/>
          </a:bodyPr>
          <a:lstStyle/>
          <a:p>
            <a:pPr algn="l">
              <a:spcBef>
                <a:spcPts val="0"/>
              </a:spcBef>
              <a:spcAft>
                <a:spcPts val="600"/>
              </a:spcAft>
              <a:defRPr sz="2000" b="0">
                <a:solidFill>
                  <a:srgbClr val="172B49"/>
                </a:solidFill>
                <a:latin typeface="Arial"/>
              </a:defRPr>
            </a:pPr>
            <a:r>
              <a:t>Từ khóa cần diễn đạt rõ nhu cầu.</a:t>
            </a:r>
          </a:p>
        </p:txBody>
      </p:sp>
      <p:sp>
        <p:nvSpPr>
          <p:cNvPr id="15" name="Oval 14"/>
          <p:cNvSpPr/>
          <p:nvPr/>
        </p:nvSpPr>
        <p:spPr>
          <a:xfrm>
            <a:off x="914400" y="4361688"/>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06424" y="4261104"/>
            <a:ext cx="4498848" cy="704088"/>
          </a:xfrm>
          <a:prstGeom prst="rect">
            <a:avLst/>
          </a:prstGeom>
          <a:noFill/>
        </p:spPr>
        <p:txBody>
          <a:bodyPr wrap="square" lIns="0" rIns="0" tIns="0" bIns="0">
            <a:spAutoFit/>
          </a:bodyPr>
          <a:lstStyle/>
          <a:p>
            <a:pPr algn="l">
              <a:spcBef>
                <a:spcPts val="0"/>
              </a:spcBef>
              <a:spcAft>
                <a:spcPts val="600"/>
              </a:spcAft>
              <a:defRPr sz="2000" b="0">
                <a:solidFill>
                  <a:srgbClr val="172B49"/>
                </a:solidFill>
                <a:latin typeface="Arial"/>
              </a:defRPr>
            </a:pPr>
            <a:r>
              <a:t>Danh sách phổ biến không tự phản ánh sở thích riêng.</a:t>
            </a:r>
          </a:p>
        </p:txBody>
      </p:sp>
      <p:sp>
        <p:nvSpPr>
          <p:cNvPr id="17" name="Rounded Rectangle 16"/>
          <p:cNvSpPr/>
          <p:nvPr/>
        </p:nvSpPr>
        <p:spPr>
          <a:xfrm>
            <a:off x="6217920" y="1810512"/>
            <a:ext cx="5303520" cy="3630168"/>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73952" y="2066543"/>
            <a:ext cx="4754880" cy="256032"/>
          </a:xfrm>
          <a:prstGeom prst="rect">
            <a:avLst/>
          </a:prstGeom>
          <a:noFill/>
        </p:spPr>
        <p:txBody>
          <a:bodyPr wrap="square" lIns="0" rIns="0" tIns="0" bIns="0">
            <a:spAutoFit/>
          </a:bodyPr>
          <a:lstStyle/>
          <a:p>
            <a:pPr algn="l">
              <a:spcBef>
                <a:spcPts val="0"/>
              </a:spcBef>
              <a:spcAft>
                <a:spcPts val="600"/>
              </a:spcAft>
              <a:defRPr sz="1300" b="1">
                <a:solidFill>
                  <a:srgbClr val="244BFF"/>
                </a:solidFill>
                <a:latin typeface="Arial"/>
              </a:defRPr>
            </a:pPr>
            <a:r>
              <a:t>BẰNG CHỨNG TỪ MERREC</a:t>
            </a:r>
          </a:p>
        </p:txBody>
      </p:sp>
      <p:sp>
        <p:nvSpPr>
          <p:cNvPr id="19" name="TextBox 18"/>
          <p:cNvSpPr txBox="1"/>
          <p:nvPr/>
        </p:nvSpPr>
        <p:spPr>
          <a:xfrm>
            <a:off x="6473952" y="2587752"/>
            <a:ext cx="1975104" cy="475488"/>
          </a:xfrm>
          <a:prstGeom prst="rect">
            <a:avLst/>
          </a:prstGeom>
          <a:noFill/>
        </p:spPr>
        <p:txBody>
          <a:bodyPr wrap="square" lIns="0" rIns="0" tIns="0" bIns="0">
            <a:spAutoFit/>
          </a:bodyPr>
          <a:lstStyle/>
          <a:p>
            <a:pPr algn="l">
              <a:spcBef>
                <a:spcPts val="0"/>
              </a:spcBef>
              <a:spcAft>
                <a:spcPts val="600"/>
              </a:spcAft>
              <a:defRPr sz="2900" b="1">
                <a:solidFill>
                  <a:srgbClr val="244BFF"/>
                </a:solidFill>
                <a:latin typeface="Arial"/>
              </a:defRPr>
            </a:pPr>
            <a:r>
              <a:t>30,05M</a:t>
            </a:r>
          </a:p>
        </p:txBody>
      </p:sp>
      <p:sp>
        <p:nvSpPr>
          <p:cNvPr id="20" name="TextBox 19"/>
          <p:cNvSpPr txBox="1"/>
          <p:nvPr/>
        </p:nvSpPr>
        <p:spPr>
          <a:xfrm>
            <a:off x="8522208" y="2688336"/>
            <a:ext cx="2606040" cy="457200"/>
          </a:xfrm>
          <a:prstGeom prst="rect">
            <a:avLst/>
          </a:prstGeom>
          <a:noFill/>
        </p:spPr>
        <p:txBody>
          <a:bodyPr wrap="square" lIns="0" rIns="0" tIns="0" bIns="0">
            <a:spAutoFit/>
          </a:bodyPr>
          <a:lstStyle/>
          <a:p>
            <a:pPr algn="l">
              <a:spcBef>
                <a:spcPts val="0"/>
              </a:spcBef>
              <a:spcAft>
                <a:spcPts val="600"/>
              </a:spcAft>
              <a:defRPr sz="1700" b="0">
                <a:solidFill>
                  <a:srgbClr val="172B49"/>
                </a:solidFill>
                <a:latin typeface="Arial"/>
              </a:defRPr>
            </a:pPr>
            <a:r>
              <a:t>item trong lát dữ liệu</a:t>
            </a:r>
          </a:p>
        </p:txBody>
      </p:sp>
      <p:sp>
        <p:nvSpPr>
          <p:cNvPr id="21" name="TextBox 20"/>
          <p:cNvSpPr txBox="1"/>
          <p:nvPr/>
        </p:nvSpPr>
        <p:spPr>
          <a:xfrm>
            <a:off x="6473952" y="3447288"/>
            <a:ext cx="1975104" cy="475488"/>
          </a:xfrm>
          <a:prstGeom prst="rect">
            <a:avLst/>
          </a:prstGeom>
          <a:noFill/>
        </p:spPr>
        <p:txBody>
          <a:bodyPr wrap="square" lIns="0" rIns="0" tIns="0" bIns="0">
            <a:spAutoFit/>
          </a:bodyPr>
          <a:lstStyle/>
          <a:p>
            <a:pPr algn="l">
              <a:spcBef>
                <a:spcPts val="0"/>
              </a:spcBef>
              <a:spcAft>
                <a:spcPts val="600"/>
              </a:spcAft>
              <a:defRPr sz="2900" b="1">
                <a:solidFill>
                  <a:srgbClr val="244BFF"/>
                </a:solidFill>
                <a:latin typeface="Arial"/>
              </a:defRPr>
            </a:pPr>
            <a:r>
              <a:t>71,17%</a:t>
            </a:r>
          </a:p>
        </p:txBody>
      </p:sp>
      <p:sp>
        <p:nvSpPr>
          <p:cNvPr id="22" name="TextBox 21"/>
          <p:cNvSpPr txBox="1"/>
          <p:nvPr/>
        </p:nvSpPr>
        <p:spPr>
          <a:xfrm>
            <a:off x="8522208" y="3547872"/>
            <a:ext cx="2606040" cy="457200"/>
          </a:xfrm>
          <a:prstGeom prst="rect">
            <a:avLst/>
          </a:prstGeom>
          <a:noFill/>
        </p:spPr>
        <p:txBody>
          <a:bodyPr wrap="square" lIns="0" rIns="0" tIns="0" bIns="0">
            <a:spAutoFit/>
          </a:bodyPr>
          <a:lstStyle/>
          <a:p>
            <a:pPr algn="l">
              <a:spcBef>
                <a:spcPts val="0"/>
              </a:spcBef>
              <a:spcAft>
                <a:spcPts val="600"/>
              </a:spcAft>
              <a:defRPr sz="1700" b="0">
                <a:solidFill>
                  <a:srgbClr val="172B49"/>
                </a:solidFill>
                <a:latin typeface="Arial"/>
              </a:defRPr>
            </a:pPr>
            <a:r>
              <a:t>item có dưới 5 tương tác</a:t>
            </a:r>
          </a:p>
        </p:txBody>
      </p:sp>
      <p:sp>
        <p:nvSpPr>
          <p:cNvPr id="23" name="TextBox 22"/>
          <p:cNvSpPr txBox="1"/>
          <p:nvPr/>
        </p:nvSpPr>
        <p:spPr>
          <a:xfrm>
            <a:off x="6473952" y="4306824"/>
            <a:ext cx="1975104" cy="475488"/>
          </a:xfrm>
          <a:prstGeom prst="rect">
            <a:avLst/>
          </a:prstGeom>
          <a:noFill/>
        </p:spPr>
        <p:txBody>
          <a:bodyPr wrap="square" lIns="0" rIns="0" tIns="0" bIns="0">
            <a:spAutoFit/>
          </a:bodyPr>
          <a:lstStyle/>
          <a:p>
            <a:pPr algn="l">
              <a:spcBef>
                <a:spcPts val="0"/>
              </a:spcBef>
              <a:spcAft>
                <a:spcPts val="600"/>
              </a:spcAft>
              <a:defRPr sz="2900" b="1">
                <a:solidFill>
                  <a:srgbClr val="244BFF"/>
                </a:solidFill>
                <a:latin typeface="Arial"/>
              </a:defRPr>
            </a:pPr>
            <a:r>
              <a:t>84,55%</a:t>
            </a:r>
          </a:p>
        </p:txBody>
      </p:sp>
      <p:sp>
        <p:nvSpPr>
          <p:cNvPr id="24" name="TextBox 23"/>
          <p:cNvSpPr txBox="1"/>
          <p:nvPr/>
        </p:nvSpPr>
        <p:spPr>
          <a:xfrm>
            <a:off x="8522208" y="4407408"/>
            <a:ext cx="2606040" cy="457200"/>
          </a:xfrm>
          <a:prstGeom prst="rect">
            <a:avLst/>
          </a:prstGeom>
          <a:noFill/>
        </p:spPr>
        <p:txBody>
          <a:bodyPr wrap="square" lIns="0" rIns="0" tIns="0" bIns="0">
            <a:spAutoFit/>
          </a:bodyPr>
          <a:lstStyle/>
          <a:p>
            <a:pPr algn="l">
              <a:spcBef>
                <a:spcPts val="0"/>
              </a:spcBef>
              <a:spcAft>
                <a:spcPts val="600"/>
              </a:spcAft>
              <a:defRPr sz="1700" b="0">
                <a:solidFill>
                  <a:srgbClr val="172B49"/>
                </a:solidFill>
                <a:latin typeface="Arial"/>
              </a:defRPr>
            </a:pPr>
            <a:r>
              <a:t>sự kiện là lượt xem</a:t>
            </a:r>
          </a:p>
        </p:txBody>
      </p:sp>
      <p:sp>
        <p:nvSpPr>
          <p:cNvPr id="25" name="Rounded Rectangle 24"/>
          <p:cNvSpPr/>
          <p:nvPr/>
        </p:nvSpPr>
        <p:spPr>
          <a:xfrm>
            <a:off x="566928" y="5733288"/>
            <a:ext cx="11064240" cy="484632"/>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49808" y="5815583"/>
            <a:ext cx="10698480" cy="374904"/>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Động lực: tận dụng nhiều tín hiệu để gợi ý một danh sách ngắn phù hợp hơn.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01 INTRODUCTION</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Lý do chọn đề tài</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05 / 52</a:t>
            </a:r>
          </a:p>
        </p:txBody>
      </p:sp>
      <p:sp>
        <p:nvSpPr>
          <p:cNvPr id="8" name="Rectangle 7"/>
          <p:cNvSpPr/>
          <p:nvPr/>
        </p:nvSpPr>
        <p:spPr>
          <a:xfrm>
            <a:off x="566928" y="6391656"/>
            <a:ext cx="1063869"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7512" y="1810512"/>
            <a:ext cx="5312664" cy="1636776"/>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86968" y="2020824"/>
            <a:ext cx="4828032" cy="393192"/>
          </a:xfrm>
          <a:prstGeom prst="rect">
            <a:avLst/>
          </a:prstGeom>
          <a:noFill/>
        </p:spPr>
        <p:txBody>
          <a:bodyPr wrap="square" lIns="0" rIns="0" tIns="0" bIns="0">
            <a:spAutoFit/>
          </a:bodyPr>
          <a:lstStyle/>
          <a:p>
            <a:pPr algn="l">
              <a:spcBef>
                <a:spcPts val="0"/>
              </a:spcBef>
              <a:spcAft>
                <a:spcPts val="600"/>
              </a:spcAft>
              <a:defRPr sz="2200" b="1">
                <a:solidFill>
                  <a:srgbClr val="244BFF"/>
                </a:solidFill>
                <a:latin typeface="Arial"/>
              </a:defRPr>
            </a:pPr>
            <a:r>
              <a:t>01 · Tính thực tiễn</a:t>
            </a:r>
          </a:p>
        </p:txBody>
      </p:sp>
      <p:sp>
        <p:nvSpPr>
          <p:cNvPr id="11" name="TextBox 10"/>
          <p:cNvSpPr txBox="1"/>
          <p:nvPr/>
        </p:nvSpPr>
        <p:spPr>
          <a:xfrm>
            <a:off x="886968" y="2596896"/>
            <a:ext cx="4828032" cy="594360"/>
          </a:xfrm>
          <a:prstGeom prst="rect">
            <a:avLst/>
          </a:prstGeom>
          <a:noFill/>
        </p:spPr>
        <p:txBody>
          <a:bodyPr wrap="square" lIns="0" rIns="0" tIns="0" bIns="0">
            <a:spAutoFit/>
          </a:bodyPr>
          <a:lstStyle/>
          <a:p>
            <a:pPr algn="l">
              <a:spcBef>
                <a:spcPts val="0"/>
              </a:spcBef>
              <a:spcAft>
                <a:spcPts val="600"/>
              </a:spcAft>
              <a:defRPr sz="1900" b="0">
                <a:solidFill>
                  <a:srgbClr val="172B49"/>
                </a:solidFill>
                <a:latin typeface="Arial"/>
              </a:defRPr>
            </a:pPr>
            <a:r>
              <a:t>Hỗ trợ khám phá sản phẩm từ nhu cầu và lịch sử người dùng.</a:t>
            </a:r>
          </a:p>
        </p:txBody>
      </p:sp>
      <p:sp>
        <p:nvSpPr>
          <p:cNvPr id="12" name="Rounded Rectangle 11"/>
          <p:cNvSpPr/>
          <p:nvPr/>
        </p:nvSpPr>
        <p:spPr>
          <a:xfrm>
            <a:off x="6227064" y="1810512"/>
            <a:ext cx="5312664" cy="1636776"/>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46520" y="2020824"/>
            <a:ext cx="4828032" cy="393192"/>
          </a:xfrm>
          <a:prstGeom prst="rect">
            <a:avLst/>
          </a:prstGeom>
          <a:noFill/>
        </p:spPr>
        <p:txBody>
          <a:bodyPr wrap="square" lIns="0" rIns="0" tIns="0" bIns="0">
            <a:spAutoFit/>
          </a:bodyPr>
          <a:lstStyle/>
          <a:p>
            <a:pPr algn="l">
              <a:spcBef>
                <a:spcPts val="0"/>
              </a:spcBef>
              <a:spcAft>
                <a:spcPts val="600"/>
              </a:spcAft>
              <a:defRPr sz="2200" b="1">
                <a:solidFill>
                  <a:srgbClr val="244BFF"/>
                </a:solidFill>
                <a:latin typeface="Arial"/>
              </a:defRPr>
            </a:pPr>
            <a:r>
              <a:t>02 · Tính học thuật</a:t>
            </a:r>
          </a:p>
        </p:txBody>
      </p:sp>
      <p:sp>
        <p:nvSpPr>
          <p:cNvPr id="14" name="TextBox 13"/>
          <p:cNvSpPr txBox="1"/>
          <p:nvPr/>
        </p:nvSpPr>
        <p:spPr>
          <a:xfrm>
            <a:off x="6446520" y="2596896"/>
            <a:ext cx="4828032" cy="594360"/>
          </a:xfrm>
          <a:prstGeom prst="rect">
            <a:avLst/>
          </a:prstGeom>
          <a:noFill/>
        </p:spPr>
        <p:txBody>
          <a:bodyPr wrap="square" lIns="0" rIns="0" tIns="0" bIns="0">
            <a:spAutoFit/>
          </a:bodyPr>
          <a:lstStyle/>
          <a:p>
            <a:pPr algn="l">
              <a:spcBef>
                <a:spcPts val="0"/>
              </a:spcBef>
              <a:spcAft>
                <a:spcPts val="600"/>
              </a:spcAft>
              <a:defRPr sz="1900" b="0">
                <a:solidFill>
                  <a:srgbClr val="172B49"/>
                </a:solidFill>
                <a:latin typeface="Arial"/>
              </a:defRPr>
            </a:pPr>
            <a:r>
              <a:t>Nghiên cứu implicit feedback, long-tail, cold-start và chuỗi.</a:t>
            </a:r>
          </a:p>
        </p:txBody>
      </p:sp>
      <p:sp>
        <p:nvSpPr>
          <p:cNvPr id="15" name="Rounded Rectangle 14"/>
          <p:cNvSpPr/>
          <p:nvPr/>
        </p:nvSpPr>
        <p:spPr>
          <a:xfrm>
            <a:off x="667512" y="3703320"/>
            <a:ext cx="5312664" cy="1636776"/>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86968" y="3913632"/>
            <a:ext cx="4828032" cy="393192"/>
          </a:xfrm>
          <a:prstGeom prst="rect">
            <a:avLst/>
          </a:prstGeom>
          <a:noFill/>
        </p:spPr>
        <p:txBody>
          <a:bodyPr wrap="square" lIns="0" rIns="0" tIns="0" bIns="0">
            <a:spAutoFit/>
          </a:bodyPr>
          <a:lstStyle/>
          <a:p>
            <a:pPr algn="l">
              <a:spcBef>
                <a:spcPts val="0"/>
              </a:spcBef>
              <a:spcAft>
                <a:spcPts val="600"/>
              </a:spcAft>
              <a:defRPr sz="2200" b="1">
                <a:solidFill>
                  <a:srgbClr val="244BFF"/>
                </a:solidFill>
                <a:latin typeface="Arial"/>
              </a:defRPr>
            </a:pPr>
            <a:r>
              <a:t>03 · Dữ liệu phù hợp</a:t>
            </a:r>
          </a:p>
        </p:txBody>
      </p:sp>
      <p:sp>
        <p:nvSpPr>
          <p:cNvPr id="17" name="TextBox 16"/>
          <p:cNvSpPr txBox="1"/>
          <p:nvPr/>
        </p:nvSpPr>
        <p:spPr>
          <a:xfrm>
            <a:off x="886968" y="4489704"/>
            <a:ext cx="4828032" cy="594360"/>
          </a:xfrm>
          <a:prstGeom prst="rect">
            <a:avLst/>
          </a:prstGeom>
          <a:noFill/>
        </p:spPr>
        <p:txBody>
          <a:bodyPr wrap="square" lIns="0" rIns="0" tIns="0" bIns="0">
            <a:spAutoFit/>
          </a:bodyPr>
          <a:lstStyle/>
          <a:p>
            <a:pPr algn="l">
              <a:spcBef>
                <a:spcPts val="0"/>
              </a:spcBef>
              <a:spcAft>
                <a:spcPts val="600"/>
              </a:spcAft>
              <a:defRPr sz="1900" b="0">
                <a:solidFill>
                  <a:srgbClr val="172B49"/>
                </a:solidFill>
                <a:latin typeface="Arial"/>
              </a:defRPr>
            </a:pPr>
            <a:r>
              <a:t>MerRec có timestamp, nhiều hành vi và metadata để thực nghiệm.</a:t>
            </a:r>
          </a:p>
        </p:txBody>
      </p:sp>
      <p:sp>
        <p:nvSpPr>
          <p:cNvPr id="18" name="Rounded Rectangle 17"/>
          <p:cNvSpPr/>
          <p:nvPr/>
        </p:nvSpPr>
        <p:spPr>
          <a:xfrm>
            <a:off x="6227064" y="3703320"/>
            <a:ext cx="5312664" cy="1636776"/>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3913632"/>
            <a:ext cx="4828032" cy="393192"/>
          </a:xfrm>
          <a:prstGeom prst="rect">
            <a:avLst/>
          </a:prstGeom>
          <a:noFill/>
        </p:spPr>
        <p:txBody>
          <a:bodyPr wrap="square" lIns="0" rIns="0" tIns="0" bIns="0">
            <a:spAutoFit/>
          </a:bodyPr>
          <a:lstStyle/>
          <a:p>
            <a:pPr algn="l">
              <a:spcBef>
                <a:spcPts val="0"/>
              </a:spcBef>
              <a:spcAft>
                <a:spcPts val="600"/>
              </a:spcAft>
              <a:defRPr sz="2200" b="1">
                <a:solidFill>
                  <a:srgbClr val="244BFF"/>
                </a:solidFill>
                <a:latin typeface="Arial"/>
              </a:defRPr>
            </a:pPr>
            <a:r>
              <a:t>04 · Khả năng ứng dụng</a:t>
            </a:r>
          </a:p>
        </p:txBody>
      </p:sp>
      <p:sp>
        <p:nvSpPr>
          <p:cNvPr id="20" name="TextBox 19"/>
          <p:cNvSpPr txBox="1"/>
          <p:nvPr/>
        </p:nvSpPr>
        <p:spPr>
          <a:xfrm>
            <a:off x="6446520" y="4489704"/>
            <a:ext cx="4828032" cy="594360"/>
          </a:xfrm>
          <a:prstGeom prst="rect">
            <a:avLst/>
          </a:prstGeom>
          <a:noFill/>
        </p:spPr>
        <p:txBody>
          <a:bodyPr wrap="square" lIns="0" rIns="0" tIns="0" bIns="0">
            <a:spAutoFit/>
          </a:bodyPr>
          <a:lstStyle/>
          <a:p>
            <a:pPr algn="l">
              <a:spcBef>
                <a:spcPts val="0"/>
              </a:spcBef>
              <a:spcAft>
                <a:spcPts val="600"/>
              </a:spcAft>
              <a:defRPr sz="1900" b="0">
                <a:solidFill>
                  <a:srgbClr val="172B49"/>
                </a:solidFill>
                <a:latin typeface="Arial"/>
              </a:defRPr>
            </a:pPr>
            <a:r>
              <a:t>Kết nối xử lý dữ liệu, mô hình và giao diện minh họa.</a:t>
            </a:r>
          </a:p>
        </p:txBody>
      </p:sp>
      <p:sp>
        <p:nvSpPr>
          <p:cNvPr id="21" name="Rounded Rectangle 20"/>
          <p:cNvSpPr/>
          <p:nvPr/>
        </p:nvSpPr>
        <p:spPr>
          <a:xfrm>
            <a:off x="566928" y="5788152"/>
            <a:ext cx="11064240" cy="438912"/>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49808" y="5870448"/>
            <a:ext cx="10698480" cy="329184"/>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Giá trị kỳ vọng của đề tài; chưa phải bằng chứng tăng doanh thu hoặc hiệu quả online.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01 INTRODUCTION</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Mục tiêu, ý nghĩa và phạm vi nghiên cứu</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06 / 52</a:t>
            </a:r>
          </a:p>
        </p:txBody>
      </p:sp>
      <p:sp>
        <p:nvSpPr>
          <p:cNvPr id="8" name="Rectangle 7"/>
          <p:cNvSpPr/>
          <p:nvPr/>
        </p:nvSpPr>
        <p:spPr>
          <a:xfrm>
            <a:off x="566928" y="6391656"/>
            <a:ext cx="1276643"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67512" y="1792224"/>
            <a:ext cx="10853928" cy="950976"/>
          </a:xfrm>
          <a:prstGeom prst="roundRect">
            <a:avLst>
              <a:gd name="adj" fmla="val 9000"/>
            </a:avLst>
          </a:prstGeom>
          <a:solidFill>
            <a:srgbClr val="1021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002536"/>
            <a:ext cx="10369296" cy="585216"/>
          </a:xfrm>
          <a:prstGeom prst="rect">
            <a:avLst/>
          </a:prstGeom>
          <a:noFill/>
        </p:spPr>
        <p:txBody>
          <a:bodyPr wrap="square" lIns="0" rIns="0" tIns="0" bIns="0">
            <a:spAutoFit/>
          </a:bodyPr>
          <a:lstStyle/>
          <a:p>
            <a:pPr algn="ctr">
              <a:spcBef>
                <a:spcPts val="0"/>
              </a:spcBef>
              <a:spcAft>
                <a:spcPts val="600"/>
              </a:spcAft>
              <a:defRPr sz="2500" b="1">
                <a:solidFill>
                  <a:srgbClr val="FFFFFF"/>
                </a:solidFill>
                <a:latin typeface="Arial"/>
              </a:defRPr>
            </a:pPr>
            <a:r>
              <a:t>Xây dựng và đánh giá gợi ý Top-K từ dữ liệu hành vi MerRec</a:t>
            </a:r>
          </a:p>
        </p:txBody>
      </p:sp>
      <p:sp>
        <p:nvSpPr>
          <p:cNvPr id="11" name="Rounded Rectangle 10"/>
          <p:cNvSpPr/>
          <p:nvPr/>
        </p:nvSpPr>
        <p:spPr>
          <a:xfrm>
            <a:off x="667512" y="3136392"/>
            <a:ext cx="3392424" cy="2157984"/>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3383280"/>
            <a:ext cx="2990088" cy="256032"/>
          </a:xfrm>
          <a:prstGeom prst="rect">
            <a:avLst/>
          </a:prstGeom>
          <a:noFill/>
        </p:spPr>
        <p:txBody>
          <a:bodyPr wrap="square" lIns="0" rIns="0" tIns="0" bIns="0">
            <a:spAutoFit/>
          </a:bodyPr>
          <a:lstStyle/>
          <a:p>
            <a:pPr algn="l">
              <a:spcBef>
                <a:spcPts val="0"/>
              </a:spcBef>
              <a:spcAft>
                <a:spcPts val="600"/>
              </a:spcAft>
              <a:defRPr sz="1300" b="1">
                <a:solidFill>
                  <a:srgbClr val="244BFF"/>
                </a:solidFill>
                <a:latin typeface="Arial"/>
              </a:defRPr>
            </a:pPr>
            <a:r>
              <a:t>CÔNG VIỆC</a:t>
            </a:r>
          </a:p>
        </p:txBody>
      </p:sp>
      <p:sp>
        <p:nvSpPr>
          <p:cNvPr id="13" name="TextBox 12"/>
          <p:cNvSpPr txBox="1"/>
          <p:nvPr/>
        </p:nvSpPr>
        <p:spPr>
          <a:xfrm>
            <a:off x="868680" y="3886200"/>
            <a:ext cx="2990088" cy="1307592"/>
          </a:xfrm>
          <a:prstGeom prst="rect">
            <a:avLst/>
          </a:prstGeom>
          <a:noFill/>
        </p:spPr>
        <p:txBody>
          <a:bodyPr wrap="square" lIns="0" rIns="0" tIns="0" bIns="0">
            <a:spAutoFit/>
          </a:bodyPr>
          <a:lstStyle/>
          <a:p>
            <a:pPr algn="l">
              <a:spcBef>
                <a:spcPts val="0"/>
              </a:spcBef>
              <a:spcAft>
                <a:spcPts val="600"/>
              </a:spcAft>
              <a:defRPr sz="1800" b="0">
                <a:solidFill>
                  <a:srgbClr val="172B49"/>
                </a:solidFill>
                <a:latin typeface="Arial"/>
              </a:defRPr>
            </a:pPr>
            <a:r>
              <a:t>Xử lý dữ liệu và EDA.</a:t>
            </a:r>
          </a:p>
          <a:p>
            <a:pPr algn="l">
              <a:spcBef>
                <a:spcPts val="0"/>
              </a:spcBef>
              <a:spcAft>
                <a:spcPts val="600"/>
              </a:spcAft>
              <a:defRPr sz="1800" b="0">
                <a:solidFill>
                  <a:srgbClr val="172B49"/>
                </a:solidFill>
                <a:latin typeface="Arial"/>
              </a:defRPr>
            </a:pPr>
            <a:r>
              <a:t>Tạo đặc trưng.</a:t>
            </a:r>
          </a:p>
          <a:p>
            <a:pPr algn="l">
              <a:spcBef>
                <a:spcPts val="0"/>
              </a:spcBef>
              <a:spcAft>
                <a:spcPts val="600"/>
              </a:spcAft>
              <a:defRPr sz="1800" b="0">
                <a:solidFill>
                  <a:srgbClr val="172B49"/>
                </a:solidFill>
                <a:latin typeface="Arial"/>
              </a:defRPr>
            </a:pPr>
            <a:r>
              <a:t>Thực nghiệm mô hình.</a:t>
            </a:r>
          </a:p>
        </p:txBody>
      </p:sp>
      <p:sp>
        <p:nvSpPr>
          <p:cNvPr id="14" name="Rounded Rectangle 13"/>
          <p:cNvSpPr/>
          <p:nvPr/>
        </p:nvSpPr>
        <p:spPr>
          <a:xfrm>
            <a:off x="4398264" y="3136392"/>
            <a:ext cx="3392424" cy="2157984"/>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99432" y="3383280"/>
            <a:ext cx="2990088" cy="256032"/>
          </a:xfrm>
          <a:prstGeom prst="rect">
            <a:avLst/>
          </a:prstGeom>
          <a:noFill/>
        </p:spPr>
        <p:txBody>
          <a:bodyPr wrap="square" lIns="0" rIns="0" tIns="0" bIns="0">
            <a:spAutoFit/>
          </a:bodyPr>
          <a:lstStyle/>
          <a:p>
            <a:pPr algn="l">
              <a:spcBef>
                <a:spcPts val="0"/>
              </a:spcBef>
              <a:spcAft>
                <a:spcPts val="600"/>
              </a:spcAft>
              <a:defRPr sz="1300" b="1">
                <a:solidFill>
                  <a:srgbClr val="244BFF"/>
                </a:solidFill>
                <a:latin typeface="Arial"/>
              </a:defRPr>
            </a:pPr>
            <a:r>
              <a:t>Ý NGHĨA</a:t>
            </a:r>
          </a:p>
        </p:txBody>
      </p:sp>
      <p:sp>
        <p:nvSpPr>
          <p:cNvPr id="16" name="TextBox 15"/>
          <p:cNvSpPr txBox="1"/>
          <p:nvPr/>
        </p:nvSpPr>
        <p:spPr>
          <a:xfrm>
            <a:off x="4599432" y="3886200"/>
            <a:ext cx="2990088" cy="1307592"/>
          </a:xfrm>
          <a:prstGeom prst="rect">
            <a:avLst/>
          </a:prstGeom>
          <a:noFill/>
        </p:spPr>
        <p:txBody>
          <a:bodyPr wrap="square" lIns="0" rIns="0" tIns="0" bIns="0">
            <a:spAutoFit/>
          </a:bodyPr>
          <a:lstStyle/>
          <a:p>
            <a:pPr algn="l">
              <a:spcBef>
                <a:spcPts val="0"/>
              </a:spcBef>
              <a:spcAft>
                <a:spcPts val="600"/>
              </a:spcAft>
              <a:defRPr sz="1800" b="0">
                <a:solidFill>
                  <a:srgbClr val="172B49"/>
                </a:solidFill>
                <a:latin typeface="Arial"/>
              </a:defRPr>
            </a:pPr>
            <a:r>
              <a:t>Hiểu sparsity và cold-start.</a:t>
            </a:r>
          </a:p>
          <a:p>
            <a:pPr algn="l">
              <a:spcBef>
                <a:spcPts val="0"/>
              </a:spcBef>
              <a:spcAft>
                <a:spcPts val="600"/>
              </a:spcAft>
              <a:defRPr sz="1800" b="0">
                <a:solidFill>
                  <a:srgbClr val="172B49"/>
                </a:solidFill>
                <a:latin typeface="Arial"/>
              </a:defRPr>
            </a:pPr>
            <a:r>
              <a:t>Đọc đúng giao thức đánh giá.</a:t>
            </a:r>
          </a:p>
          <a:p>
            <a:pPr algn="l">
              <a:spcBef>
                <a:spcPts val="0"/>
              </a:spcBef>
              <a:spcAft>
                <a:spcPts val="600"/>
              </a:spcAft>
              <a:defRPr sz="1800" b="0">
                <a:solidFill>
                  <a:srgbClr val="172B49"/>
                </a:solidFill>
                <a:latin typeface="Arial"/>
              </a:defRPr>
            </a:pPr>
            <a:r>
              <a:t>Làm cơ sở tích hợp.</a:t>
            </a:r>
          </a:p>
        </p:txBody>
      </p:sp>
      <p:sp>
        <p:nvSpPr>
          <p:cNvPr id="17" name="Rounded Rectangle 16"/>
          <p:cNvSpPr/>
          <p:nvPr/>
        </p:nvSpPr>
        <p:spPr>
          <a:xfrm>
            <a:off x="8129016" y="3136392"/>
            <a:ext cx="3392424" cy="2157984"/>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30184" y="3383280"/>
            <a:ext cx="2990088" cy="256032"/>
          </a:xfrm>
          <a:prstGeom prst="rect">
            <a:avLst/>
          </a:prstGeom>
          <a:noFill/>
        </p:spPr>
        <p:txBody>
          <a:bodyPr wrap="square" lIns="0" rIns="0" tIns="0" bIns="0">
            <a:spAutoFit/>
          </a:bodyPr>
          <a:lstStyle/>
          <a:p>
            <a:pPr algn="l">
              <a:spcBef>
                <a:spcPts val="0"/>
              </a:spcBef>
              <a:spcAft>
                <a:spcPts val="600"/>
              </a:spcAft>
              <a:defRPr sz="1300" b="1">
                <a:solidFill>
                  <a:srgbClr val="244BFF"/>
                </a:solidFill>
                <a:latin typeface="Arial"/>
              </a:defRPr>
            </a:pPr>
            <a:r>
              <a:t>PHẠM VI</a:t>
            </a:r>
          </a:p>
        </p:txBody>
      </p:sp>
      <p:sp>
        <p:nvSpPr>
          <p:cNvPr id="19" name="TextBox 18"/>
          <p:cNvSpPr txBox="1"/>
          <p:nvPr/>
        </p:nvSpPr>
        <p:spPr>
          <a:xfrm>
            <a:off x="8330184" y="3886200"/>
            <a:ext cx="2990088" cy="1307592"/>
          </a:xfrm>
          <a:prstGeom prst="rect">
            <a:avLst/>
          </a:prstGeom>
          <a:noFill/>
        </p:spPr>
        <p:txBody>
          <a:bodyPr wrap="square" lIns="0" rIns="0" tIns="0" bIns="0">
            <a:spAutoFit/>
          </a:bodyPr>
          <a:lstStyle/>
          <a:p>
            <a:pPr algn="l">
              <a:spcBef>
                <a:spcPts val="0"/>
              </a:spcBef>
              <a:spcAft>
                <a:spcPts val="600"/>
              </a:spcAft>
              <a:defRPr sz="1800" b="0">
                <a:solidFill>
                  <a:srgbClr val="172B49"/>
                </a:solidFill>
                <a:latin typeface="Arial"/>
              </a:defRPr>
            </a:pPr>
            <a:r>
              <a:t>Dữ liệu tháng 05/2023.</a:t>
            </a:r>
          </a:p>
          <a:p>
            <a:pPr algn="l">
              <a:spcBef>
                <a:spcPts val="0"/>
              </a:spcBef>
              <a:spcAft>
                <a:spcPts val="600"/>
              </a:spcAft>
              <a:defRPr sz="1800" b="0">
                <a:solidFill>
                  <a:srgbClr val="172B49"/>
                </a:solidFill>
                <a:latin typeface="Arial"/>
              </a:defRPr>
            </a:pPr>
            <a:r>
              <a:t>Đánh giá offline.</a:t>
            </a:r>
          </a:p>
          <a:p>
            <a:pPr algn="l">
              <a:spcBef>
                <a:spcPts val="0"/>
              </a:spcBef>
              <a:spcAft>
                <a:spcPts val="600"/>
              </a:spcAft>
              <a:defRPr sz="1800" b="0">
                <a:solidFill>
                  <a:srgbClr val="172B49"/>
                </a:solidFill>
                <a:latin typeface="Arial"/>
              </a:defRPr>
            </a:pPr>
            <a:r>
              <a:t>Demo web tách riêng.</a:t>
            </a:r>
          </a:p>
        </p:txBody>
      </p:sp>
      <p:sp>
        <p:nvSpPr>
          <p:cNvPr id="20" name="Rounded Rectangle 19"/>
          <p:cNvSpPr/>
          <p:nvPr/>
        </p:nvSpPr>
        <p:spPr>
          <a:xfrm>
            <a:off x="566928" y="5733288"/>
            <a:ext cx="11064240" cy="475488"/>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5815583"/>
            <a:ext cx="10698480" cy="365760"/>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Đã có DCN và LightGBM; chưa có A/B test hoặc kiểm chứng kinh doanh.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02 PROBLEM DEFINITION</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Bài toán gợi ý và các thách thức</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07 / 52</a:t>
            </a:r>
          </a:p>
        </p:txBody>
      </p:sp>
      <p:sp>
        <p:nvSpPr>
          <p:cNvPr id="8" name="Rectangle 7"/>
          <p:cNvSpPr/>
          <p:nvPr/>
        </p:nvSpPr>
        <p:spPr>
          <a:xfrm>
            <a:off x="566928" y="6391656"/>
            <a:ext cx="1489416"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94360" y="1819656"/>
            <a:ext cx="3462528" cy="1591056"/>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956816"/>
            <a:ext cx="3188208"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01</a:t>
            </a:r>
          </a:p>
        </p:txBody>
      </p:sp>
      <p:sp>
        <p:nvSpPr>
          <p:cNvPr id="11" name="TextBox 10"/>
          <p:cNvSpPr txBox="1"/>
          <p:nvPr/>
        </p:nvSpPr>
        <p:spPr>
          <a:xfrm>
            <a:off x="749808" y="2267712"/>
            <a:ext cx="3151632" cy="475488"/>
          </a:xfrm>
          <a:prstGeom prst="rect">
            <a:avLst/>
          </a:prstGeom>
          <a:noFill/>
        </p:spPr>
        <p:txBody>
          <a:bodyPr wrap="square" lIns="0" rIns="0" tIns="0" bIns="0">
            <a:spAutoFit/>
          </a:bodyPr>
          <a:lstStyle/>
          <a:p>
            <a:pPr algn="l">
              <a:spcBef>
                <a:spcPts val="0"/>
              </a:spcBef>
              <a:spcAft>
                <a:spcPts val="600"/>
              </a:spcAft>
              <a:defRPr sz="1900" b="1">
                <a:solidFill>
                  <a:srgbClr val="172B49"/>
                </a:solidFill>
                <a:latin typeface="Arial"/>
              </a:defRPr>
            </a:pPr>
            <a:r>
              <a:t>Đầu vào</a:t>
            </a:r>
          </a:p>
        </p:txBody>
      </p:sp>
      <p:sp>
        <p:nvSpPr>
          <p:cNvPr id="12" name="TextBox 11"/>
          <p:cNvSpPr txBox="1"/>
          <p:nvPr/>
        </p:nvSpPr>
        <p:spPr>
          <a:xfrm>
            <a:off x="749808" y="2770632"/>
            <a:ext cx="3151632" cy="585215"/>
          </a:xfrm>
          <a:prstGeom prst="rect">
            <a:avLst/>
          </a:prstGeom>
          <a:noFill/>
        </p:spPr>
        <p:txBody>
          <a:bodyPr wrap="square" lIns="0" rIns="0" tIns="0" bIns="0">
            <a:spAutoFit/>
          </a:bodyPr>
          <a:lstStyle/>
          <a:p>
            <a:pPr algn="l">
              <a:spcBef>
                <a:spcPts val="0"/>
              </a:spcBef>
              <a:spcAft>
                <a:spcPts val="600"/>
              </a:spcAft>
              <a:defRPr sz="1300" b="0">
                <a:solidFill>
                  <a:srgbClr val="5B6B83"/>
                </a:solidFill>
                <a:latin typeface="Arial"/>
              </a:defRPr>
            </a:pPr>
            <a:r>
              <a:t>Lịch sử + hành vi + metadata</a:t>
            </a:r>
          </a:p>
        </p:txBody>
      </p:sp>
      <p:sp>
        <p:nvSpPr>
          <p:cNvPr id="13" name="Chevron 12"/>
          <p:cNvSpPr/>
          <p:nvPr/>
        </p:nvSpPr>
        <p:spPr>
          <a:xfrm>
            <a:off x="4098036" y="2523744"/>
            <a:ext cx="210312" cy="182880"/>
          </a:xfrm>
          <a:prstGeom prst="chevron">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349496" y="1819656"/>
            <a:ext cx="3462528" cy="1591056"/>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04944" y="1956816"/>
            <a:ext cx="3188208"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02</a:t>
            </a:r>
          </a:p>
        </p:txBody>
      </p:sp>
      <p:sp>
        <p:nvSpPr>
          <p:cNvPr id="16" name="TextBox 15"/>
          <p:cNvSpPr txBox="1"/>
          <p:nvPr/>
        </p:nvSpPr>
        <p:spPr>
          <a:xfrm>
            <a:off x="4504944" y="2267712"/>
            <a:ext cx="3151632" cy="475488"/>
          </a:xfrm>
          <a:prstGeom prst="rect">
            <a:avLst/>
          </a:prstGeom>
          <a:noFill/>
        </p:spPr>
        <p:txBody>
          <a:bodyPr wrap="square" lIns="0" rIns="0" tIns="0" bIns="0">
            <a:spAutoFit/>
          </a:bodyPr>
          <a:lstStyle/>
          <a:p>
            <a:pPr algn="l">
              <a:spcBef>
                <a:spcPts val="0"/>
              </a:spcBef>
              <a:spcAft>
                <a:spcPts val="600"/>
              </a:spcAft>
              <a:defRPr sz="1900" b="1">
                <a:solidFill>
                  <a:srgbClr val="172B49"/>
                </a:solidFill>
                <a:latin typeface="Arial"/>
              </a:defRPr>
            </a:pPr>
            <a:r>
              <a:t>Mô hình</a:t>
            </a:r>
          </a:p>
        </p:txBody>
      </p:sp>
      <p:sp>
        <p:nvSpPr>
          <p:cNvPr id="17" name="TextBox 16"/>
          <p:cNvSpPr txBox="1"/>
          <p:nvPr/>
        </p:nvSpPr>
        <p:spPr>
          <a:xfrm>
            <a:off x="4504944" y="2770632"/>
            <a:ext cx="3151632" cy="585215"/>
          </a:xfrm>
          <a:prstGeom prst="rect">
            <a:avLst/>
          </a:prstGeom>
          <a:noFill/>
        </p:spPr>
        <p:txBody>
          <a:bodyPr wrap="square" lIns="0" rIns="0" tIns="0" bIns="0">
            <a:spAutoFit/>
          </a:bodyPr>
          <a:lstStyle/>
          <a:p>
            <a:pPr algn="l">
              <a:spcBef>
                <a:spcPts val="0"/>
              </a:spcBef>
              <a:spcAft>
                <a:spcPts val="600"/>
              </a:spcAft>
              <a:defRPr sz="1300" b="0">
                <a:solidFill>
                  <a:srgbClr val="5B6B83"/>
                </a:solidFill>
                <a:latin typeface="Arial"/>
              </a:defRPr>
            </a:pPr>
            <a:r>
              <a:t>Retrieval / next-item</a:t>
            </a:r>
          </a:p>
        </p:txBody>
      </p:sp>
      <p:sp>
        <p:nvSpPr>
          <p:cNvPr id="18" name="Chevron 17"/>
          <p:cNvSpPr/>
          <p:nvPr/>
        </p:nvSpPr>
        <p:spPr>
          <a:xfrm>
            <a:off x="7853172" y="2523744"/>
            <a:ext cx="210312" cy="182880"/>
          </a:xfrm>
          <a:prstGeom prst="chevron">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104632" y="1819656"/>
            <a:ext cx="3462528" cy="1591056"/>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60080" y="1956816"/>
            <a:ext cx="3188208"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03</a:t>
            </a:r>
          </a:p>
        </p:txBody>
      </p:sp>
      <p:sp>
        <p:nvSpPr>
          <p:cNvPr id="21" name="TextBox 20"/>
          <p:cNvSpPr txBox="1"/>
          <p:nvPr/>
        </p:nvSpPr>
        <p:spPr>
          <a:xfrm>
            <a:off x="8260080" y="2267712"/>
            <a:ext cx="3151632" cy="475488"/>
          </a:xfrm>
          <a:prstGeom prst="rect">
            <a:avLst/>
          </a:prstGeom>
          <a:noFill/>
        </p:spPr>
        <p:txBody>
          <a:bodyPr wrap="square" lIns="0" rIns="0" tIns="0" bIns="0">
            <a:spAutoFit/>
          </a:bodyPr>
          <a:lstStyle/>
          <a:p>
            <a:pPr algn="l">
              <a:spcBef>
                <a:spcPts val="0"/>
              </a:spcBef>
              <a:spcAft>
                <a:spcPts val="600"/>
              </a:spcAft>
              <a:defRPr sz="1900" b="1">
                <a:solidFill>
                  <a:srgbClr val="172B49"/>
                </a:solidFill>
                <a:latin typeface="Arial"/>
              </a:defRPr>
            </a:pPr>
            <a:r>
              <a:t>Top-K</a:t>
            </a:r>
          </a:p>
        </p:txBody>
      </p:sp>
      <p:sp>
        <p:nvSpPr>
          <p:cNvPr id="22" name="TextBox 21"/>
          <p:cNvSpPr txBox="1"/>
          <p:nvPr/>
        </p:nvSpPr>
        <p:spPr>
          <a:xfrm>
            <a:off x="8260080" y="2770632"/>
            <a:ext cx="3151632" cy="585215"/>
          </a:xfrm>
          <a:prstGeom prst="rect">
            <a:avLst/>
          </a:prstGeom>
          <a:noFill/>
        </p:spPr>
        <p:txBody>
          <a:bodyPr wrap="square" lIns="0" rIns="0" tIns="0" bIns="0">
            <a:spAutoFit/>
          </a:bodyPr>
          <a:lstStyle/>
          <a:p>
            <a:pPr algn="l">
              <a:spcBef>
                <a:spcPts val="0"/>
              </a:spcBef>
              <a:spcAft>
                <a:spcPts val="600"/>
              </a:spcAft>
              <a:defRPr sz="1300" b="0">
                <a:solidFill>
                  <a:srgbClr val="5B6B83"/>
                </a:solidFill>
                <a:latin typeface="Arial"/>
              </a:defRPr>
            </a:pPr>
            <a:r>
              <a:t>Danh sách item xếp hạng</a:t>
            </a:r>
          </a:p>
        </p:txBody>
      </p:sp>
      <p:sp>
        <p:nvSpPr>
          <p:cNvPr id="23" name="TextBox 22"/>
          <p:cNvSpPr txBox="1"/>
          <p:nvPr/>
        </p:nvSpPr>
        <p:spPr>
          <a:xfrm>
            <a:off x="813816" y="3831336"/>
            <a:ext cx="4736592" cy="566928"/>
          </a:xfrm>
          <a:prstGeom prst="rect">
            <a:avLst/>
          </a:prstGeom>
          <a:noFill/>
        </p:spPr>
        <p:txBody>
          <a:bodyPr wrap="square" lIns="0" rIns="0" tIns="0" bIns="0">
            <a:spAutoFit/>
          </a:bodyPr>
          <a:lstStyle/>
          <a:p>
            <a:pPr algn="l">
              <a:spcBef>
                <a:spcPts val="0"/>
              </a:spcBef>
              <a:spcAft>
                <a:spcPts val="600"/>
              </a:spcAft>
              <a:defRPr sz="3400" b="1">
                <a:solidFill>
                  <a:srgbClr val="244BFF"/>
                </a:solidFill>
                <a:latin typeface="Arial"/>
              </a:defRPr>
            </a:pPr>
            <a:r>
              <a:t>99,999843%</a:t>
            </a:r>
          </a:p>
        </p:txBody>
      </p:sp>
      <p:sp>
        <p:nvSpPr>
          <p:cNvPr id="24" name="TextBox 23"/>
          <p:cNvSpPr txBox="1"/>
          <p:nvPr/>
        </p:nvSpPr>
        <p:spPr>
          <a:xfrm>
            <a:off x="813816" y="4562856"/>
            <a:ext cx="4736592" cy="384048"/>
          </a:xfrm>
          <a:prstGeom prst="rect">
            <a:avLst/>
          </a:prstGeom>
          <a:noFill/>
        </p:spPr>
        <p:txBody>
          <a:bodyPr wrap="square" lIns="0" rIns="0" tIns="0" bIns="0">
            <a:spAutoFit/>
          </a:bodyPr>
          <a:lstStyle/>
          <a:p>
            <a:pPr algn="l">
              <a:spcBef>
                <a:spcPts val="0"/>
              </a:spcBef>
              <a:spcAft>
                <a:spcPts val="600"/>
              </a:spcAft>
              <a:defRPr sz="1900" b="0">
                <a:solidFill>
                  <a:srgbClr val="5B6B83"/>
                </a:solidFill>
                <a:latin typeface="Arial"/>
              </a:defRPr>
            </a:pPr>
            <a:r>
              <a:t>Độ thưa user–item</a:t>
            </a:r>
          </a:p>
        </p:txBody>
      </p:sp>
      <p:sp>
        <p:nvSpPr>
          <p:cNvPr id="25" name="TextBox 24"/>
          <p:cNvSpPr txBox="1"/>
          <p:nvPr/>
        </p:nvSpPr>
        <p:spPr>
          <a:xfrm>
            <a:off x="6464808" y="3831336"/>
            <a:ext cx="4736592" cy="566928"/>
          </a:xfrm>
          <a:prstGeom prst="rect">
            <a:avLst/>
          </a:prstGeom>
          <a:noFill/>
        </p:spPr>
        <p:txBody>
          <a:bodyPr wrap="square" lIns="0" rIns="0" tIns="0" bIns="0">
            <a:spAutoFit/>
          </a:bodyPr>
          <a:lstStyle/>
          <a:p>
            <a:pPr algn="l">
              <a:spcBef>
                <a:spcPts val="0"/>
              </a:spcBef>
              <a:spcAft>
                <a:spcPts val="600"/>
              </a:spcAft>
              <a:defRPr sz="3400" b="1">
                <a:solidFill>
                  <a:srgbClr val="244BFF"/>
                </a:solidFill>
                <a:latin typeface="Arial"/>
              </a:defRPr>
            </a:pPr>
            <a:r>
              <a:t>32,75%</a:t>
            </a:r>
          </a:p>
        </p:txBody>
      </p:sp>
      <p:sp>
        <p:nvSpPr>
          <p:cNvPr id="26" name="TextBox 25"/>
          <p:cNvSpPr txBox="1"/>
          <p:nvPr/>
        </p:nvSpPr>
        <p:spPr>
          <a:xfrm>
            <a:off x="6464808" y="4562856"/>
            <a:ext cx="4736592" cy="384048"/>
          </a:xfrm>
          <a:prstGeom prst="rect">
            <a:avLst/>
          </a:prstGeom>
          <a:noFill/>
        </p:spPr>
        <p:txBody>
          <a:bodyPr wrap="square" lIns="0" rIns="0" tIns="0" bIns="0">
            <a:spAutoFit/>
          </a:bodyPr>
          <a:lstStyle/>
          <a:p>
            <a:pPr algn="l">
              <a:spcBef>
                <a:spcPts val="0"/>
              </a:spcBef>
              <a:spcAft>
                <a:spcPts val="600"/>
              </a:spcAft>
              <a:defRPr sz="1900" b="0">
                <a:solidFill>
                  <a:srgbClr val="5B6B83"/>
                </a:solidFill>
                <a:latin typeface="Arial"/>
              </a:defRPr>
            </a:pPr>
            <a:r>
              <a:t>Dòng TEST chứa cold item</a:t>
            </a:r>
          </a:p>
        </p:txBody>
      </p:sp>
      <p:sp>
        <p:nvSpPr>
          <p:cNvPr id="27" name="Rounded Rectangle 26"/>
          <p:cNvSpPr/>
          <p:nvPr/>
        </p:nvSpPr>
        <p:spPr>
          <a:xfrm>
            <a:off x="566928" y="5596128"/>
            <a:ext cx="11064240" cy="603504"/>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49808" y="5678424"/>
            <a:ext cx="10698480" cy="493776"/>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Recall@K · HitRate@K · NDCG@K — đọc cùng coverage, tập user và candidate universe.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03 DATASET DESCRIPTION</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MerRec: quy mô và cấu trúc dữ liệu</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08 / 52</a:t>
            </a:r>
          </a:p>
        </p:txBody>
      </p:sp>
      <p:sp>
        <p:nvSpPr>
          <p:cNvPr id="8" name="Rectangle 7"/>
          <p:cNvSpPr/>
          <p:nvPr/>
        </p:nvSpPr>
        <p:spPr>
          <a:xfrm>
            <a:off x="566928" y="6391656"/>
            <a:ext cx="1702190"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76656" y="1773936"/>
            <a:ext cx="3374136" cy="1179576"/>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 y="1947672"/>
            <a:ext cx="2990088" cy="512064"/>
          </a:xfrm>
          <a:prstGeom prst="rect">
            <a:avLst/>
          </a:prstGeom>
          <a:noFill/>
        </p:spPr>
        <p:txBody>
          <a:bodyPr wrap="square" lIns="0" rIns="0" tIns="0" bIns="0">
            <a:spAutoFit/>
          </a:bodyPr>
          <a:lstStyle/>
          <a:p>
            <a:pPr algn="l">
              <a:spcBef>
                <a:spcPts val="0"/>
              </a:spcBef>
              <a:spcAft>
                <a:spcPts val="600"/>
              </a:spcAft>
              <a:defRPr sz="3100" b="1">
                <a:solidFill>
                  <a:srgbClr val="244BFF"/>
                </a:solidFill>
                <a:latin typeface="Arial"/>
              </a:defRPr>
            </a:pPr>
            <a:r>
              <a:t>174,87M</a:t>
            </a:r>
          </a:p>
        </p:txBody>
      </p:sp>
      <p:sp>
        <p:nvSpPr>
          <p:cNvPr id="11" name="TextBox 10"/>
          <p:cNvSpPr txBox="1"/>
          <p:nvPr/>
        </p:nvSpPr>
        <p:spPr>
          <a:xfrm>
            <a:off x="859536" y="2560320"/>
            <a:ext cx="2990088" cy="237744"/>
          </a:xfrm>
          <a:prstGeom prst="rect">
            <a:avLst/>
          </a:prstGeom>
          <a:noFill/>
        </p:spPr>
        <p:txBody>
          <a:bodyPr wrap="square" lIns="0" rIns="0" tIns="0" bIns="0">
            <a:spAutoFit/>
          </a:bodyPr>
          <a:lstStyle/>
          <a:p>
            <a:pPr algn="l">
              <a:spcBef>
                <a:spcPts val="0"/>
              </a:spcBef>
              <a:spcAft>
                <a:spcPts val="600"/>
              </a:spcAft>
              <a:defRPr sz="1500" b="0">
                <a:solidFill>
                  <a:srgbClr val="172B49"/>
                </a:solidFill>
                <a:latin typeface="Arial"/>
              </a:defRPr>
            </a:pPr>
            <a:r>
              <a:t>tương tác</a:t>
            </a:r>
          </a:p>
        </p:txBody>
      </p:sp>
      <p:sp>
        <p:nvSpPr>
          <p:cNvPr id="12" name="Rounded Rectangle 11"/>
          <p:cNvSpPr/>
          <p:nvPr/>
        </p:nvSpPr>
        <p:spPr>
          <a:xfrm>
            <a:off x="4416552" y="1773936"/>
            <a:ext cx="3374136" cy="1179576"/>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9432" y="1947672"/>
            <a:ext cx="2990088" cy="512064"/>
          </a:xfrm>
          <a:prstGeom prst="rect">
            <a:avLst/>
          </a:prstGeom>
          <a:noFill/>
        </p:spPr>
        <p:txBody>
          <a:bodyPr wrap="square" lIns="0" rIns="0" tIns="0" bIns="0">
            <a:spAutoFit/>
          </a:bodyPr>
          <a:lstStyle/>
          <a:p>
            <a:pPr algn="l">
              <a:spcBef>
                <a:spcPts val="0"/>
              </a:spcBef>
              <a:spcAft>
                <a:spcPts val="600"/>
              </a:spcAft>
              <a:defRPr sz="3100" b="1">
                <a:solidFill>
                  <a:srgbClr val="244BFF"/>
                </a:solidFill>
                <a:latin typeface="Arial"/>
              </a:defRPr>
            </a:pPr>
            <a:r>
              <a:t>2,77M</a:t>
            </a:r>
          </a:p>
        </p:txBody>
      </p:sp>
      <p:sp>
        <p:nvSpPr>
          <p:cNvPr id="14" name="TextBox 13"/>
          <p:cNvSpPr txBox="1"/>
          <p:nvPr/>
        </p:nvSpPr>
        <p:spPr>
          <a:xfrm>
            <a:off x="4599432" y="2560320"/>
            <a:ext cx="2990088" cy="237744"/>
          </a:xfrm>
          <a:prstGeom prst="rect">
            <a:avLst/>
          </a:prstGeom>
          <a:noFill/>
        </p:spPr>
        <p:txBody>
          <a:bodyPr wrap="square" lIns="0" rIns="0" tIns="0" bIns="0">
            <a:spAutoFit/>
          </a:bodyPr>
          <a:lstStyle/>
          <a:p>
            <a:pPr algn="l">
              <a:spcBef>
                <a:spcPts val="0"/>
              </a:spcBef>
              <a:spcAft>
                <a:spcPts val="600"/>
              </a:spcAft>
              <a:defRPr sz="1500" b="0">
                <a:solidFill>
                  <a:srgbClr val="172B49"/>
                </a:solidFill>
                <a:latin typeface="Arial"/>
              </a:defRPr>
            </a:pPr>
            <a:r>
              <a:t>người dùng</a:t>
            </a:r>
          </a:p>
        </p:txBody>
      </p:sp>
      <p:sp>
        <p:nvSpPr>
          <p:cNvPr id="15" name="Rounded Rectangle 14"/>
          <p:cNvSpPr/>
          <p:nvPr/>
        </p:nvSpPr>
        <p:spPr>
          <a:xfrm>
            <a:off x="8156448" y="1773936"/>
            <a:ext cx="3374136" cy="1179576"/>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39327" y="1947672"/>
            <a:ext cx="2990088" cy="512064"/>
          </a:xfrm>
          <a:prstGeom prst="rect">
            <a:avLst/>
          </a:prstGeom>
          <a:noFill/>
        </p:spPr>
        <p:txBody>
          <a:bodyPr wrap="square" lIns="0" rIns="0" tIns="0" bIns="0">
            <a:spAutoFit/>
          </a:bodyPr>
          <a:lstStyle/>
          <a:p>
            <a:pPr algn="l">
              <a:spcBef>
                <a:spcPts val="0"/>
              </a:spcBef>
              <a:spcAft>
                <a:spcPts val="600"/>
              </a:spcAft>
              <a:defRPr sz="3100" b="1">
                <a:solidFill>
                  <a:srgbClr val="244BFF"/>
                </a:solidFill>
                <a:latin typeface="Arial"/>
              </a:defRPr>
            </a:pPr>
            <a:r>
              <a:t>30,05M</a:t>
            </a:r>
          </a:p>
        </p:txBody>
      </p:sp>
      <p:sp>
        <p:nvSpPr>
          <p:cNvPr id="17" name="TextBox 16"/>
          <p:cNvSpPr txBox="1"/>
          <p:nvPr/>
        </p:nvSpPr>
        <p:spPr>
          <a:xfrm>
            <a:off x="8339327" y="2560320"/>
            <a:ext cx="2990088" cy="237744"/>
          </a:xfrm>
          <a:prstGeom prst="rect">
            <a:avLst/>
          </a:prstGeom>
          <a:noFill/>
        </p:spPr>
        <p:txBody>
          <a:bodyPr wrap="square" lIns="0" rIns="0" tIns="0" bIns="0">
            <a:spAutoFit/>
          </a:bodyPr>
          <a:lstStyle/>
          <a:p>
            <a:pPr algn="l">
              <a:spcBef>
                <a:spcPts val="0"/>
              </a:spcBef>
              <a:spcAft>
                <a:spcPts val="600"/>
              </a:spcAft>
              <a:defRPr sz="1500" b="0">
                <a:solidFill>
                  <a:srgbClr val="172B49"/>
                </a:solidFill>
                <a:latin typeface="Arial"/>
              </a:defRPr>
            </a:pPr>
            <a:r>
              <a:t>item_id duy nhất</a:t>
            </a:r>
          </a:p>
        </p:txBody>
      </p:sp>
      <p:graphicFrame>
        <p:nvGraphicFramePr>
          <p:cNvPr id="18" name="Table 17"/>
          <p:cNvGraphicFramePr>
            <a:graphicFrameLocks noGrp="1"/>
          </p:cNvGraphicFramePr>
          <p:nvPr/>
        </p:nvGraphicFramePr>
        <p:xfrm>
          <a:off x="676656" y="3264408"/>
          <a:ext cx="10863072" cy="1993392"/>
        </p:xfrm>
        <a:graphic>
          <a:graphicData uri="http://schemas.openxmlformats.org/drawingml/2006/table">
            <a:tbl>
              <a:tblPr firstRow="1" bandRow="1">
                <a:tableStyleId>{5C22544A-7EE6-4342-B048-85BDC9FD1C3A}</a:tableStyleId>
              </a:tblPr>
              <a:tblGrid>
                <a:gridCol w="3008376"/>
                <a:gridCol w="7854696"/>
              </a:tblGrid>
              <a:tr h="498348">
                <a:tc>
                  <a:txBody>
                    <a:bodyPr/>
                    <a:lstStyle/>
                    <a:p>
                      <a:pPr>
                        <a:defRPr sz="1700" b="1">
                          <a:solidFill>
                            <a:srgbClr val="FFFFFF"/>
                          </a:solidFill>
                          <a:latin typeface="Arial"/>
                        </a:defRPr>
                      </a:pPr>
                      <a:r>
                        <a:t>Nhóm trường</a:t>
                      </a:r>
                    </a:p>
                  </a:txBody>
                  <a:tcPr marL="128016" marR="91440" marT="91440" marB="64008" anchor="ctr">
                    <a:solidFill>
                      <a:srgbClr val="244BFF"/>
                    </a:solidFill>
                  </a:tcPr>
                </a:tc>
                <a:tc>
                  <a:txBody>
                    <a:bodyPr/>
                    <a:lstStyle/>
                    <a:p>
                      <a:pPr>
                        <a:defRPr sz="1700" b="1">
                          <a:solidFill>
                            <a:srgbClr val="FFFFFF"/>
                          </a:solidFill>
                          <a:latin typeface="Arial"/>
                        </a:defRPr>
                      </a:pPr>
                      <a:r>
                        <a:t>Thông tin chính</a:t>
                      </a:r>
                    </a:p>
                  </a:txBody>
                  <a:tcPr marL="128016" marR="91440" marT="91440" marB="64008" anchor="ctr">
                    <a:solidFill>
                      <a:srgbClr val="244BFF"/>
                    </a:solidFill>
                  </a:tcPr>
                </a:tc>
              </a:tr>
              <a:tr h="498348">
                <a:tc>
                  <a:txBody>
                    <a:bodyPr/>
                    <a:lstStyle/>
                    <a:p>
                      <a:pPr>
                        <a:defRPr sz="1700" b="0">
                          <a:solidFill>
                            <a:srgbClr val="172B49"/>
                          </a:solidFill>
                          <a:latin typeface="Arial"/>
                        </a:defRPr>
                      </a:pPr>
                      <a:r>
                        <a:t>Định danh</a:t>
                      </a:r>
                    </a:p>
                  </a:txBody>
                  <a:tcPr marL="128016" marR="91440" marT="91440" marB="64008" anchor="ctr">
                    <a:solidFill>
                      <a:srgbClr val="F0F4FC"/>
                    </a:solidFill>
                  </a:tcPr>
                </a:tc>
                <a:tc>
                  <a:txBody>
                    <a:bodyPr/>
                    <a:lstStyle/>
                    <a:p>
                      <a:pPr>
                        <a:defRPr sz="1700" b="0">
                          <a:solidFill>
                            <a:srgbClr val="172B49"/>
                          </a:solidFill>
                          <a:latin typeface="Arial"/>
                        </a:defRPr>
                      </a:pPr>
                      <a:r>
                        <a:t>user_id · item_id · product_id</a:t>
                      </a:r>
                    </a:p>
                  </a:txBody>
                  <a:tcPr marL="128016" marR="91440" marT="91440" marB="64008" anchor="ctr">
                    <a:solidFill>
                      <a:srgbClr val="F0F4FC"/>
                    </a:solidFill>
                  </a:tcPr>
                </a:tc>
              </a:tr>
              <a:tr h="498348">
                <a:tc>
                  <a:txBody>
                    <a:bodyPr/>
                    <a:lstStyle/>
                    <a:p>
                      <a:pPr>
                        <a:defRPr sz="1700" b="0">
                          <a:solidFill>
                            <a:srgbClr val="172B49"/>
                          </a:solidFill>
                          <a:latin typeface="Arial"/>
                        </a:defRPr>
                      </a:pPr>
                      <a:r>
                        <a:t>Hành vi / thời gian</a:t>
                      </a:r>
                    </a:p>
                  </a:txBody>
                  <a:tcPr marL="128016" marR="91440" marT="91440" marB="64008" anchor="ctr">
                    <a:solidFill>
                      <a:srgbClr val="FFFFFF"/>
                    </a:solidFill>
                  </a:tcPr>
                </a:tc>
                <a:tc>
                  <a:txBody>
                    <a:bodyPr/>
                    <a:lstStyle/>
                    <a:p>
                      <a:pPr>
                        <a:defRPr sz="1700" b="0">
                          <a:solidFill>
                            <a:srgbClr val="172B49"/>
                          </a:solidFill>
                          <a:latin typeface="Arial"/>
                        </a:defRPr>
                      </a:pPr>
                      <a:r>
                        <a:t>event_id · stime · session_id · sequence_id</a:t>
                      </a:r>
                    </a:p>
                  </a:txBody>
                  <a:tcPr marL="128016" marR="91440" marT="91440" marB="64008" anchor="ctr">
                    <a:solidFill>
                      <a:srgbClr val="FFFFFF"/>
                    </a:solidFill>
                  </a:tcPr>
                </a:tc>
              </a:tr>
              <a:tr h="498348">
                <a:tc>
                  <a:txBody>
                    <a:bodyPr/>
                    <a:lstStyle/>
                    <a:p>
                      <a:pPr>
                        <a:defRPr sz="1700" b="0">
                          <a:solidFill>
                            <a:srgbClr val="172B49"/>
                          </a:solidFill>
                          <a:latin typeface="Arial"/>
                        </a:defRPr>
                      </a:pPr>
                      <a:r>
                        <a:t>Metadata</a:t>
                      </a:r>
                    </a:p>
                  </a:txBody>
                  <a:tcPr marL="128016" marR="91440" marT="91440" marB="64008" anchor="ctr">
                    <a:solidFill>
                      <a:srgbClr val="F0F4FC"/>
                    </a:solidFill>
                  </a:tcPr>
                </a:tc>
                <a:tc>
                  <a:txBody>
                    <a:bodyPr/>
                    <a:lstStyle/>
                    <a:p>
                      <a:pPr>
                        <a:defRPr sz="1700" b="0">
                          <a:solidFill>
                            <a:srgbClr val="172B49"/>
                          </a:solidFill>
                          <a:latin typeface="Arial"/>
                        </a:defRPr>
                      </a:pPr>
                      <a:r>
                        <a:t>name · price · category · brand · condition</a:t>
                      </a:r>
                    </a:p>
                  </a:txBody>
                  <a:tcPr marL="128016" marR="91440" marT="91440" marB="64008" anchor="ctr">
                    <a:solidFill>
                      <a:srgbClr val="F0F4FC"/>
                    </a:solidFill>
                  </a:tcPr>
                </a:tc>
              </a:tr>
            </a:tbl>
          </a:graphicData>
        </a:graphic>
      </p:graphicFrame>
      <p:sp>
        <p:nvSpPr>
          <p:cNvPr id="19" name="Rounded Rectangle 18"/>
          <p:cNvSpPr/>
          <p:nvPr/>
        </p:nvSpPr>
        <p:spPr>
          <a:xfrm>
            <a:off x="566928" y="5513832"/>
            <a:ext cx="11064240" cy="438912"/>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5596128"/>
            <a:ext cx="10698480" cy="329184"/>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312 file · ~21,57 GB · 913.718 product_id · Đồ án dùng lát tháng 05/2023.</a:t>
            </a:r>
          </a:p>
        </p:txBody>
      </p:sp>
      <p:sp>
        <p:nvSpPr>
          <p:cNvPr id="21" name="TextBox 20"/>
          <p:cNvSpPr txBox="1"/>
          <p:nvPr/>
        </p:nvSpPr>
        <p:spPr>
          <a:xfrm>
            <a:off x="777240" y="6071616"/>
            <a:ext cx="10698480" cy="228600"/>
          </a:xfrm>
          <a:prstGeom prst="rect">
            <a:avLst/>
          </a:prstGeom>
          <a:noFill/>
        </p:spPr>
        <p:txBody>
          <a:bodyPr wrap="square" lIns="0" rIns="0" tIns="0" bIns="0">
            <a:spAutoFit/>
          </a:bodyPr>
          <a:lstStyle/>
          <a:p>
            <a:pPr algn="l">
              <a:spcBef>
                <a:spcPts val="0"/>
              </a:spcBef>
              <a:spcAft>
                <a:spcPts val="600"/>
              </a:spcAft>
              <a:defRPr sz="1000" b="0">
                <a:solidFill>
                  <a:srgbClr val="5B6B83"/>
                </a:solidFill>
                <a:latin typeface="Arial"/>
              </a:defRPr>
            </a:pPr>
            <a:r>
              <a:rPr>
                <a:hlinkClick r:id="rId2"/>
              </a:rPr>
              <a:t>Nguồn: Li et al., MerRec (2024) và bảng tổng hợp local. Dataset gốc 6 tháng; đồ án dùng 1 tháng.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03 DATASET DESCRIPTION</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Sáu loại hành vi</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09 / 52</a:t>
            </a:r>
          </a:p>
        </p:txBody>
      </p:sp>
      <p:sp>
        <p:nvSpPr>
          <p:cNvPr id="8" name="Rectangle 7"/>
          <p:cNvSpPr/>
          <p:nvPr/>
        </p:nvSpPr>
        <p:spPr>
          <a:xfrm>
            <a:off x="566928" y="6391656"/>
            <a:ext cx="1914964"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Table 8"/>
          <p:cNvGraphicFramePr>
            <a:graphicFrameLocks noGrp="1"/>
          </p:cNvGraphicFramePr>
          <p:nvPr/>
        </p:nvGraphicFramePr>
        <p:xfrm>
          <a:off x="612648" y="1773936"/>
          <a:ext cx="10972800" cy="4142232"/>
        </p:xfrm>
        <a:graphic>
          <a:graphicData uri="http://schemas.openxmlformats.org/drawingml/2006/table">
            <a:tbl>
              <a:tblPr firstRow="1" bandRow="1">
                <a:tableStyleId>{5C22544A-7EE6-4342-B048-85BDC9FD1C3A}</a:tableStyleId>
              </a:tblPr>
              <a:tblGrid>
                <a:gridCol w="4572000"/>
                <a:gridCol w="2103120"/>
                <a:gridCol w="4297680"/>
              </a:tblGrid>
              <a:tr h="591747">
                <a:tc>
                  <a:txBody>
                    <a:bodyPr/>
                    <a:lstStyle/>
                    <a:p>
                      <a:pPr>
                        <a:defRPr sz="1800" b="1">
                          <a:solidFill>
                            <a:srgbClr val="FFFFFF"/>
                          </a:solidFill>
                          <a:latin typeface="Arial"/>
                        </a:defRPr>
                      </a:pPr>
                      <a:r>
                        <a:t>Tên sự kiện gốc</a:t>
                      </a:r>
                    </a:p>
                  </a:txBody>
                  <a:tcPr marL="128016" marR="91440" marT="91440" marB="64008" anchor="ctr">
                    <a:solidFill>
                      <a:srgbClr val="244BFF"/>
                    </a:solidFill>
                  </a:tcPr>
                </a:tc>
                <a:tc>
                  <a:txBody>
                    <a:bodyPr/>
                    <a:lstStyle/>
                    <a:p>
                      <a:pPr>
                        <a:defRPr sz="1800" b="1">
                          <a:solidFill>
                            <a:srgbClr val="FFFFFF"/>
                          </a:solidFill>
                          <a:latin typeface="Arial"/>
                        </a:defRPr>
                      </a:pPr>
                      <a:r>
                        <a:t>Tên chuẩn</a:t>
                      </a:r>
                    </a:p>
                  </a:txBody>
                  <a:tcPr marL="128016" marR="91440" marT="91440" marB="64008" anchor="ctr">
                    <a:solidFill>
                      <a:srgbClr val="244BFF"/>
                    </a:solidFill>
                  </a:tcPr>
                </a:tc>
                <a:tc>
                  <a:txBody>
                    <a:bodyPr/>
                    <a:lstStyle/>
                    <a:p>
                      <a:pPr>
                        <a:defRPr sz="1800" b="1">
                          <a:solidFill>
                            <a:srgbClr val="FFFFFF"/>
                          </a:solidFill>
                          <a:latin typeface="Arial"/>
                        </a:defRPr>
                      </a:pPr>
                      <a:r>
                        <a:t>Ý nghĩa</a:t>
                      </a:r>
                    </a:p>
                  </a:txBody>
                  <a:tcPr marL="128016" marR="91440" marT="91440" marB="64008" anchor="ctr">
                    <a:solidFill>
                      <a:srgbClr val="244BFF"/>
                    </a:solidFill>
                  </a:tcPr>
                </a:tc>
              </a:tr>
              <a:tr h="591747">
                <a:tc>
                  <a:txBody>
                    <a:bodyPr/>
                    <a:lstStyle/>
                    <a:p>
                      <a:pPr>
                        <a:defRPr sz="1800" b="0">
                          <a:solidFill>
                            <a:srgbClr val="172B49"/>
                          </a:solidFill>
                          <a:latin typeface="Arial"/>
                        </a:defRPr>
                      </a:pPr>
                      <a:r>
                        <a:t>item_view</a:t>
                      </a:r>
                    </a:p>
                  </a:txBody>
                  <a:tcPr marL="128016" marR="91440" marT="91440" marB="64008" anchor="ctr">
                    <a:solidFill>
                      <a:srgbClr val="F0F4FC"/>
                    </a:solidFill>
                  </a:tcPr>
                </a:tc>
                <a:tc>
                  <a:txBody>
                    <a:bodyPr/>
                    <a:lstStyle/>
                    <a:p>
                      <a:pPr>
                        <a:defRPr sz="1800" b="0">
                          <a:solidFill>
                            <a:srgbClr val="172B49"/>
                          </a:solidFill>
                          <a:latin typeface="Arial"/>
                        </a:defRPr>
                      </a:pPr>
                      <a:r>
                        <a:t>view</a:t>
                      </a:r>
                    </a:p>
                  </a:txBody>
                  <a:tcPr marL="128016" marR="91440" marT="91440" marB="64008" anchor="ctr">
                    <a:solidFill>
                      <a:srgbClr val="F0F4FC"/>
                    </a:solidFill>
                  </a:tcPr>
                </a:tc>
                <a:tc>
                  <a:txBody>
                    <a:bodyPr/>
                    <a:lstStyle/>
                    <a:p>
                      <a:pPr>
                        <a:defRPr sz="1800" b="0">
                          <a:solidFill>
                            <a:srgbClr val="172B49"/>
                          </a:solidFill>
                          <a:latin typeface="Arial"/>
                        </a:defRPr>
                      </a:pPr>
                      <a:r>
                        <a:t>Xem sản phẩm</a:t>
                      </a:r>
                    </a:p>
                  </a:txBody>
                  <a:tcPr marL="128016" marR="91440" marT="91440" marB="64008" anchor="ctr">
                    <a:solidFill>
                      <a:srgbClr val="F0F4FC"/>
                    </a:solidFill>
                  </a:tcPr>
                </a:tc>
              </a:tr>
              <a:tr h="591747">
                <a:tc>
                  <a:txBody>
                    <a:bodyPr/>
                    <a:lstStyle/>
                    <a:p>
                      <a:pPr>
                        <a:defRPr sz="1800" b="0">
                          <a:solidFill>
                            <a:srgbClr val="172B49"/>
                          </a:solidFill>
                          <a:latin typeface="Arial"/>
                        </a:defRPr>
                      </a:pPr>
                      <a:r>
                        <a:t>item_like</a:t>
                      </a:r>
                    </a:p>
                  </a:txBody>
                  <a:tcPr marL="128016" marR="91440" marT="91440" marB="64008" anchor="ctr">
                    <a:solidFill>
                      <a:srgbClr val="FFFFFF"/>
                    </a:solidFill>
                  </a:tcPr>
                </a:tc>
                <a:tc>
                  <a:txBody>
                    <a:bodyPr/>
                    <a:lstStyle/>
                    <a:p>
                      <a:pPr>
                        <a:defRPr sz="1800" b="0">
                          <a:solidFill>
                            <a:srgbClr val="172B49"/>
                          </a:solidFill>
                          <a:latin typeface="Arial"/>
                        </a:defRPr>
                      </a:pPr>
                      <a:r>
                        <a:t>like</a:t>
                      </a:r>
                    </a:p>
                  </a:txBody>
                  <a:tcPr marL="128016" marR="91440" marT="91440" marB="64008" anchor="ctr">
                    <a:solidFill>
                      <a:srgbClr val="FFFFFF"/>
                    </a:solidFill>
                  </a:tcPr>
                </a:tc>
                <a:tc>
                  <a:txBody>
                    <a:bodyPr/>
                    <a:lstStyle/>
                    <a:p>
                      <a:pPr>
                        <a:defRPr sz="1800" b="0">
                          <a:solidFill>
                            <a:srgbClr val="172B49"/>
                          </a:solidFill>
                          <a:latin typeface="Arial"/>
                        </a:defRPr>
                      </a:pPr>
                      <a:r>
                        <a:t>Thích sản phẩm</a:t>
                      </a:r>
                    </a:p>
                  </a:txBody>
                  <a:tcPr marL="128016" marR="91440" marT="91440" marB="64008" anchor="ctr">
                    <a:solidFill>
                      <a:srgbClr val="FFFFFF"/>
                    </a:solidFill>
                  </a:tcPr>
                </a:tc>
              </a:tr>
              <a:tr h="591747">
                <a:tc>
                  <a:txBody>
                    <a:bodyPr/>
                    <a:lstStyle/>
                    <a:p>
                      <a:pPr>
                        <a:defRPr sz="1800" b="0">
                          <a:solidFill>
                            <a:srgbClr val="172B49"/>
                          </a:solidFill>
                          <a:latin typeface="Arial"/>
                        </a:defRPr>
                      </a:pPr>
                      <a:r>
                        <a:t>item_add_to_cart_tap</a:t>
                      </a:r>
                    </a:p>
                  </a:txBody>
                  <a:tcPr marL="128016" marR="91440" marT="91440" marB="64008" anchor="ctr">
                    <a:solidFill>
                      <a:srgbClr val="F0F4FC"/>
                    </a:solidFill>
                  </a:tcPr>
                </a:tc>
                <a:tc>
                  <a:txBody>
                    <a:bodyPr/>
                    <a:lstStyle/>
                    <a:p>
                      <a:pPr>
                        <a:defRPr sz="1800" b="0">
                          <a:solidFill>
                            <a:srgbClr val="172B49"/>
                          </a:solidFill>
                          <a:latin typeface="Arial"/>
                        </a:defRPr>
                      </a:pPr>
                      <a:r>
                        <a:t>cart</a:t>
                      </a:r>
                    </a:p>
                  </a:txBody>
                  <a:tcPr marL="128016" marR="91440" marT="91440" marB="64008" anchor="ctr">
                    <a:solidFill>
                      <a:srgbClr val="F0F4FC"/>
                    </a:solidFill>
                  </a:tcPr>
                </a:tc>
                <a:tc>
                  <a:txBody>
                    <a:bodyPr/>
                    <a:lstStyle/>
                    <a:p>
                      <a:pPr>
                        <a:defRPr sz="1800" b="0">
                          <a:solidFill>
                            <a:srgbClr val="172B49"/>
                          </a:solidFill>
                          <a:latin typeface="Arial"/>
                        </a:defRPr>
                      </a:pPr>
                      <a:r>
                        <a:t>Thêm vào giỏ</a:t>
                      </a:r>
                    </a:p>
                  </a:txBody>
                  <a:tcPr marL="128016" marR="91440" marT="91440" marB="64008" anchor="ctr">
                    <a:solidFill>
                      <a:srgbClr val="F0F4FC"/>
                    </a:solidFill>
                  </a:tcPr>
                </a:tc>
              </a:tr>
              <a:tr h="591747">
                <a:tc>
                  <a:txBody>
                    <a:bodyPr/>
                    <a:lstStyle/>
                    <a:p>
                      <a:pPr>
                        <a:defRPr sz="1800" b="0">
                          <a:solidFill>
                            <a:srgbClr val="172B49"/>
                          </a:solidFill>
                          <a:latin typeface="Arial"/>
                        </a:defRPr>
                      </a:pPr>
                      <a:r>
                        <a:t>offer_make</a:t>
                      </a:r>
                    </a:p>
                  </a:txBody>
                  <a:tcPr marL="128016" marR="91440" marT="91440" marB="64008" anchor="ctr">
                    <a:solidFill>
                      <a:srgbClr val="FFFFFF"/>
                    </a:solidFill>
                  </a:tcPr>
                </a:tc>
                <a:tc>
                  <a:txBody>
                    <a:bodyPr/>
                    <a:lstStyle/>
                    <a:p>
                      <a:pPr>
                        <a:defRPr sz="1800" b="0">
                          <a:solidFill>
                            <a:srgbClr val="172B49"/>
                          </a:solidFill>
                          <a:latin typeface="Arial"/>
                        </a:defRPr>
                      </a:pPr>
                      <a:r>
                        <a:t>offer</a:t>
                      </a:r>
                    </a:p>
                  </a:txBody>
                  <a:tcPr marL="128016" marR="91440" marT="91440" marB="64008" anchor="ctr">
                    <a:solidFill>
                      <a:srgbClr val="FFFFFF"/>
                    </a:solidFill>
                  </a:tcPr>
                </a:tc>
                <a:tc>
                  <a:txBody>
                    <a:bodyPr/>
                    <a:lstStyle/>
                    <a:p>
                      <a:pPr>
                        <a:defRPr sz="1800" b="0">
                          <a:solidFill>
                            <a:srgbClr val="172B49"/>
                          </a:solidFill>
                          <a:latin typeface="Arial"/>
                        </a:defRPr>
                      </a:pPr>
                      <a:r>
                        <a:t>Đưa ra đề nghị</a:t>
                      </a:r>
                    </a:p>
                  </a:txBody>
                  <a:tcPr marL="128016" marR="91440" marT="91440" marB="64008" anchor="ctr">
                    <a:solidFill>
                      <a:srgbClr val="FFFFFF"/>
                    </a:solidFill>
                  </a:tcPr>
                </a:tc>
              </a:tr>
              <a:tr h="591747">
                <a:tc>
                  <a:txBody>
                    <a:bodyPr/>
                    <a:lstStyle/>
                    <a:p>
                      <a:pPr>
                        <a:defRPr sz="1800" b="0">
                          <a:solidFill>
                            <a:srgbClr val="172B49"/>
                          </a:solidFill>
                          <a:latin typeface="Arial"/>
                        </a:defRPr>
                      </a:pPr>
                      <a:r>
                        <a:t>buy_start</a:t>
                      </a:r>
                    </a:p>
                  </a:txBody>
                  <a:tcPr marL="128016" marR="91440" marT="91440" marB="64008" anchor="ctr">
                    <a:solidFill>
                      <a:srgbClr val="F0F4FC"/>
                    </a:solidFill>
                  </a:tcPr>
                </a:tc>
                <a:tc>
                  <a:txBody>
                    <a:bodyPr/>
                    <a:lstStyle/>
                    <a:p>
                      <a:pPr>
                        <a:defRPr sz="1800" b="0">
                          <a:solidFill>
                            <a:srgbClr val="172B49"/>
                          </a:solidFill>
                          <a:latin typeface="Arial"/>
                        </a:defRPr>
                      </a:pPr>
                      <a:r>
                        <a:t>buy_start</a:t>
                      </a:r>
                    </a:p>
                  </a:txBody>
                  <a:tcPr marL="128016" marR="91440" marT="91440" marB="64008" anchor="ctr">
                    <a:solidFill>
                      <a:srgbClr val="F0F4FC"/>
                    </a:solidFill>
                  </a:tcPr>
                </a:tc>
                <a:tc>
                  <a:txBody>
                    <a:bodyPr/>
                    <a:lstStyle/>
                    <a:p>
                      <a:pPr>
                        <a:defRPr sz="1800" b="0">
                          <a:solidFill>
                            <a:srgbClr val="172B49"/>
                          </a:solidFill>
                          <a:latin typeface="Arial"/>
                        </a:defRPr>
                      </a:pPr>
                      <a:r>
                        <a:t>Bắt đầu mua</a:t>
                      </a:r>
                    </a:p>
                  </a:txBody>
                  <a:tcPr marL="128016" marR="91440" marT="91440" marB="64008" anchor="ctr">
                    <a:solidFill>
                      <a:srgbClr val="F0F4FC"/>
                    </a:solidFill>
                  </a:tcPr>
                </a:tc>
              </a:tr>
              <a:tr h="591750">
                <a:tc>
                  <a:txBody>
                    <a:bodyPr/>
                    <a:lstStyle/>
                    <a:p>
                      <a:pPr>
                        <a:defRPr sz="1800" b="0">
                          <a:solidFill>
                            <a:srgbClr val="172B49"/>
                          </a:solidFill>
                          <a:latin typeface="Arial"/>
                        </a:defRPr>
                      </a:pPr>
                      <a:r>
                        <a:t>buy_comp</a:t>
                      </a:r>
                    </a:p>
                  </a:txBody>
                  <a:tcPr marL="128016" marR="91440" marT="91440" marB="64008" anchor="ctr">
                    <a:solidFill>
                      <a:srgbClr val="FFFFFF"/>
                    </a:solidFill>
                  </a:tcPr>
                </a:tc>
                <a:tc>
                  <a:txBody>
                    <a:bodyPr/>
                    <a:lstStyle/>
                    <a:p>
                      <a:pPr>
                        <a:defRPr sz="1800" b="0">
                          <a:solidFill>
                            <a:srgbClr val="172B49"/>
                          </a:solidFill>
                          <a:latin typeface="Arial"/>
                        </a:defRPr>
                      </a:pPr>
                      <a:r>
                        <a:t>buy_comp</a:t>
                      </a:r>
                    </a:p>
                  </a:txBody>
                  <a:tcPr marL="128016" marR="91440" marT="91440" marB="64008" anchor="ctr">
                    <a:solidFill>
                      <a:srgbClr val="FFFFFF"/>
                    </a:solidFill>
                  </a:tcPr>
                </a:tc>
                <a:tc>
                  <a:txBody>
                    <a:bodyPr/>
                    <a:lstStyle/>
                    <a:p>
                      <a:pPr>
                        <a:defRPr sz="1800" b="0">
                          <a:solidFill>
                            <a:srgbClr val="172B49"/>
                          </a:solidFill>
                          <a:latin typeface="Arial"/>
                        </a:defRPr>
                      </a:pPr>
                      <a:r>
                        <a:t>Hoàn tất mua</a:t>
                      </a:r>
                    </a:p>
                  </a:txBody>
                  <a:tcPr marL="128016" marR="91440" marT="91440" marB="64008" anchor="ctr">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04 DATA PREPROCESSING</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Pipeline tiền xử lý</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10 / 52</a:t>
            </a:r>
          </a:p>
        </p:txBody>
      </p:sp>
      <p:sp>
        <p:nvSpPr>
          <p:cNvPr id="8" name="Rectangle 7"/>
          <p:cNvSpPr/>
          <p:nvPr/>
        </p:nvSpPr>
        <p:spPr>
          <a:xfrm>
            <a:off x="566928" y="6391656"/>
            <a:ext cx="2127738"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1792" y="1828800"/>
            <a:ext cx="3520440" cy="1609344"/>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1984248"/>
            <a:ext cx="3017520"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BƯỚC 01</a:t>
            </a:r>
          </a:p>
        </p:txBody>
      </p:sp>
      <p:sp>
        <p:nvSpPr>
          <p:cNvPr id="11" name="TextBox 10"/>
          <p:cNvSpPr txBox="1"/>
          <p:nvPr/>
        </p:nvSpPr>
        <p:spPr>
          <a:xfrm>
            <a:off x="804672" y="2377440"/>
            <a:ext cx="3154680" cy="393192"/>
          </a:xfrm>
          <a:prstGeom prst="rect">
            <a:avLst/>
          </a:prstGeom>
          <a:noFill/>
        </p:spPr>
        <p:txBody>
          <a:bodyPr wrap="square" lIns="0" rIns="0" tIns="0" bIns="0">
            <a:spAutoFit/>
          </a:bodyPr>
          <a:lstStyle/>
          <a:p>
            <a:pPr algn="l">
              <a:spcBef>
                <a:spcPts val="0"/>
              </a:spcBef>
              <a:spcAft>
                <a:spcPts val="600"/>
              </a:spcAft>
              <a:defRPr sz="2000" b="1">
                <a:solidFill>
                  <a:srgbClr val="172B49"/>
                </a:solidFill>
                <a:latin typeface="Arial"/>
              </a:defRPr>
            </a:pPr>
            <a:r>
              <a:t>Parquet → VIEW</a:t>
            </a:r>
          </a:p>
        </p:txBody>
      </p:sp>
      <p:sp>
        <p:nvSpPr>
          <p:cNvPr id="12" name="TextBox 11"/>
          <p:cNvSpPr txBox="1"/>
          <p:nvPr/>
        </p:nvSpPr>
        <p:spPr>
          <a:xfrm>
            <a:off x="804672" y="2916936"/>
            <a:ext cx="3154680" cy="310896"/>
          </a:xfrm>
          <a:prstGeom prst="rect">
            <a:avLst/>
          </a:prstGeom>
          <a:noFill/>
        </p:spPr>
        <p:txBody>
          <a:bodyPr wrap="square" lIns="0" rIns="0" tIns="0" bIns="0">
            <a:spAutoFit/>
          </a:bodyPr>
          <a:lstStyle/>
          <a:p>
            <a:pPr algn="l">
              <a:spcBef>
                <a:spcPts val="0"/>
              </a:spcBef>
              <a:spcAft>
                <a:spcPts val="600"/>
              </a:spcAft>
              <a:defRPr sz="1400" b="0">
                <a:solidFill>
                  <a:srgbClr val="5B6B83"/>
                </a:solidFill>
                <a:latin typeface="Arial"/>
              </a:defRPr>
            </a:pPr>
            <a:r>
              <a:t>Đọc bằng DuckDB</a:t>
            </a:r>
          </a:p>
        </p:txBody>
      </p:sp>
      <p:sp>
        <p:nvSpPr>
          <p:cNvPr id="13" name="Rounded Rectangle 12"/>
          <p:cNvSpPr/>
          <p:nvPr/>
        </p:nvSpPr>
        <p:spPr>
          <a:xfrm>
            <a:off x="4407407" y="1828800"/>
            <a:ext cx="3520440" cy="1609344"/>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90288" y="1984248"/>
            <a:ext cx="3017520"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BƯỚC 02</a:t>
            </a:r>
          </a:p>
        </p:txBody>
      </p:sp>
      <p:sp>
        <p:nvSpPr>
          <p:cNvPr id="15" name="TextBox 14"/>
          <p:cNvSpPr txBox="1"/>
          <p:nvPr/>
        </p:nvSpPr>
        <p:spPr>
          <a:xfrm>
            <a:off x="4590288" y="2377440"/>
            <a:ext cx="3154680" cy="393192"/>
          </a:xfrm>
          <a:prstGeom prst="rect">
            <a:avLst/>
          </a:prstGeom>
          <a:noFill/>
        </p:spPr>
        <p:txBody>
          <a:bodyPr wrap="square" lIns="0" rIns="0" tIns="0" bIns="0">
            <a:spAutoFit/>
          </a:bodyPr>
          <a:lstStyle/>
          <a:p>
            <a:pPr algn="l">
              <a:spcBef>
                <a:spcPts val="0"/>
              </a:spcBef>
              <a:spcAft>
                <a:spcPts val="600"/>
              </a:spcAft>
              <a:defRPr sz="2000" b="1">
                <a:solidFill>
                  <a:srgbClr val="172B49"/>
                </a:solidFill>
                <a:latin typeface="Arial"/>
              </a:defRPr>
            </a:pPr>
            <a:r>
              <a:t>Chuẩn hóa</a:t>
            </a:r>
          </a:p>
        </p:txBody>
      </p:sp>
      <p:sp>
        <p:nvSpPr>
          <p:cNvPr id="16" name="TextBox 15"/>
          <p:cNvSpPr txBox="1"/>
          <p:nvPr/>
        </p:nvSpPr>
        <p:spPr>
          <a:xfrm>
            <a:off x="4590288" y="2916936"/>
            <a:ext cx="3154680" cy="310896"/>
          </a:xfrm>
          <a:prstGeom prst="rect">
            <a:avLst/>
          </a:prstGeom>
          <a:noFill/>
        </p:spPr>
        <p:txBody>
          <a:bodyPr wrap="square" lIns="0" rIns="0" tIns="0" bIns="0">
            <a:spAutoFit/>
          </a:bodyPr>
          <a:lstStyle/>
          <a:p>
            <a:pPr algn="l">
              <a:spcBef>
                <a:spcPts val="0"/>
              </a:spcBef>
              <a:spcAft>
                <a:spcPts val="600"/>
              </a:spcAft>
              <a:defRPr sz="1400" b="0">
                <a:solidFill>
                  <a:srgbClr val="5B6B83"/>
                </a:solidFill>
                <a:latin typeface="Arial"/>
              </a:defRPr>
            </a:pPr>
            <a:r>
              <a:t>ID · thời gian · metadata</a:t>
            </a:r>
          </a:p>
        </p:txBody>
      </p:sp>
      <p:sp>
        <p:nvSpPr>
          <p:cNvPr id="17" name="Rounded Rectangle 16"/>
          <p:cNvSpPr/>
          <p:nvPr/>
        </p:nvSpPr>
        <p:spPr>
          <a:xfrm>
            <a:off x="8193023" y="1828800"/>
            <a:ext cx="3520440" cy="1609344"/>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375903" y="1984248"/>
            <a:ext cx="3017520"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BƯỚC 03</a:t>
            </a:r>
          </a:p>
        </p:txBody>
      </p:sp>
      <p:sp>
        <p:nvSpPr>
          <p:cNvPr id="19" name="TextBox 18"/>
          <p:cNvSpPr txBox="1"/>
          <p:nvPr/>
        </p:nvSpPr>
        <p:spPr>
          <a:xfrm>
            <a:off x="8375903" y="2377440"/>
            <a:ext cx="3154680" cy="393192"/>
          </a:xfrm>
          <a:prstGeom prst="rect">
            <a:avLst/>
          </a:prstGeom>
          <a:noFill/>
        </p:spPr>
        <p:txBody>
          <a:bodyPr wrap="square" lIns="0" rIns="0" tIns="0" bIns="0">
            <a:spAutoFit/>
          </a:bodyPr>
          <a:lstStyle/>
          <a:p>
            <a:pPr algn="l">
              <a:spcBef>
                <a:spcPts val="0"/>
              </a:spcBef>
              <a:spcAft>
                <a:spcPts val="600"/>
              </a:spcAft>
              <a:defRPr sz="2000" b="1">
                <a:solidFill>
                  <a:srgbClr val="172B49"/>
                </a:solidFill>
                <a:latin typeface="Arial"/>
              </a:defRPr>
            </a:pPr>
            <a:r>
              <a:t>Làm sạch</a:t>
            </a:r>
          </a:p>
        </p:txBody>
      </p:sp>
      <p:sp>
        <p:nvSpPr>
          <p:cNvPr id="20" name="TextBox 19"/>
          <p:cNvSpPr txBox="1"/>
          <p:nvPr/>
        </p:nvSpPr>
        <p:spPr>
          <a:xfrm>
            <a:off x="8375903" y="2916936"/>
            <a:ext cx="3154680" cy="310896"/>
          </a:xfrm>
          <a:prstGeom prst="rect">
            <a:avLst/>
          </a:prstGeom>
          <a:noFill/>
        </p:spPr>
        <p:txBody>
          <a:bodyPr wrap="square" lIns="0" rIns="0" tIns="0" bIns="0">
            <a:spAutoFit/>
          </a:bodyPr>
          <a:lstStyle/>
          <a:p>
            <a:pPr algn="l">
              <a:spcBef>
                <a:spcPts val="0"/>
              </a:spcBef>
              <a:spcAft>
                <a:spcPts val="600"/>
              </a:spcAft>
              <a:defRPr sz="1400" b="0">
                <a:solidFill>
                  <a:srgbClr val="5B6B83"/>
                </a:solidFill>
                <a:latin typeface="Arial"/>
              </a:defRPr>
            </a:pPr>
            <a:r>
              <a:t>Lọc lỗi và khử trùng</a:t>
            </a:r>
          </a:p>
        </p:txBody>
      </p:sp>
      <p:sp>
        <p:nvSpPr>
          <p:cNvPr id="21" name="Rounded Rectangle 20"/>
          <p:cNvSpPr/>
          <p:nvPr/>
        </p:nvSpPr>
        <p:spPr>
          <a:xfrm>
            <a:off x="621792" y="3694176"/>
            <a:ext cx="3520440" cy="1609344"/>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04672" y="3849624"/>
            <a:ext cx="3017520"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BƯỚC 04</a:t>
            </a:r>
          </a:p>
        </p:txBody>
      </p:sp>
      <p:sp>
        <p:nvSpPr>
          <p:cNvPr id="23" name="TextBox 22"/>
          <p:cNvSpPr txBox="1"/>
          <p:nvPr/>
        </p:nvSpPr>
        <p:spPr>
          <a:xfrm>
            <a:off x="804672" y="4242816"/>
            <a:ext cx="3154680" cy="393192"/>
          </a:xfrm>
          <a:prstGeom prst="rect">
            <a:avLst/>
          </a:prstGeom>
          <a:noFill/>
        </p:spPr>
        <p:txBody>
          <a:bodyPr wrap="square" lIns="0" rIns="0" tIns="0" bIns="0">
            <a:spAutoFit/>
          </a:bodyPr>
          <a:lstStyle/>
          <a:p>
            <a:pPr algn="l">
              <a:spcBef>
                <a:spcPts val="0"/>
              </a:spcBef>
              <a:spcAft>
                <a:spcPts val="600"/>
              </a:spcAft>
              <a:defRPr sz="2000" b="1">
                <a:solidFill>
                  <a:srgbClr val="172B49"/>
                </a:solidFill>
                <a:latin typeface="Arial"/>
              </a:defRPr>
            </a:pPr>
            <a:r>
              <a:t>Temporal split</a:t>
            </a:r>
          </a:p>
        </p:txBody>
      </p:sp>
      <p:sp>
        <p:nvSpPr>
          <p:cNvPr id="24" name="TextBox 23"/>
          <p:cNvSpPr txBox="1"/>
          <p:nvPr/>
        </p:nvSpPr>
        <p:spPr>
          <a:xfrm>
            <a:off x="804672" y="4782312"/>
            <a:ext cx="3154680" cy="310896"/>
          </a:xfrm>
          <a:prstGeom prst="rect">
            <a:avLst/>
          </a:prstGeom>
          <a:noFill/>
        </p:spPr>
        <p:txBody>
          <a:bodyPr wrap="square" lIns="0" rIns="0" tIns="0" bIns="0">
            <a:spAutoFit/>
          </a:bodyPr>
          <a:lstStyle/>
          <a:p>
            <a:pPr algn="l">
              <a:spcBef>
                <a:spcPts val="0"/>
              </a:spcBef>
              <a:spcAft>
                <a:spcPts val="600"/>
              </a:spcAft>
              <a:defRPr sz="1400" b="0">
                <a:solidFill>
                  <a:srgbClr val="5B6B83"/>
                </a:solidFill>
                <a:latin typeface="Arial"/>
              </a:defRPr>
            </a:pPr>
            <a:r>
              <a:t>TRAIN → VAL → TEST</a:t>
            </a:r>
          </a:p>
        </p:txBody>
      </p:sp>
      <p:sp>
        <p:nvSpPr>
          <p:cNvPr id="25" name="Rounded Rectangle 24"/>
          <p:cNvSpPr/>
          <p:nvPr/>
        </p:nvSpPr>
        <p:spPr>
          <a:xfrm>
            <a:off x="4407407" y="3694176"/>
            <a:ext cx="3520440" cy="1609344"/>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90288" y="3849624"/>
            <a:ext cx="3017520"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BƯỚC 05</a:t>
            </a:r>
          </a:p>
        </p:txBody>
      </p:sp>
      <p:sp>
        <p:nvSpPr>
          <p:cNvPr id="27" name="TextBox 26"/>
          <p:cNvSpPr txBox="1"/>
          <p:nvPr/>
        </p:nvSpPr>
        <p:spPr>
          <a:xfrm>
            <a:off x="4590288" y="4242816"/>
            <a:ext cx="3154680" cy="393192"/>
          </a:xfrm>
          <a:prstGeom prst="rect">
            <a:avLst/>
          </a:prstGeom>
          <a:noFill/>
        </p:spPr>
        <p:txBody>
          <a:bodyPr wrap="square" lIns="0" rIns="0" tIns="0" bIns="0">
            <a:spAutoFit/>
          </a:bodyPr>
          <a:lstStyle/>
          <a:p>
            <a:pPr algn="l">
              <a:spcBef>
                <a:spcPts val="0"/>
              </a:spcBef>
              <a:spcAft>
                <a:spcPts val="600"/>
              </a:spcAft>
              <a:defRPr sz="2000" b="1">
                <a:solidFill>
                  <a:srgbClr val="172B49"/>
                </a:solidFill>
                <a:latin typeface="Arial"/>
              </a:defRPr>
            </a:pPr>
            <a:r>
              <a:t>Đặc trưng</a:t>
            </a:r>
          </a:p>
        </p:txBody>
      </p:sp>
      <p:sp>
        <p:nvSpPr>
          <p:cNvPr id="28" name="TextBox 27"/>
          <p:cNvSpPr txBox="1"/>
          <p:nvPr/>
        </p:nvSpPr>
        <p:spPr>
          <a:xfrm>
            <a:off x="4590288" y="4782312"/>
            <a:ext cx="3154680" cy="310896"/>
          </a:xfrm>
          <a:prstGeom prst="rect">
            <a:avLst/>
          </a:prstGeom>
          <a:noFill/>
        </p:spPr>
        <p:txBody>
          <a:bodyPr wrap="square" lIns="0" rIns="0" tIns="0" bIns="0">
            <a:spAutoFit/>
          </a:bodyPr>
          <a:lstStyle/>
          <a:p>
            <a:pPr algn="l">
              <a:spcBef>
                <a:spcPts val="0"/>
              </a:spcBef>
              <a:spcAft>
                <a:spcPts val="600"/>
              </a:spcAft>
              <a:defRPr sz="1400" b="0">
                <a:solidFill>
                  <a:srgbClr val="5B6B83"/>
                </a:solidFill>
                <a:latin typeface="Arial"/>
              </a:defRPr>
            </a:pPr>
            <a:r>
              <a:t>ID maps · CF pairs · catalog</a:t>
            </a:r>
          </a:p>
        </p:txBody>
      </p:sp>
      <p:sp>
        <p:nvSpPr>
          <p:cNvPr id="29" name="Rounded Rectangle 28"/>
          <p:cNvSpPr/>
          <p:nvPr/>
        </p:nvSpPr>
        <p:spPr>
          <a:xfrm>
            <a:off x="8193023" y="3694176"/>
            <a:ext cx="3520440" cy="1609344"/>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375903" y="3849624"/>
            <a:ext cx="3017520"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BƯỚC 06</a:t>
            </a:r>
          </a:p>
        </p:txBody>
      </p:sp>
      <p:sp>
        <p:nvSpPr>
          <p:cNvPr id="31" name="TextBox 30"/>
          <p:cNvSpPr txBox="1"/>
          <p:nvPr/>
        </p:nvSpPr>
        <p:spPr>
          <a:xfrm>
            <a:off x="8375903" y="4242816"/>
            <a:ext cx="3154680" cy="393192"/>
          </a:xfrm>
          <a:prstGeom prst="rect">
            <a:avLst/>
          </a:prstGeom>
          <a:noFill/>
        </p:spPr>
        <p:txBody>
          <a:bodyPr wrap="square" lIns="0" rIns="0" tIns="0" bIns="0">
            <a:spAutoFit/>
          </a:bodyPr>
          <a:lstStyle/>
          <a:p>
            <a:pPr algn="l">
              <a:spcBef>
                <a:spcPts val="0"/>
              </a:spcBef>
              <a:spcAft>
                <a:spcPts val="600"/>
              </a:spcAft>
              <a:defRPr sz="2000" b="1">
                <a:solidFill>
                  <a:srgbClr val="172B49"/>
                </a:solidFill>
                <a:latin typeface="Arial"/>
              </a:defRPr>
            </a:pPr>
            <a:r>
              <a:t>Đầu ra</a:t>
            </a:r>
          </a:p>
        </p:txBody>
      </p:sp>
      <p:sp>
        <p:nvSpPr>
          <p:cNvPr id="32" name="TextBox 31"/>
          <p:cNvSpPr txBox="1"/>
          <p:nvPr/>
        </p:nvSpPr>
        <p:spPr>
          <a:xfrm>
            <a:off x="8375903" y="4782312"/>
            <a:ext cx="3154680" cy="310896"/>
          </a:xfrm>
          <a:prstGeom prst="rect">
            <a:avLst/>
          </a:prstGeom>
          <a:noFill/>
        </p:spPr>
        <p:txBody>
          <a:bodyPr wrap="square" lIns="0" rIns="0" tIns="0" bIns="0">
            <a:spAutoFit/>
          </a:bodyPr>
          <a:lstStyle/>
          <a:p>
            <a:pPr algn="l">
              <a:spcBef>
                <a:spcPts val="0"/>
              </a:spcBef>
              <a:spcAft>
                <a:spcPts val="600"/>
              </a:spcAft>
              <a:defRPr sz="1400" b="0">
                <a:solidFill>
                  <a:srgbClr val="5B6B83"/>
                </a:solidFill>
                <a:latin typeface="Arial"/>
              </a:defRPr>
            </a:pPr>
            <a:r>
              <a:t>Snapshots · cold-start cohorts</a:t>
            </a:r>
          </a:p>
        </p:txBody>
      </p:sp>
      <p:sp>
        <p:nvSpPr>
          <p:cNvPr id="33" name="Rounded Rectangle 32"/>
          <p:cNvSpPr/>
          <p:nvPr/>
        </p:nvSpPr>
        <p:spPr>
          <a:xfrm>
            <a:off x="566928" y="5824728"/>
            <a:ext cx="11064240" cy="438912"/>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9808" y="5907024"/>
            <a:ext cx="10698480" cy="329184"/>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Không nạp toàn bộ raw vào Pandas; xử lý theo VIEW, batch và file Parquet.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04 DATA PREPROCESSING</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Làm sạch và khử trùng</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11 / 52</a:t>
            </a:r>
          </a:p>
        </p:txBody>
      </p:sp>
      <p:sp>
        <p:nvSpPr>
          <p:cNvPr id="8" name="Rectangle 7"/>
          <p:cNvSpPr/>
          <p:nvPr/>
        </p:nvSpPr>
        <p:spPr>
          <a:xfrm>
            <a:off x="566928" y="6391656"/>
            <a:ext cx="2340512"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21792" y="1819656"/>
            <a:ext cx="4754880" cy="1773936"/>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002536"/>
            <a:ext cx="4352544" cy="621792"/>
          </a:xfrm>
          <a:prstGeom prst="rect">
            <a:avLst/>
          </a:prstGeom>
          <a:noFill/>
        </p:spPr>
        <p:txBody>
          <a:bodyPr wrap="square" lIns="0" rIns="0" tIns="0" bIns="0">
            <a:spAutoFit/>
          </a:bodyPr>
          <a:lstStyle/>
          <a:p>
            <a:pPr algn="l">
              <a:spcBef>
                <a:spcPts val="0"/>
              </a:spcBef>
              <a:spcAft>
                <a:spcPts val="600"/>
              </a:spcAft>
              <a:defRPr sz="3500" b="1">
                <a:solidFill>
                  <a:srgbClr val="244BFF"/>
                </a:solidFill>
                <a:latin typeface="Arial"/>
              </a:defRPr>
            </a:pPr>
            <a:r>
              <a:t>174.872.167</a:t>
            </a:r>
          </a:p>
        </p:txBody>
      </p:sp>
      <p:sp>
        <p:nvSpPr>
          <p:cNvPr id="11" name="TextBox 10"/>
          <p:cNvSpPr txBox="1"/>
          <p:nvPr/>
        </p:nvSpPr>
        <p:spPr>
          <a:xfrm>
            <a:off x="822960" y="2679191"/>
            <a:ext cx="4352544" cy="530352"/>
          </a:xfrm>
          <a:prstGeom prst="rect">
            <a:avLst/>
          </a:prstGeom>
          <a:noFill/>
        </p:spPr>
        <p:txBody>
          <a:bodyPr wrap="square" lIns="0" rIns="0" tIns="0" bIns="0">
            <a:spAutoFit/>
          </a:bodyPr>
          <a:lstStyle/>
          <a:p>
            <a:pPr algn="l">
              <a:spcBef>
                <a:spcPts val="0"/>
              </a:spcBef>
              <a:spcAft>
                <a:spcPts val="600"/>
              </a:spcAft>
              <a:defRPr sz="1800" b="1">
                <a:solidFill>
                  <a:srgbClr val="172B49"/>
                </a:solidFill>
                <a:latin typeface="Arial"/>
              </a:defRPr>
            </a:pPr>
            <a:r>
              <a:t>Dòng trước xử lý</a:t>
            </a:r>
          </a:p>
        </p:txBody>
      </p:sp>
      <p:sp>
        <p:nvSpPr>
          <p:cNvPr id="12" name="Chevron 11"/>
          <p:cNvSpPr/>
          <p:nvPr/>
        </p:nvSpPr>
        <p:spPr>
          <a:xfrm>
            <a:off x="5669280" y="2487168"/>
            <a:ext cx="640080" cy="457200"/>
          </a:xfrm>
          <a:prstGeom prst="chevron">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766560" y="1819656"/>
            <a:ext cx="4754880" cy="1773936"/>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967728" y="2002536"/>
            <a:ext cx="4352544" cy="621792"/>
          </a:xfrm>
          <a:prstGeom prst="rect">
            <a:avLst/>
          </a:prstGeom>
          <a:noFill/>
        </p:spPr>
        <p:txBody>
          <a:bodyPr wrap="square" lIns="0" rIns="0" tIns="0" bIns="0">
            <a:spAutoFit/>
          </a:bodyPr>
          <a:lstStyle/>
          <a:p>
            <a:pPr algn="l">
              <a:spcBef>
                <a:spcPts val="0"/>
              </a:spcBef>
              <a:spcAft>
                <a:spcPts val="600"/>
              </a:spcAft>
              <a:defRPr sz="3500" b="1">
                <a:solidFill>
                  <a:srgbClr val="244BFF"/>
                </a:solidFill>
                <a:latin typeface="Arial"/>
              </a:defRPr>
            </a:pPr>
            <a:r>
              <a:t>174.725.659</a:t>
            </a:r>
          </a:p>
        </p:txBody>
      </p:sp>
      <p:sp>
        <p:nvSpPr>
          <p:cNvPr id="15" name="TextBox 14"/>
          <p:cNvSpPr txBox="1"/>
          <p:nvPr/>
        </p:nvSpPr>
        <p:spPr>
          <a:xfrm>
            <a:off x="6967728" y="2679191"/>
            <a:ext cx="4352544" cy="530352"/>
          </a:xfrm>
          <a:prstGeom prst="rect">
            <a:avLst/>
          </a:prstGeom>
          <a:noFill/>
        </p:spPr>
        <p:txBody>
          <a:bodyPr wrap="square" lIns="0" rIns="0" tIns="0" bIns="0">
            <a:spAutoFit/>
          </a:bodyPr>
          <a:lstStyle/>
          <a:p>
            <a:pPr algn="l">
              <a:spcBef>
                <a:spcPts val="0"/>
              </a:spcBef>
              <a:spcAft>
                <a:spcPts val="600"/>
              </a:spcAft>
              <a:defRPr sz="1800" b="1">
                <a:solidFill>
                  <a:srgbClr val="172B49"/>
                </a:solidFill>
                <a:latin typeface="Arial"/>
              </a:defRPr>
            </a:pPr>
            <a:r>
              <a:t>Dòng sau làm sạch</a:t>
            </a:r>
          </a:p>
        </p:txBody>
      </p:sp>
      <p:sp>
        <p:nvSpPr>
          <p:cNvPr id="16" name="TextBox 15"/>
          <p:cNvSpPr txBox="1"/>
          <p:nvPr/>
        </p:nvSpPr>
        <p:spPr>
          <a:xfrm>
            <a:off x="731520" y="3886200"/>
            <a:ext cx="10789920"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KHÓA KHỬ TRÙNG</a:t>
            </a:r>
          </a:p>
        </p:txBody>
      </p:sp>
      <p:sp>
        <p:nvSpPr>
          <p:cNvPr id="17" name="Rounded Rectangle 16"/>
          <p:cNvSpPr/>
          <p:nvPr/>
        </p:nvSpPr>
        <p:spPr>
          <a:xfrm>
            <a:off x="658368" y="4279392"/>
            <a:ext cx="10872216" cy="603504"/>
          </a:xfrm>
          <a:prstGeom prst="roundRect">
            <a:avLst>
              <a:gd name="adj" fmla="val 9000"/>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7824" y="4453128"/>
            <a:ext cx="10424160" cy="356616"/>
          </a:xfrm>
          <a:prstGeom prst="rect">
            <a:avLst/>
          </a:prstGeom>
          <a:noFill/>
        </p:spPr>
        <p:txBody>
          <a:bodyPr wrap="square" lIns="0" rIns="0" tIns="0" bIns="0">
            <a:spAutoFit/>
          </a:bodyPr>
          <a:lstStyle/>
          <a:p>
            <a:pPr algn="ctr">
              <a:spcBef>
                <a:spcPts val="0"/>
              </a:spcBef>
              <a:spcAft>
                <a:spcPts val="600"/>
              </a:spcAft>
              <a:defRPr sz="2100" b="1">
                <a:solidFill>
                  <a:srgbClr val="FFFFFF"/>
                </a:solidFill>
                <a:latin typeface="Arial"/>
              </a:defRPr>
            </a:pPr>
            <a:r>
              <a:t>user · item · event · timestamp · session · sequence</a:t>
            </a:r>
          </a:p>
        </p:txBody>
      </p:sp>
      <p:sp>
        <p:nvSpPr>
          <p:cNvPr id="19" name="TextBox 18"/>
          <p:cNvSpPr txBox="1"/>
          <p:nvPr/>
        </p:nvSpPr>
        <p:spPr>
          <a:xfrm>
            <a:off x="731520" y="5138928"/>
            <a:ext cx="10607040" cy="493776"/>
          </a:xfrm>
          <a:prstGeom prst="rect">
            <a:avLst/>
          </a:prstGeom>
          <a:noFill/>
        </p:spPr>
        <p:txBody>
          <a:bodyPr wrap="square" lIns="0" rIns="0" tIns="0" bIns="0">
            <a:spAutoFit/>
          </a:bodyPr>
          <a:lstStyle/>
          <a:p>
            <a:pPr algn="l">
              <a:spcBef>
                <a:spcPts val="0"/>
              </a:spcBef>
              <a:spcAft>
                <a:spcPts val="600"/>
              </a:spcAft>
              <a:defRPr sz="2000" b="0">
                <a:solidFill>
                  <a:srgbClr val="172B49"/>
                </a:solidFill>
                <a:latin typeface="Arial"/>
              </a:defRPr>
            </a:pPr>
            <a:r>
              <a:t>Tổng giảm 146.508 dòng; giữ một sự kiện trên mỗi khóa sau bước lọc hợp lệ.</a:t>
            </a:r>
          </a:p>
        </p:txBody>
      </p:sp>
      <p:sp>
        <p:nvSpPr>
          <p:cNvPr id="20" name="Rounded Rectangle 19"/>
          <p:cNvSpPr/>
          <p:nvPr/>
        </p:nvSpPr>
        <p:spPr>
          <a:xfrm>
            <a:off x="566928" y="5824728"/>
            <a:ext cx="11064240" cy="438912"/>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5907024"/>
            <a:ext cx="10698480" cy="329184"/>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Chuẩn hóa kiểu ID, trim chuỗi và parse timestamp theo đúng kiểu dữ liệu nguồn.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04 DATA PREPROCESSING</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Xử lý metadata thiếu</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12 / 52</a:t>
            </a:r>
          </a:p>
        </p:txBody>
      </p:sp>
      <p:sp>
        <p:nvSpPr>
          <p:cNvPr id="8" name="Rectangle 7"/>
          <p:cNvSpPr/>
          <p:nvPr/>
        </p:nvSpPr>
        <p:spPr>
          <a:xfrm>
            <a:off x="566928" y="6391656"/>
            <a:ext cx="2553286"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66928" y="1719072"/>
            <a:ext cx="6995160" cy="3877056"/>
          </a:xfrm>
          <a:prstGeom prst="roundRect">
            <a:avLst>
              <a:gd name="adj" fmla="val 9000"/>
            </a:avLst>
          </a:prstGeom>
          <a:solidFill>
            <a:srgbClr val="FFFFFF"/>
          </a:solidFill>
          <a:ln w="10160">
            <a:solidFill>
              <a:srgbClr val="DF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3_missing_percentage.png"/>
          <p:cNvPicPr>
            <a:picLocks noChangeAspect="1"/>
          </p:cNvPicPr>
          <p:nvPr/>
        </p:nvPicPr>
        <p:blipFill>
          <a:blip r:embed="rId2"/>
          <a:stretch>
            <a:fillRect/>
          </a:stretch>
        </p:blipFill>
        <p:spPr>
          <a:xfrm>
            <a:off x="676655" y="1971700"/>
            <a:ext cx="6775704" cy="3362654"/>
          </a:xfrm>
          <a:prstGeom prst="rect">
            <a:avLst/>
          </a:prstGeom>
        </p:spPr>
      </p:pic>
      <p:sp>
        <p:nvSpPr>
          <p:cNvPr id="11" name="Oval 10"/>
          <p:cNvSpPr/>
          <p:nvPr/>
        </p:nvSpPr>
        <p:spPr>
          <a:xfrm>
            <a:off x="7863840" y="2002536"/>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55864" y="1901952"/>
            <a:ext cx="3465576" cy="804672"/>
          </a:xfrm>
          <a:prstGeom prst="rect">
            <a:avLst/>
          </a:prstGeom>
          <a:noFill/>
        </p:spPr>
        <p:txBody>
          <a:bodyPr wrap="square" lIns="0" rIns="0" tIns="0" bIns="0">
            <a:spAutoFit/>
          </a:bodyPr>
          <a:lstStyle/>
          <a:p>
            <a:pPr algn="l">
              <a:spcBef>
                <a:spcPts val="0"/>
              </a:spcBef>
              <a:spcAft>
                <a:spcPts val="600"/>
              </a:spcAft>
              <a:defRPr sz="1800" b="0">
                <a:solidFill>
                  <a:srgbClr val="172B49"/>
                </a:solidFill>
                <a:latin typeface="Arial"/>
              </a:defRPr>
            </a:pPr>
            <a:r>
              <a:t>Color thiếu 95,61%; size_name thiếu 62,74%.</a:t>
            </a:r>
          </a:p>
        </p:txBody>
      </p:sp>
      <p:sp>
        <p:nvSpPr>
          <p:cNvPr id="13" name="Oval 12"/>
          <p:cNvSpPr/>
          <p:nvPr/>
        </p:nvSpPr>
        <p:spPr>
          <a:xfrm>
            <a:off x="7863840" y="2889503"/>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55864" y="2788920"/>
            <a:ext cx="3465576" cy="804672"/>
          </a:xfrm>
          <a:prstGeom prst="rect">
            <a:avLst/>
          </a:prstGeom>
          <a:noFill/>
        </p:spPr>
        <p:txBody>
          <a:bodyPr wrap="square" lIns="0" rIns="0" tIns="0" bIns="0">
            <a:spAutoFit/>
          </a:bodyPr>
          <a:lstStyle/>
          <a:p>
            <a:pPr algn="l">
              <a:spcBef>
                <a:spcPts val="0"/>
              </a:spcBef>
              <a:spcAft>
                <a:spcPts val="600"/>
              </a:spcAft>
              <a:defRPr sz="1800" b="0">
                <a:solidFill>
                  <a:srgbClr val="172B49"/>
                </a:solidFill>
                <a:latin typeface="Arial"/>
              </a:defRPr>
            </a:pPr>
            <a:r>
              <a:t>Brand_name thiếu 19,20%; các trường tùy chọn không đồng nghĩa sự kiện vô dụng.</a:t>
            </a:r>
          </a:p>
        </p:txBody>
      </p:sp>
      <p:sp>
        <p:nvSpPr>
          <p:cNvPr id="15" name="Oval 14"/>
          <p:cNvSpPr/>
          <p:nvPr/>
        </p:nvSpPr>
        <p:spPr>
          <a:xfrm>
            <a:off x="7863840" y="3776472"/>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55864" y="3675887"/>
            <a:ext cx="3465576" cy="804672"/>
          </a:xfrm>
          <a:prstGeom prst="rect">
            <a:avLst/>
          </a:prstGeom>
          <a:noFill/>
        </p:spPr>
        <p:txBody>
          <a:bodyPr wrap="square" lIns="0" rIns="0" tIns="0" bIns="0">
            <a:spAutoFit/>
          </a:bodyPr>
          <a:lstStyle/>
          <a:p>
            <a:pPr algn="l">
              <a:spcBef>
                <a:spcPts val="0"/>
              </a:spcBef>
              <a:spcAft>
                <a:spcPts val="600"/>
              </a:spcAft>
              <a:defRPr sz="1800" b="0">
                <a:solidFill>
                  <a:srgbClr val="172B49"/>
                </a:solidFill>
                <a:latin typeface="Arial"/>
              </a:defRPr>
            </a:pPr>
            <a:r>
              <a:t>Danh mục dùng cấp cha; brand/condition/shipper dùng __UNK__.</a:t>
            </a:r>
          </a:p>
        </p:txBody>
      </p:sp>
      <p:sp>
        <p:nvSpPr>
          <p:cNvPr id="17" name="Oval 16"/>
          <p:cNvSpPr/>
          <p:nvPr/>
        </p:nvSpPr>
        <p:spPr>
          <a:xfrm>
            <a:off x="7863840" y="4663440"/>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55864" y="4562856"/>
            <a:ext cx="3465576" cy="804672"/>
          </a:xfrm>
          <a:prstGeom prst="rect">
            <a:avLst/>
          </a:prstGeom>
          <a:noFill/>
        </p:spPr>
        <p:txBody>
          <a:bodyPr wrap="square" lIns="0" rIns="0" tIns="0" bIns="0">
            <a:spAutoFit/>
          </a:bodyPr>
          <a:lstStyle/>
          <a:p>
            <a:pPr algn="l">
              <a:spcBef>
                <a:spcPts val="0"/>
              </a:spcBef>
              <a:spcAft>
                <a:spcPts val="600"/>
              </a:spcAft>
              <a:defRPr sz="1800" b="0">
                <a:solidFill>
                  <a:srgbClr val="172B49"/>
                </a:solidFill>
                <a:latin typeface="Arial"/>
              </a:defRPr>
            </a:pPr>
            <a:r>
              <a:t>Color không xuất vào interactions train/val/test.</a:t>
            </a:r>
          </a:p>
        </p:txBody>
      </p:sp>
      <p:sp>
        <p:nvSpPr>
          <p:cNvPr id="19" name="Rounded Rectangle 18"/>
          <p:cNvSpPr/>
          <p:nvPr/>
        </p:nvSpPr>
        <p:spPr>
          <a:xfrm>
            <a:off x="566928" y="5824728"/>
            <a:ext cx="11064240" cy="438912"/>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5907024"/>
            <a:ext cx="10698480" cy="329184"/>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Tỷ lệ missing theo dòng tương tác; giữ NULL của size ở bước chuẩn hóa.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04 DATA PREPROCESSING</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Chia TRAIN / VAL / TEST theo thời gian</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13 / 52</a:t>
            </a:r>
          </a:p>
        </p:txBody>
      </p:sp>
      <p:sp>
        <p:nvSpPr>
          <p:cNvPr id="8" name="Rectangle 7"/>
          <p:cNvSpPr/>
          <p:nvPr/>
        </p:nvSpPr>
        <p:spPr>
          <a:xfrm>
            <a:off x="566928" y="6391656"/>
            <a:ext cx="2766059"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13_temporal_split.png"/>
          <p:cNvPicPr>
            <a:picLocks noChangeAspect="1"/>
          </p:cNvPicPr>
          <p:nvPr/>
        </p:nvPicPr>
        <p:blipFill>
          <a:blip r:embed="rId2"/>
          <a:stretch>
            <a:fillRect/>
          </a:stretch>
        </p:blipFill>
        <p:spPr>
          <a:xfrm>
            <a:off x="3921389" y="1691640"/>
            <a:ext cx="4318741" cy="2084831"/>
          </a:xfrm>
          <a:prstGeom prst="rect">
            <a:avLst/>
          </a:prstGeom>
        </p:spPr>
      </p:pic>
      <p:graphicFrame>
        <p:nvGraphicFramePr>
          <p:cNvPr id="10" name="Table 9"/>
          <p:cNvGraphicFramePr>
            <a:graphicFrameLocks noGrp="1"/>
          </p:cNvGraphicFramePr>
          <p:nvPr/>
        </p:nvGraphicFramePr>
        <p:xfrm>
          <a:off x="658368" y="3931920"/>
          <a:ext cx="10881359" cy="1481328"/>
        </p:xfrm>
        <a:graphic>
          <a:graphicData uri="http://schemas.openxmlformats.org/drawingml/2006/table">
            <a:tbl>
              <a:tblPr firstRow="1" bandRow="1">
                <a:tableStyleId>{5C22544A-7EE6-4342-B048-85BDC9FD1C3A}</a:tableStyleId>
              </a:tblPr>
              <a:tblGrid>
                <a:gridCol w="1920240"/>
                <a:gridCol w="5212080"/>
                <a:gridCol w="3749039"/>
              </a:tblGrid>
              <a:tr h="370332">
                <a:tc>
                  <a:txBody>
                    <a:bodyPr/>
                    <a:lstStyle/>
                    <a:p>
                      <a:pPr>
                        <a:defRPr sz="1600" b="1">
                          <a:solidFill>
                            <a:srgbClr val="FFFFFF"/>
                          </a:solidFill>
                          <a:latin typeface="Arial"/>
                        </a:defRPr>
                      </a:pPr>
                      <a:r>
                        <a:t>Tập</a:t>
                      </a:r>
                    </a:p>
                  </a:txBody>
                  <a:tcPr marL="128016" marR="91440" marT="91440" marB="64008" anchor="ctr">
                    <a:solidFill>
                      <a:srgbClr val="244BFF"/>
                    </a:solidFill>
                  </a:tcPr>
                </a:tc>
                <a:tc>
                  <a:txBody>
                    <a:bodyPr/>
                    <a:lstStyle/>
                    <a:p>
                      <a:pPr>
                        <a:defRPr sz="1600" b="1">
                          <a:solidFill>
                            <a:srgbClr val="FFFFFF"/>
                          </a:solidFill>
                          <a:latin typeface="Arial"/>
                        </a:defRPr>
                      </a:pPr>
                      <a:r>
                        <a:t>Thời gian UTC</a:t>
                      </a:r>
                    </a:p>
                  </a:txBody>
                  <a:tcPr marL="128016" marR="91440" marT="91440" marB="64008" anchor="ctr">
                    <a:solidFill>
                      <a:srgbClr val="244BFF"/>
                    </a:solidFill>
                  </a:tcPr>
                </a:tc>
                <a:tc>
                  <a:txBody>
                    <a:bodyPr/>
                    <a:lstStyle/>
                    <a:p>
                      <a:pPr>
                        <a:defRPr sz="1600" b="1">
                          <a:solidFill>
                            <a:srgbClr val="FFFFFF"/>
                          </a:solidFill>
                          <a:latin typeface="Arial"/>
                        </a:defRPr>
                      </a:pPr>
                      <a:r>
                        <a:t>Số tương tác</a:t>
                      </a:r>
                    </a:p>
                  </a:txBody>
                  <a:tcPr marL="128016" marR="91440" marT="91440" marB="64008" anchor="ctr">
                    <a:solidFill>
                      <a:srgbClr val="244BFF"/>
                    </a:solidFill>
                  </a:tcPr>
                </a:tc>
              </a:tr>
              <a:tr h="370332">
                <a:tc>
                  <a:txBody>
                    <a:bodyPr/>
                    <a:lstStyle/>
                    <a:p>
                      <a:pPr>
                        <a:defRPr sz="1600" b="0">
                          <a:solidFill>
                            <a:srgbClr val="172B49"/>
                          </a:solidFill>
                          <a:latin typeface="Arial"/>
                        </a:defRPr>
                      </a:pPr>
                      <a:r>
                        <a:t>TRAIN</a:t>
                      </a:r>
                    </a:p>
                  </a:txBody>
                  <a:tcPr marL="128016" marR="91440" marT="91440" marB="64008" anchor="ctr">
                    <a:solidFill>
                      <a:srgbClr val="F0F4FC"/>
                    </a:solidFill>
                  </a:tcPr>
                </a:tc>
                <a:tc>
                  <a:txBody>
                    <a:bodyPr/>
                    <a:lstStyle/>
                    <a:p>
                      <a:pPr>
                        <a:defRPr sz="1600" b="0">
                          <a:solidFill>
                            <a:srgbClr val="172B49"/>
                          </a:solidFill>
                          <a:latin typeface="Arial"/>
                        </a:defRPr>
                      </a:pPr>
                      <a:r>
                        <a:t>01–25/05</a:t>
                      </a:r>
                    </a:p>
                  </a:txBody>
                  <a:tcPr marL="128016" marR="91440" marT="91440" marB="64008" anchor="ctr">
                    <a:solidFill>
                      <a:srgbClr val="F0F4FC"/>
                    </a:solidFill>
                  </a:tcPr>
                </a:tc>
                <a:tc>
                  <a:txBody>
                    <a:bodyPr/>
                    <a:lstStyle/>
                    <a:p>
                      <a:pPr>
                        <a:defRPr sz="1600" b="0">
                          <a:solidFill>
                            <a:srgbClr val="172B49"/>
                          </a:solidFill>
                          <a:latin typeface="Arial"/>
                        </a:defRPr>
                      </a:pPr>
                      <a:r>
                        <a:t>145.998.253</a:t>
                      </a:r>
                    </a:p>
                  </a:txBody>
                  <a:tcPr marL="128016" marR="91440" marT="91440" marB="64008" anchor="ctr">
                    <a:solidFill>
                      <a:srgbClr val="F0F4FC"/>
                    </a:solidFill>
                  </a:tcPr>
                </a:tc>
              </a:tr>
              <a:tr h="370332">
                <a:tc>
                  <a:txBody>
                    <a:bodyPr/>
                    <a:lstStyle/>
                    <a:p>
                      <a:pPr>
                        <a:defRPr sz="1600" b="0">
                          <a:solidFill>
                            <a:srgbClr val="172B49"/>
                          </a:solidFill>
                          <a:latin typeface="Arial"/>
                        </a:defRPr>
                      </a:pPr>
                      <a:r>
                        <a:t>VAL</a:t>
                      </a:r>
                    </a:p>
                  </a:txBody>
                  <a:tcPr marL="128016" marR="91440" marT="91440" marB="64008" anchor="ctr">
                    <a:solidFill>
                      <a:srgbClr val="FFFFFF"/>
                    </a:solidFill>
                  </a:tcPr>
                </a:tc>
                <a:tc>
                  <a:txBody>
                    <a:bodyPr/>
                    <a:lstStyle/>
                    <a:p>
                      <a:pPr>
                        <a:defRPr sz="1600" b="0">
                          <a:solidFill>
                            <a:srgbClr val="172B49"/>
                          </a:solidFill>
                          <a:latin typeface="Arial"/>
                        </a:defRPr>
                      </a:pPr>
                      <a:r>
                        <a:t>26–28/05</a:t>
                      </a:r>
                    </a:p>
                  </a:txBody>
                  <a:tcPr marL="128016" marR="91440" marT="91440" marB="64008" anchor="ctr">
                    <a:solidFill>
                      <a:srgbClr val="FFFFFF"/>
                    </a:solidFill>
                  </a:tcPr>
                </a:tc>
                <a:tc>
                  <a:txBody>
                    <a:bodyPr/>
                    <a:lstStyle/>
                    <a:p>
                      <a:pPr>
                        <a:defRPr sz="1600" b="0">
                          <a:solidFill>
                            <a:srgbClr val="172B49"/>
                          </a:solidFill>
                          <a:latin typeface="Arial"/>
                        </a:defRPr>
                      </a:pPr>
                      <a:r>
                        <a:t>16.885.121</a:t>
                      </a:r>
                    </a:p>
                  </a:txBody>
                  <a:tcPr marL="128016" marR="91440" marT="91440" marB="64008" anchor="ctr">
                    <a:solidFill>
                      <a:srgbClr val="FFFFFF"/>
                    </a:solidFill>
                  </a:tcPr>
                </a:tc>
              </a:tr>
              <a:tr h="370332">
                <a:tc>
                  <a:txBody>
                    <a:bodyPr/>
                    <a:lstStyle/>
                    <a:p>
                      <a:pPr>
                        <a:defRPr sz="1600" b="0">
                          <a:solidFill>
                            <a:srgbClr val="172B49"/>
                          </a:solidFill>
                          <a:latin typeface="Arial"/>
                        </a:defRPr>
                      </a:pPr>
                      <a:r>
                        <a:t>TEST</a:t>
                      </a:r>
                    </a:p>
                  </a:txBody>
                  <a:tcPr marL="128016" marR="91440" marT="91440" marB="64008" anchor="ctr">
                    <a:solidFill>
                      <a:srgbClr val="F0F4FC"/>
                    </a:solidFill>
                  </a:tcPr>
                </a:tc>
                <a:tc>
                  <a:txBody>
                    <a:bodyPr/>
                    <a:lstStyle/>
                    <a:p>
                      <a:pPr>
                        <a:defRPr sz="1600" b="0">
                          <a:solidFill>
                            <a:srgbClr val="172B49"/>
                          </a:solidFill>
                          <a:latin typeface="Arial"/>
                        </a:defRPr>
                      </a:pPr>
                      <a:r>
                        <a:t>29/05–31/05 00:00</a:t>
                      </a:r>
                    </a:p>
                  </a:txBody>
                  <a:tcPr marL="128016" marR="91440" marT="91440" marB="64008" anchor="ctr">
                    <a:solidFill>
                      <a:srgbClr val="F0F4FC"/>
                    </a:solidFill>
                  </a:tcPr>
                </a:tc>
                <a:tc>
                  <a:txBody>
                    <a:bodyPr/>
                    <a:lstStyle/>
                    <a:p>
                      <a:pPr>
                        <a:defRPr sz="1600" b="0">
                          <a:solidFill>
                            <a:srgbClr val="172B49"/>
                          </a:solidFill>
                          <a:latin typeface="Arial"/>
                        </a:defRPr>
                      </a:pPr>
                      <a:r>
                        <a:t>11.842.285</a:t>
                      </a:r>
                    </a:p>
                  </a:txBody>
                  <a:tcPr marL="128016" marR="91440" marT="91440" marB="64008" anchor="ctr">
                    <a:solidFill>
                      <a:srgbClr val="F0F4FC"/>
                    </a:solidFill>
                  </a:tcPr>
                </a:tc>
              </a:tr>
            </a:tbl>
          </a:graphicData>
        </a:graphic>
      </p:graphicFrame>
      <p:sp>
        <p:nvSpPr>
          <p:cNvPr id="11" name="Rounded Rectangle 10"/>
          <p:cNvSpPr/>
          <p:nvPr/>
        </p:nvSpPr>
        <p:spPr>
          <a:xfrm>
            <a:off x="566928" y="5824728"/>
            <a:ext cx="11064240" cy="438912"/>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49808" y="5907024"/>
            <a:ext cx="10698480" cy="329184"/>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Integrity đã lưu: TRAIN kết thúc trước VAL; VAL kết thúc trước TEST.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04 DATA PREPROCESSING</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ID mapping và cold-start</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14 / 52</a:t>
            </a:r>
          </a:p>
        </p:txBody>
      </p:sp>
      <p:sp>
        <p:nvSpPr>
          <p:cNvPr id="8" name="Rectangle 7"/>
          <p:cNvSpPr/>
          <p:nvPr/>
        </p:nvSpPr>
        <p:spPr>
          <a:xfrm>
            <a:off x="566928" y="6391656"/>
            <a:ext cx="2978833"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66928" y="1719072"/>
            <a:ext cx="6995160" cy="3877056"/>
          </a:xfrm>
          <a:prstGeom prst="roundRect">
            <a:avLst>
              <a:gd name="adj" fmla="val 9000"/>
            </a:avLst>
          </a:prstGeom>
          <a:solidFill>
            <a:srgbClr val="FFFFFF"/>
          </a:solidFill>
          <a:ln w="10160">
            <a:solidFill>
              <a:srgbClr val="DF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14_cold_start.png"/>
          <p:cNvPicPr>
            <a:picLocks noChangeAspect="1"/>
          </p:cNvPicPr>
          <p:nvPr/>
        </p:nvPicPr>
        <p:blipFill>
          <a:blip r:embed="rId2"/>
          <a:stretch>
            <a:fillRect/>
          </a:stretch>
        </p:blipFill>
        <p:spPr>
          <a:xfrm>
            <a:off x="792341" y="1847088"/>
            <a:ext cx="6544332" cy="3611880"/>
          </a:xfrm>
          <a:prstGeom prst="rect">
            <a:avLst/>
          </a:prstGeom>
        </p:spPr>
      </p:pic>
      <p:sp>
        <p:nvSpPr>
          <p:cNvPr id="11" name="Oval 10"/>
          <p:cNvSpPr/>
          <p:nvPr/>
        </p:nvSpPr>
        <p:spPr>
          <a:xfrm>
            <a:off x="7863840" y="2002536"/>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55864" y="1901952"/>
            <a:ext cx="3465576" cy="804672"/>
          </a:xfrm>
          <a:prstGeom prst="rect">
            <a:avLst/>
          </a:prstGeom>
          <a:noFill/>
        </p:spPr>
        <p:txBody>
          <a:bodyPr wrap="square" lIns="0" rIns="0" tIns="0" bIns="0">
            <a:spAutoFit/>
          </a:bodyPr>
          <a:lstStyle/>
          <a:p>
            <a:pPr algn="l">
              <a:spcBef>
                <a:spcPts val="0"/>
              </a:spcBef>
              <a:spcAft>
                <a:spcPts val="600"/>
              </a:spcAft>
              <a:defRPr sz="1900" b="0">
                <a:solidFill>
                  <a:srgbClr val="172B49"/>
                </a:solidFill>
                <a:latin typeface="Arial"/>
              </a:defRPr>
            </a:pPr>
            <a:r>
              <a:t>Mapping chỉ xây từ TRAIN.</a:t>
            </a:r>
          </a:p>
        </p:txBody>
      </p:sp>
      <p:sp>
        <p:nvSpPr>
          <p:cNvPr id="13" name="Oval 12"/>
          <p:cNvSpPr/>
          <p:nvPr/>
        </p:nvSpPr>
        <p:spPr>
          <a:xfrm>
            <a:off x="7863840" y="2889503"/>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55864" y="2788920"/>
            <a:ext cx="3465576" cy="804672"/>
          </a:xfrm>
          <a:prstGeom prst="rect">
            <a:avLst/>
          </a:prstGeom>
          <a:noFill/>
        </p:spPr>
        <p:txBody>
          <a:bodyPr wrap="square" lIns="0" rIns="0" tIns="0" bIns="0">
            <a:spAutoFit/>
          </a:bodyPr>
          <a:lstStyle/>
          <a:p>
            <a:pPr algn="l">
              <a:spcBef>
                <a:spcPts val="0"/>
              </a:spcBef>
              <a:spcAft>
                <a:spcPts val="600"/>
              </a:spcAft>
              <a:defRPr sz="1900" b="0">
                <a:solidFill>
                  <a:srgbClr val="172B49"/>
                </a:solidFill>
                <a:latin typeface="Arial"/>
              </a:defRPr>
            </a:pPr>
            <a:r>
              <a:t>2.581.378 user và 27.328.461 item.</a:t>
            </a:r>
          </a:p>
        </p:txBody>
      </p:sp>
      <p:sp>
        <p:nvSpPr>
          <p:cNvPr id="15" name="Oval 14"/>
          <p:cNvSpPr/>
          <p:nvPr/>
        </p:nvSpPr>
        <p:spPr>
          <a:xfrm>
            <a:off x="7863840" y="3776472"/>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55864" y="3675887"/>
            <a:ext cx="3465576" cy="804672"/>
          </a:xfrm>
          <a:prstGeom prst="rect">
            <a:avLst/>
          </a:prstGeom>
          <a:noFill/>
        </p:spPr>
        <p:txBody>
          <a:bodyPr wrap="square" lIns="0" rIns="0" tIns="0" bIns="0">
            <a:spAutoFit/>
          </a:bodyPr>
          <a:lstStyle/>
          <a:p>
            <a:pPr algn="l">
              <a:spcBef>
                <a:spcPts val="0"/>
              </a:spcBef>
              <a:spcAft>
                <a:spcPts val="600"/>
              </a:spcAft>
              <a:defRPr sz="1900" b="0">
                <a:solidFill>
                  <a:srgbClr val="172B49"/>
                </a:solidFill>
                <a:latin typeface="Arial"/>
              </a:defRPr>
            </a:pPr>
            <a:r>
              <a:t>TEST cold-item: 32,75% dòng.</a:t>
            </a:r>
          </a:p>
        </p:txBody>
      </p:sp>
      <p:sp>
        <p:nvSpPr>
          <p:cNvPr id="17" name="Oval 16"/>
          <p:cNvSpPr/>
          <p:nvPr/>
        </p:nvSpPr>
        <p:spPr>
          <a:xfrm>
            <a:off x="7863840" y="4663440"/>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55864" y="4562856"/>
            <a:ext cx="3465576" cy="804672"/>
          </a:xfrm>
          <a:prstGeom prst="rect">
            <a:avLst/>
          </a:prstGeom>
          <a:noFill/>
        </p:spPr>
        <p:txBody>
          <a:bodyPr wrap="square" lIns="0" rIns="0" tIns="0" bIns="0">
            <a:spAutoFit/>
          </a:bodyPr>
          <a:lstStyle/>
          <a:p>
            <a:pPr algn="l">
              <a:spcBef>
                <a:spcPts val="0"/>
              </a:spcBef>
              <a:spcAft>
                <a:spcPts val="600"/>
              </a:spcAft>
              <a:defRPr sz="1900" b="0">
                <a:solidFill>
                  <a:srgbClr val="172B49"/>
                </a:solidFill>
                <a:latin typeface="Arial"/>
              </a:defRPr>
            </a:pPr>
            <a:r>
              <a:t>Tách warm, cold-user, cold-item và cold-both.</a:t>
            </a:r>
          </a:p>
        </p:txBody>
      </p:sp>
      <p:sp>
        <p:nvSpPr>
          <p:cNvPr id="19" name="Rounded Rectangle 18"/>
          <p:cNvSpPr/>
          <p:nvPr/>
        </p:nvSpPr>
        <p:spPr>
          <a:xfrm>
            <a:off x="566928" y="5824728"/>
            <a:ext cx="11064240" cy="438912"/>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5907024"/>
            <a:ext cx="10698480" cy="329184"/>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Cold-user và cold-item có phần giao nhau; không cộng ba cột thành tổng.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05 EXPLORATORY DATA ANALYSIS</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EDA: mất cân bằng hành vi</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15 / 52</a:t>
            </a:r>
          </a:p>
        </p:txBody>
      </p:sp>
      <p:sp>
        <p:nvSpPr>
          <p:cNvPr id="8" name="Rectangle 7"/>
          <p:cNvSpPr/>
          <p:nvPr/>
        </p:nvSpPr>
        <p:spPr>
          <a:xfrm>
            <a:off x="566928" y="6391656"/>
            <a:ext cx="3191607"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15_event_mapping_corrected.png"/>
          <p:cNvPicPr>
            <a:picLocks noChangeAspect="1"/>
          </p:cNvPicPr>
          <p:nvPr/>
        </p:nvPicPr>
        <p:blipFill>
          <a:blip r:embed="rId2"/>
          <a:stretch>
            <a:fillRect/>
          </a:stretch>
        </p:blipFill>
        <p:spPr>
          <a:xfrm>
            <a:off x="1812466" y="1609344"/>
            <a:ext cx="8591451" cy="4279392"/>
          </a:xfrm>
          <a:prstGeom prst="rect">
            <a:avLst/>
          </a:prstGeom>
        </p:spPr>
      </p:pic>
      <p:sp>
        <p:nvSpPr>
          <p:cNvPr id="10" name="Rounded Rectangle 9"/>
          <p:cNvSpPr/>
          <p:nvPr/>
        </p:nvSpPr>
        <p:spPr>
          <a:xfrm>
            <a:off x="566928" y="5897880"/>
            <a:ext cx="11064240" cy="365760"/>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5980176"/>
            <a:ext cx="10698480" cy="256032"/>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Tỷ lệ đếm hành vi, không phải conversion rate. Cart và offer đã dùng mapping đúng.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05 EXPLORATORY DATA ANALYSIS</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EDA: người dùng có phân bố dài đuôi</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16 / 52</a:t>
            </a:r>
          </a:p>
        </p:txBody>
      </p:sp>
      <p:sp>
        <p:nvSpPr>
          <p:cNvPr id="8" name="Rectangle 7"/>
          <p:cNvSpPr/>
          <p:nvPr/>
        </p:nvSpPr>
        <p:spPr>
          <a:xfrm>
            <a:off x="566928" y="6391656"/>
            <a:ext cx="3404381"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66928" y="1719072"/>
            <a:ext cx="6995160" cy="3877056"/>
          </a:xfrm>
          <a:prstGeom prst="roundRect">
            <a:avLst>
              <a:gd name="adj" fmla="val 9000"/>
            </a:avLst>
          </a:prstGeom>
          <a:solidFill>
            <a:srgbClr val="FFFFFF"/>
          </a:solidFill>
          <a:ln w="10160">
            <a:solidFill>
              <a:srgbClr val="DF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05_user_interactions_log.png"/>
          <p:cNvPicPr>
            <a:picLocks noChangeAspect="1"/>
          </p:cNvPicPr>
          <p:nvPr/>
        </p:nvPicPr>
        <p:blipFill>
          <a:blip r:embed="rId2"/>
          <a:stretch>
            <a:fillRect/>
          </a:stretch>
        </p:blipFill>
        <p:spPr>
          <a:xfrm>
            <a:off x="676656" y="2169890"/>
            <a:ext cx="6775703" cy="2966275"/>
          </a:xfrm>
          <a:prstGeom prst="rect">
            <a:avLst/>
          </a:prstGeom>
        </p:spPr>
      </p:pic>
      <p:sp>
        <p:nvSpPr>
          <p:cNvPr id="11" name="Oval 10"/>
          <p:cNvSpPr/>
          <p:nvPr/>
        </p:nvSpPr>
        <p:spPr>
          <a:xfrm>
            <a:off x="7863840" y="2002536"/>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55864" y="1901952"/>
            <a:ext cx="3465576" cy="804672"/>
          </a:xfrm>
          <a:prstGeom prst="rect">
            <a:avLst/>
          </a:prstGeom>
          <a:noFill/>
        </p:spPr>
        <p:txBody>
          <a:bodyPr wrap="square" lIns="0" rIns="0" tIns="0" bIns="0">
            <a:spAutoFit/>
          </a:bodyPr>
          <a:lstStyle/>
          <a:p>
            <a:pPr algn="l">
              <a:spcBef>
                <a:spcPts val="0"/>
              </a:spcBef>
              <a:spcAft>
                <a:spcPts val="600"/>
              </a:spcAft>
              <a:defRPr sz="1900" b="0">
                <a:solidFill>
                  <a:srgbClr val="172B49"/>
                </a:solidFill>
                <a:latin typeface="Arial"/>
              </a:defRPr>
            </a:pPr>
            <a:r>
              <a:t>Mean 63,23; median chỉ 12 tương tác/user.</a:t>
            </a:r>
          </a:p>
        </p:txBody>
      </p:sp>
      <p:sp>
        <p:nvSpPr>
          <p:cNvPr id="13" name="Oval 12"/>
          <p:cNvSpPr/>
          <p:nvPr/>
        </p:nvSpPr>
        <p:spPr>
          <a:xfrm>
            <a:off x="7863840" y="2889503"/>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55864" y="2788920"/>
            <a:ext cx="3465576" cy="804672"/>
          </a:xfrm>
          <a:prstGeom prst="rect">
            <a:avLst/>
          </a:prstGeom>
          <a:noFill/>
        </p:spPr>
        <p:txBody>
          <a:bodyPr wrap="square" lIns="0" rIns="0" tIns="0" bIns="0">
            <a:spAutoFit/>
          </a:bodyPr>
          <a:lstStyle/>
          <a:p>
            <a:pPr algn="l">
              <a:spcBef>
                <a:spcPts val="0"/>
              </a:spcBef>
              <a:spcAft>
                <a:spcPts val="600"/>
              </a:spcAft>
              <a:defRPr sz="1900" b="0">
                <a:solidFill>
                  <a:srgbClr val="172B49"/>
                </a:solidFill>
                <a:latin typeface="Arial"/>
              </a:defRPr>
            </a:pPr>
            <a:r>
              <a:t>P95 = 275; P99 = 791.</a:t>
            </a:r>
          </a:p>
        </p:txBody>
      </p:sp>
      <p:sp>
        <p:nvSpPr>
          <p:cNvPr id="15" name="Oval 14"/>
          <p:cNvSpPr/>
          <p:nvPr/>
        </p:nvSpPr>
        <p:spPr>
          <a:xfrm>
            <a:off x="7863840" y="3776472"/>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55864" y="3675887"/>
            <a:ext cx="3465576" cy="804672"/>
          </a:xfrm>
          <a:prstGeom prst="rect">
            <a:avLst/>
          </a:prstGeom>
          <a:noFill/>
        </p:spPr>
        <p:txBody>
          <a:bodyPr wrap="square" lIns="0" rIns="0" tIns="0" bIns="0">
            <a:spAutoFit/>
          </a:bodyPr>
          <a:lstStyle/>
          <a:p>
            <a:pPr algn="l">
              <a:spcBef>
                <a:spcPts val="0"/>
              </a:spcBef>
              <a:spcAft>
                <a:spcPts val="600"/>
              </a:spcAft>
              <a:defRPr sz="1900" b="0">
                <a:solidFill>
                  <a:srgbClr val="172B49"/>
                </a:solidFill>
                <a:latin typeface="Arial"/>
              </a:defRPr>
            </a:pPr>
            <a:r>
              <a:t>13,31% user có đúng một tương tác.</a:t>
            </a:r>
          </a:p>
        </p:txBody>
      </p:sp>
      <p:sp>
        <p:nvSpPr>
          <p:cNvPr id="17" name="Oval 16"/>
          <p:cNvSpPr/>
          <p:nvPr/>
        </p:nvSpPr>
        <p:spPr>
          <a:xfrm>
            <a:off x="7863840" y="4663440"/>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55864" y="4562856"/>
            <a:ext cx="3465576" cy="804672"/>
          </a:xfrm>
          <a:prstGeom prst="rect">
            <a:avLst/>
          </a:prstGeom>
          <a:noFill/>
        </p:spPr>
        <p:txBody>
          <a:bodyPr wrap="square" lIns="0" rIns="0" tIns="0" bIns="0">
            <a:spAutoFit/>
          </a:bodyPr>
          <a:lstStyle/>
          <a:p>
            <a:pPr algn="l">
              <a:spcBef>
                <a:spcPts val="0"/>
              </a:spcBef>
              <a:spcAft>
                <a:spcPts val="600"/>
              </a:spcAft>
              <a:defRPr sz="1900" b="0">
                <a:solidFill>
                  <a:srgbClr val="172B49"/>
                </a:solidFill>
                <a:latin typeface="Arial"/>
              </a:defRPr>
            </a:pPr>
            <a:r>
              <a:t>31,36% user có dưới 5 tương tác.</a:t>
            </a:r>
          </a:p>
        </p:txBody>
      </p:sp>
      <p:sp>
        <p:nvSpPr>
          <p:cNvPr id="19" name="Rounded Rectangle 18"/>
          <p:cNvSpPr/>
          <p:nvPr/>
        </p:nvSpPr>
        <p:spPr>
          <a:xfrm>
            <a:off x="566928" y="5824728"/>
            <a:ext cx="11064240" cy="438912"/>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5907024"/>
            <a:ext cx="10698480" cy="329184"/>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Histogram trên mẫu 100.000 user; các số thống kê từ toàn bộ user.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05 EXPLORATORY DATA ANALYSIS</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EDA: long-tail của sản phẩm</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17 / 52</a:t>
            </a:r>
          </a:p>
        </p:txBody>
      </p:sp>
      <p:sp>
        <p:nvSpPr>
          <p:cNvPr id="8" name="Rectangle 7"/>
          <p:cNvSpPr/>
          <p:nvPr/>
        </p:nvSpPr>
        <p:spPr>
          <a:xfrm>
            <a:off x="566928" y="6391656"/>
            <a:ext cx="3617155"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06_item_interactions_log.png"/>
          <p:cNvPicPr>
            <a:picLocks noChangeAspect="1"/>
          </p:cNvPicPr>
          <p:nvPr/>
        </p:nvPicPr>
        <p:blipFill>
          <a:blip r:embed="rId2"/>
          <a:stretch>
            <a:fillRect/>
          </a:stretch>
        </p:blipFill>
        <p:spPr>
          <a:xfrm>
            <a:off x="640080" y="2279529"/>
            <a:ext cx="5376671" cy="2353805"/>
          </a:xfrm>
          <a:prstGeom prst="rect">
            <a:avLst/>
          </a:prstGeom>
        </p:spPr>
      </p:pic>
      <p:pic>
        <p:nvPicPr>
          <p:cNvPr id="10" name="Picture 9" descr="06_popularity_pareto.png"/>
          <p:cNvPicPr>
            <a:picLocks noChangeAspect="1"/>
          </p:cNvPicPr>
          <p:nvPr/>
        </p:nvPicPr>
        <p:blipFill>
          <a:blip r:embed="rId3"/>
          <a:stretch>
            <a:fillRect/>
          </a:stretch>
        </p:blipFill>
        <p:spPr>
          <a:xfrm>
            <a:off x="6490632" y="1746503"/>
            <a:ext cx="4812958" cy="3419856"/>
          </a:xfrm>
          <a:prstGeom prst="rect">
            <a:avLst/>
          </a:prstGeom>
        </p:spPr>
      </p:pic>
      <p:sp>
        <p:nvSpPr>
          <p:cNvPr id="11" name="TextBox 10"/>
          <p:cNvSpPr txBox="1"/>
          <p:nvPr/>
        </p:nvSpPr>
        <p:spPr>
          <a:xfrm>
            <a:off x="768096" y="5257800"/>
            <a:ext cx="3291840" cy="457200"/>
          </a:xfrm>
          <a:prstGeom prst="rect">
            <a:avLst/>
          </a:prstGeom>
          <a:noFill/>
        </p:spPr>
        <p:txBody>
          <a:bodyPr wrap="square" lIns="0" rIns="0" tIns="0" bIns="0">
            <a:spAutoFit/>
          </a:bodyPr>
          <a:lstStyle/>
          <a:p>
            <a:pPr algn="l">
              <a:spcBef>
                <a:spcPts val="0"/>
              </a:spcBef>
              <a:spcAft>
                <a:spcPts val="600"/>
              </a:spcAft>
              <a:defRPr sz="3000" b="1">
                <a:solidFill>
                  <a:srgbClr val="244BFF"/>
                </a:solidFill>
                <a:latin typeface="Arial"/>
              </a:defRPr>
            </a:pPr>
            <a:r>
              <a:t>2</a:t>
            </a:r>
          </a:p>
        </p:txBody>
      </p:sp>
      <p:sp>
        <p:nvSpPr>
          <p:cNvPr id="12" name="TextBox 11"/>
          <p:cNvSpPr txBox="1"/>
          <p:nvPr/>
        </p:nvSpPr>
        <p:spPr>
          <a:xfrm>
            <a:off x="768096" y="5797296"/>
            <a:ext cx="3291840" cy="310896"/>
          </a:xfrm>
          <a:prstGeom prst="rect">
            <a:avLst/>
          </a:prstGeom>
          <a:noFill/>
        </p:spPr>
        <p:txBody>
          <a:bodyPr wrap="square" lIns="0" rIns="0" tIns="0" bIns="0">
            <a:spAutoFit/>
          </a:bodyPr>
          <a:lstStyle/>
          <a:p>
            <a:pPr algn="l">
              <a:spcBef>
                <a:spcPts val="0"/>
              </a:spcBef>
              <a:spcAft>
                <a:spcPts val="600"/>
              </a:spcAft>
              <a:defRPr sz="1400" b="0">
                <a:solidFill>
                  <a:srgbClr val="5B6B83"/>
                </a:solidFill>
                <a:latin typeface="Arial"/>
              </a:defRPr>
            </a:pPr>
            <a:r>
              <a:t>Trung vị tương tác/item</a:t>
            </a:r>
          </a:p>
        </p:txBody>
      </p:sp>
      <p:sp>
        <p:nvSpPr>
          <p:cNvPr id="13" name="TextBox 12"/>
          <p:cNvSpPr txBox="1"/>
          <p:nvPr/>
        </p:nvSpPr>
        <p:spPr>
          <a:xfrm>
            <a:off x="4507992" y="5257800"/>
            <a:ext cx="3291840" cy="457200"/>
          </a:xfrm>
          <a:prstGeom prst="rect">
            <a:avLst/>
          </a:prstGeom>
          <a:noFill/>
        </p:spPr>
        <p:txBody>
          <a:bodyPr wrap="square" lIns="0" rIns="0" tIns="0" bIns="0">
            <a:spAutoFit/>
          </a:bodyPr>
          <a:lstStyle/>
          <a:p>
            <a:pPr algn="l">
              <a:spcBef>
                <a:spcPts val="0"/>
              </a:spcBef>
              <a:spcAft>
                <a:spcPts val="600"/>
              </a:spcAft>
              <a:defRPr sz="3000" b="1">
                <a:solidFill>
                  <a:srgbClr val="244BFF"/>
                </a:solidFill>
                <a:latin typeface="Arial"/>
              </a:defRPr>
            </a:pPr>
            <a:r>
              <a:t>71,17%</a:t>
            </a:r>
          </a:p>
        </p:txBody>
      </p:sp>
      <p:sp>
        <p:nvSpPr>
          <p:cNvPr id="14" name="TextBox 13"/>
          <p:cNvSpPr txBox="1"/>
          <p:nvPr/>
        </p:nvSpPr>
        <p:spPr>
          <a:xfrm>
            <a:off x="4507992" y="5797296"/>
            <a:ext cx="3291840" cy="310896"/>
          </a:xfrm>
          <a:prstGeom prst="rect">
            <a:avLst/>
          </a:prstGeom>
          <a:noFill/>
        </p:spPr>
        <p:txBody>
          <a:bodyPr wrap="square" lIns="0" rIns="0" tIns="0" bIns="0">
            <a:spAutoFit/>
          </a:bodyPr>
          <a:lstStyle/>
          <a:p>
            <a:pPr algn="l">
              <a:spcBef>
                <a:spcPts val="0"/>
              </a:spcBef>
              <a:spcAft>
                <a:spcPts val="600"/>
              </a:spcAft>
              <a:defRPr sz="1400" b="0">
                <a:solidFill>
                  <a:srgbClr val="5B6B83"/>
                </a:solidFill>
                <a:latin typeface="Arial"/>
              </a:defRPr>
            </a:pPr>
            <a:r>
              <a:t>Item có dưới 5 tương tác</a:t>
            </a:r>
          </a:p>
        </p:txBody>
      </p:sp>
      <p:sp>
        <p:nvSpPr>
          <p:cNvPr id="15" name="TextBox 14"/>
          <p:cNvSpPr txBox="1"/>
          <p:nvPr/>
        </p:nvSpPr>
        <p:spPr>
          <a:xfrm>
            <a:off x="8266175" y="5257800"/>
            <a:ext cx="3291840" cy="457200"/>
          </a:xfrm>
          <a:prstGeom prst="rect">
            <a:avLst/>
          </a:prstGeom>
          <a:noFill/>
        </p:spPr>
        <p:txBody>
          <a:bodyPr wrap="square" lIns="0" rIns="0" tIns="0" bIns="0">
            <a:spAutoFit/>
          </a:bodyPr>
          <a:lstStyle/>
          <a:p>
            <a:pPr algn="l">
              <a:spcBef>
                <a:spcPts val="0"/>
              </a:spcBef>
              <a:spcAft>
                <a:spcPts val="600"/>
              </a:spcAft>
              <a:defRPr sz="3000" b="1">
                <a:solidFill>
                  <a:srgbClr val="244BFF"/>
                </a:solidFill>
                <a:latin typeface="Arial"/>
              </a:defRPr>
            </a:pPr>
            <a:r>
              <a:t>85,59%</a:t>
            </a:r>
          </a:p>
        </p:txBody>
      </p:sp>
      <p:sp>
        <p:nvSpPr>
          <p:cNvPr id="16" name="TextBox 15"/>
          <p:cNvSpPr txBox="1"/>
          <p:nvPr/>
        </p:nvSpPr>
        <p:spPr>
          <a:xfrm>
            <a:off x="8266175" y="5797296"/>
            <a:ext cx="3291840" cy="310896"/>
          </a:xfrm>
          <a:prstGeom prst="rect">
            <a:avLst/>
          </a:prstGeom>
          <a:noFill/>
        </p:spPr>
        <p:txBody>
          <a:bodyPr wrap="square" lIns="0" rIns="0" tIns="0" bIns="0">
            <a:spAutoFit/>
          </a:bodyPr>
          <a:lstStyle/>
          <a:p>
            <a:pPr algn="l">
              <a:spcBef>
                <a:spcPts val="0"/>
              </a:spcBef>
              <a:spcAft>
                <a:spcPts val="600"/>
              </a:spcAft>
              <a:defRPr sz="1400" b="0">
                <a:solidFill>
                  <a:srgbClr val="5B6B83"/>
                </a:solidFill>
                <a:latin typeface="Arial"/>
              </a:defRPr>
            </a:pPr>
            <a:r>
              <a:t>Item có dưới 10 tương tác</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05 EXPLORATORY DATA ANALYSIS</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EDA: các phiên tương tác thường ngắn</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18 / 52</a:t>
            </a:r>
          </a:p>
        </p:txBody>
      </p:sp>
      <p:sp>
        <p:nvSpPr>
          <p:cNvPr id="8" name="Rectangle 7"/>
          <p:cNvSpPr/>
          <p:nvPr/>
        </p:nvSpPr>
        <p:spPr>
          <a:xfrm>
            <a:off x="566928" y="6391656"/>
            <a:ext cx="3829929"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07_session_length.png"/>
          <p:cNvPicPr>
            <a:picLocks noChangeAspect="1"/>
          </p:cNvPicPr>
          <p:nvPr/>
        </p:nvPicPr>
        <p:blipFill>
          <a:blip r:embed="rId2"/>
          <a:stretch>
            <a:fillRect/>
          </a:stretch>
        </p:blipFill>
        <p:spPr>
          <a:xfrm>
            <a:off x="676656" y="2188079"/>
            <a:ext cx="5285232" cy="2317248"/>
          </a:xfrm>
          <a:prstGeom prst="rect">
            <a:avLst/>
          </a:prstGeom>
        </p:spPr>
      </p:pic>
      <p:pic>
        <p:nvPicPr>
          <p:cNvPr id="10" name="Picture 9" descr="07_session_duration.png"/>
          <p:cNvPicPr>
            <a:picLocks noChangeAspect="1"/>
          </p:cNvPicPr>
          <p:nvPr/>
        </p:nvPicPr>
        <p:blipFill>
          <a:blip r:embed="rId3"/>
          <a:stretch>
            <a:fillRect/>
          </a:stretch>
        </p:blipFill>
        <p:spPr>
          <a:xfrm>
            <a:off x="6254496" y="2188079"/>
            <a:ext cx="5285232" cy="2317248"/>
          </a:xfrm>
          <a:prstGeom prst="rect">
            <a:avLst/>
          </a:prstGeom>
        </p:spPr>
      </p:pic>
      <p:sp>
        <p:nvSpPr>
          <p:cNvPr id="11" name="TextBox 10"/>
          <p:cNvSpPr txBox="1"/>
          <p:nvPr/>
        </p:nvSpPr>
        <p:spPr>
          <a:xfrm>
            <a:off x="768096" y="5175504"/>
            <a:ext cx="3291840" cy="475488"/>
          </a:xfrm>
          <a:prstGeom prst="rect">
            <a:avLst/>
          </a:prstGeom>
          <a:noFill/>
        </p:spPr>
        <p:txBody>
          <a:bodyPr wrap="square" lIns="0" rIns="0" tIns="0" bIns="0">
            <a:spAutoFit/>
          </a:bodyPr>
          <a:lstStyle/>
          <a:p>
            <a:pPr algn="l">
              <a:spcBef>
                <a:spcPts val="0"/>
              </a:spcBef>
              <a:spcAft>
                <a:spcPts val="600"/>
              </a:spcAft>
              <a:defRPr sz="3000" b="1">
                <a:solidFill>
                  <a:srgbClr val="244BFF"/>
                </a:solidFill>
                <a:latin typeface="Arial"/>
              </a:defRPr>
            </a:pPr>
            <a:r>
              <a:t>34,83M</a:t>
            </a:r>
          </a:p>
        </p:txBody>
      </p:sp>
      <p:sp>
        <p:nvSpPr>
          <p:cNvPr id="12" name="TextBox 11"/>
          <p:cNvSpPr txBox="1"/>
          <p:nvPr/>
        </p:nvSpPr>
        <p:spPr>
          <a:xfrm>
            <a:off x="768096" y="5724144"/>
            <a:ext cx="3291840" cy="393192"/>
          </a:xfrm>
          <a:prstGeom prst="rect">
            <a:avLst/>
          </a:prstGeom>
          <a:noFill/>
        </p:spPr>
        <p:txBody>
          <a:bodyPr wrap="square" lIns="0" rIns="0" tIns="0" bIns="0">
            <a:spAutoFit/>
          </a:bodyPr>
          <a:lstStyle/>
          <a:p>
            <a:pPr algn="l">
              <a:spcBef>
                <a:spcPts val="0"/>
              </a:spcBef>
              <a:spcAft>
                <a:spcPts val="600"/>
              </a:spcAft>
              <a:defRPr sz="1400" b="0">
                <a:solidFill>
                  <a:srgbClr val="5B6B83"/>
                </a:solidFill>
                <a:latin typeface="Arial"/>
              </a:defRPr>
            </a:pPr>
            <a:r>
              <a:t>Session theo user + session_id</a:t>
            </a:r>
          </a:p>
        </p:txBody>
      </p:sp>
      <p:sp>
        <p:nvSpPr>
          <p:cNvPr id="13" name="TextBox 12"/>
          <p:cNvSpPr txBox="1"/>
          <p:nvPr/>
        </p:nvSpPr>
        <p:spPr>
          <a:xfrm>
            <a:off x="4507992" y="5175504"/>
            <a:ext cx="3291840" cy="475488"/>
          </a:xfrm>
          <a:prstGeom prst="rect">
            <a:avLst/>
          </a:prstGeom>
          <a:noFill/>
        </p:spPr>
        <p:txBody>
          <a:bodyPr wrap="square" lIns="0" rIns="0" tIns="0" bIns="0">
            <a:spAutoFit/>
          </a:bodyPr>
          <a:lstStyle/>
          <a:p>
            <a:pPr algn="l">
              <a:spcBef>
                <a:spcPts val="0"/>
              </a:spcBef>
              <a:spcAft>
                <a:spcPts val="600"/>
              </a:spcAft>
              <a:defRPr sz="3000" b="1">
                <a:solidFill>
                  <a:srgbClr val="244BFF"/>
                </a:solidFill>
                <a:latin typeface="Arial"/>
              </a:defRPr>
            </a:pPr>
            <a:r>
              <a:t>2</a:t>
            </a:r>
          </a:p>
        </p:txBody>
      </p:sp>
      <p:sp>
        <p:nvSpPr>
          <p:cNvPr id="14" name="TextBox 13"/>
          <p:cNvSpPr txBox="1"/>
          <p:nvPr/>
        </p:nvSpPr>
        <p:spPr>
          <a:xfrm>
            <a:off x="4507992" y="5724144"/>
            <a:ext cx="3291840" cy="393192"/>
          </a:xfrm>
          <a:prstGeom prst="rect">
            <a:avLst/>
          </a:prstGeom>
          <a:noFill/>
        </p:spPr>
        <p:txBody>
          <a:bodyPr wrap="square" lIns="0" rIns="0" tIns="0" bIns="0">
            <a:spAutoFit/>
          </a:bodyPr>
          <a:lstStyle/>
          <a:p>
            <a:pPr algn="l">
              <a:spcBef>
                <a:spcPts val="0"/>
              </a:spcBef>
              <a:spcAft>
                <a:spcPts val="600"/>
              </a:spcAft>
              <a:defRPr sz="1400" b="0">
                <a:solidFill>
                  <a:srgbClr val="5B6B83"/>
                </a:solidFill>
                <a:latin typeface="Arial"/>
              </a:defRPr>
            </a:pPr>
            <a:r>
              <a:t>Trung vị tương tác/session</a:t>
            </a:r>
          </a:p>
        </p:txBody>
      </p:sp>
      <p:sp>
        <p:nvSpPr>
          <p:cNvPr id="15" name="TextBox 14"/>
          <p:cNvSpPr txBox="1"/>
          <p:nvPr/>
        </p:nvSpPr>
        <p:spPr>
          <a:xfrm>
            <a:off x="8266175" y="5175504"/>
            <a:ext cx="3291840" cy="475488"/>
          </a:xfrm>
          <a:prstGeom prst="rect">
            <a:avLst/>
          </a:prstGeom>
          <a:noFill/>
        </p:spPr>
        <p:txBody>
          <a:bodyPr wrap="square" lIns="0" rIns="0" tIns="0" bIns="0">
            <a:spAutoFit/>
          </a:bodyPr>
          <a:lstStyle/>
          <a:p>
            <a:pPr algn="l">
              <a:spcBef>
                <a:spcPts val="0"/>
              </a:spcBef>
              <a:spcAft>
                <a:spcPts val="600"/>
              </a:spcAft>
              <a:defRPr sz="3000" b="1">
                <a:solidFill>
                  <a:srgbClr val="244BFF"/>
                </a:solidFill>
                <a:latin typeface="Arial"/>
              </a:defRPr>
            </a:pPr>
            <a:r>
              <a:t>37 giây</a:t>
            </a:r>
          </a:p>
        </p:txBody>
      </p:sp>
      <p:sp>
        <p:nvSpPr>
          <p:cNvPr id="16" name="TextBox 15"/>
          <p:cNvSpPr txBox="1"/>
          <p:nvPr/>
        </p:nvSpPr>
        <p:spPr>
          <a:xfrm>
            <a:off x="8266175" y="5724144"/>
            <a:ext cx="3291840" cy="393192"/>
          </a:xfrm>
          <a:prstGeom prst="rect">
            <a:avLst/>
          </a:prstGeom>
          <a:noFill/>
        </p:spPr>
        <p:txBody>
          <a:bodyPr wrap="square" lIns="0" rIns="0" tIns="0" bIns="0">
            <a:spAutoFit/>
          </a:bodyPr>
          <a:lstStyle/>
          <a:p>
            <a:pPr algn="l">
              <a:spcBef>
                <a:spcPts val="0"/>
              </a:spcBef>
              <a:spcAft>
                <a:spcPts val="600"/>
              </a:spcAft>
              <a:defRPr sz="1400" b="0">
                <a:solidFill>
                  <a:srgbClr val="5B6B83"/>
                </a:solidFill>
                <a:latin typeface="Arial"/>
              </a:defRPr>
            </a:pPr>
            <a:r>
              <a:t>Trung vị thời lượng</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05 EXPLORATORY DATA ANALYSIS</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EDA: thời gian và biên dữ liệu</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19 / 52</a:t>
            </a:r>
          </a:p>
        </p:txBody>
      </p:sp>
      <p:sp>
        <p:nvSpPr>
          <p:cNvPr id="8" name="Rectangle 7"/>
          <p:cNvSpPr/>
          <p:nvPr/>
        </p:nvSpPr>
        <p:spPr>
          <a:xfrm>
            <a:off x="566928" y="6391656"/>
            <a:ext cx="4042703"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09_daily_interactions.png"/>
          <p:cNvPicPr>
            <a:picLocks noChangeAspect="1"/>
          </p:cNvPicPr>
          <p:nvPr/>
        </p:nvPicPr>
        <p:blipFill>
          <a:blip r:embed="rId2"/>
          <a:stretch>
            <a:fillRect/>
          </a:stretch>
        </p:blipFill>
        <p:spPr>
          <a:xfrm>
            <a:off x="986986" y="1755648"/>
            <a:ext cx="10224123" cy="3346704"/>
          </a:xfrm>
          <a:prstGeom prst="rect">
            <a:avLst/>
          </a:prstGeom>
        </p:spPr>
      </p:pic>
      <p:sp>
        <p:nvSpPr>
          <p:cNvPr id="10" name="Rounded Rectangle 9"/>
          <p:cNvSpPr/>
          <p:nvPr/>
        </p:nvSpPr>
        <p:spPr>
          <a:xfrm>
            <a:off x="667512" y="5321808"/>
            <a:ext cx="10835640" cy="722376"/>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5468112"/>
            <a:ext cx="1975104" cy="365760"/>
          </a:xfrm>
          <a:prstGeom prst="rect">
            <a:avLst/>
          </a:prstGeom>
          <a:noFill/>
        </p:spPr>
        <p:txBody>
          <a:bodyPr wrap="square" lIns="0" rIns="0" tIns="0" bIns="0">
            <a:spAutoFit/>
          </a:bodyPr>
          <a:lstStyle/>
          <a:p>
            <a:pPr algn="l">
              <a:spcBef>
                <a:spcPts val="0"/>
              </a:spcBef>
              <a:spcAft>
                <a:spcPts val="600"/>
              </a:spcAft>
              <a:defRPr sz="2200" b="1">
                <a:solidFill>
                  <a:srgbClr val="244BFF"/>
                </a:solidFill>
                <a:latin typeface="Arial"/>
              </a:defRPr>
            </a:pPr>
            <a:r>
              <a:t>31/05: 88</a:t>
            </a:r>
          </a:p>
        </p:txBody>
      </p:sp>
      <p:sp>
        <p:nvSpPr>
          <p:cNvPr id="12" name="TextBox 11"/>
          <p:cNvSpPr txBox="1"/>
          <p:nvPr/>
        </p:nvSpPr>
        <p:spPr>
          <a:xfrm>
            <a:off x="2907792" y="5468112"/>
            <a:ext cx="8229600" cy="384048"/>
          </a:xfrm>
          <a:prstGeom prst="rect">
            <a:avLst/>
          </a:prstGeom>
          <a:noFill/>
        </p:spPr>
        <p:txBody>
          <a:bodyPr wrap="square" lIns="0" rIns="0" tIns="0" bIns="0">
            <a:spAutoFit/>
          </a:bodyPr>
          <a:lstStyle/>
          <a:p>
            <a:pPr algn="l">
              <a:spcBef>
                <a:spcPts val="0"/>
              </a:spcBef>
              <a:spcAft>
                <a:spcPts val="600"/>
              </a:spcAft>
              <a:defRPr sz="1800" b="0">
                <a:solidFill>
                  <a:srgbClr val="172B49"/>
                </a:solidFill>
                <a:latin typeface="Arial"/>
              </a:defRPr>
            </a:pPr>
            <a:r>
              <a:t>Ngày cuối không đầy đủ; không diễn giải là nhu cầu thị trường giảm.</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05 EXPLORATORY DATA ANALYSIS</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EDA: mức độ quan tâm theo danh mục</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20 / 52</a:t>
            </a:r>
          </a:p>
        </p:txBody>
      </p:sp>
      <p:sp>
        <p:nvSpPr>
          <p:cNvPr id="8" name="Rectangle 7"/>
          <p:cNvSpPr/>
          <p:nvPr/>
        </p:nvSpPr>
        <p:spPr>
          <a:xfrm>
            <a:off x="566928" y="6391656"/>
            <a:ext cx="4255476"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66928" y="1719072"/>
            <a:ext cx="6995160" cy="3877056"/>
          </a:xfrm>
          <a:prstGeom prst="roundRect">
            <a:avLst>
              <a:gd name="adj" fmla="val 9000"/>
            </a:avLst>
          </a:prstGeom>
          <a:solidFill>
            <a:srgbClr val="FFFFFF"/>
          </a:solidFill>
          <a:ln w="10160">
            <a:solidFill>
              <a:srgbClr val="DF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10_top_category0.png"/>
          <p:cNvPicPr>
            <a:picLocks noChangeAspect="1"/>
          </p:cNvPicPr>
          <p:nvPr/>
        </p:nvPicPr>
        <p:blipFill>
          <a:blip r:embed="rId2"/>
          <a:stretch>
            <a:fillRect/>
          </a:stretch>
        </p:blipFill>
        <p:spPr>
          <a:xfrm>
            <a:off x="676656" y="1976235"/>
            <a:ext cx="6775703" cy="3353585"/>
          </a:xfrm>
          <a:prstGeom prst="rect">
            <a:avLst/>
          </a:prstGeom>
        </p:spPr>
      </p:pic>
      <p:sp>
        <p:nvSpPr>
          <p:cNvPr id="11" name="Oval 10"/>
          <p:cNvSpPr/>
          <p:nvPr/>
        </p:nvSpPr>
        <p:spPr>
          <a:xfrm>
            <a:off x="7863840" y="2002536"/>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55864" y="1901952"/>
            <a:ext cx="3465576" cy="804672"/>
          </a:xfrm>
          <a:prstGeom prst="rect">
            <a:avLst/>
          </a:prstGeom>
          <a:noFill/>
        </p:spPr>
        <p:txBody>
          <a:bodyPr wrap="square" lIns="0" rIns="0" tIns="0" bIns="0">
            <a:spAutoFit/>
          </a:bodyPr>
          <a:lstStyle/>
          <a:p>
            <a:pPr algn="l">
              <a:spcBef>
                <a:spcPts val="0"/>
              </a:spcBef>
              <a:spcAft>
                <a:spcPts val="600"/>
              </a:spcAft>
              <a:defRPr sz="1800" b="0">
                <a:solidFill>
                  <a:srgbClr val="172B49"/>
                </a:solidFill>
                <a:latin typeface="Arial"/>
              </a:defRPr>
            </a:pPr>
            <a:r>
              <a:t>Women: 59,15 triệu tương tác, khoảng 33,83%.</a:t>
            </a:r>
          </a:p>
        </p:txBody>
      </p:sp>
      <p:sp>
        <p:nvSpPr>
          <p:cNvPr id="13" name="Oval 12"/>
          <p:cNvSpPr/>
          <p:nvPr/>
        </p:nvSpPr>
        <p:spPr>
          <a:xfrm>
            <a:off x="7863840" y="2889503"/>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55864" y="2788920"/>
            <a:ext cx="3465576" cy="804672"/>
          </a:xfrm>
          <a:prstGeom prst="rect">
            <a:avLst/>
          </a:prstGeom>
          <a:noFill/>
        </p:spPr>
        <p:txBody>
          <a:bodyPr wrap="square" lIns="0" rIns="0" tIns="0" bIns="0">
            <a:spAutoFit/>
          </a:bodyPr>
          <a:lstStyle/>
          <a:p>
            <a:pPr algn="l">
              <a:spcBef>
                <a:spcPts val="0"/>
              </a:spcBef>
              <a:spcAft>
                <a:spcPts val="600"/>
              </a:spcAft>
              <a:defRPr sz="1800" b="0">
                <a:solidFill>
                  <a:srgbClr val="172B49"/>
                </a:solidFill>
                <a:latin typeface="Arial"/>
              </a:defRPr>
            </a:pPr>
            <a:r>
              <a:t>Toys &amp; Collectibles: 32,90 triệu.</a:t>
            </a:r>
          </a:p>
        </p:txBody>
      </p:sp>
      <p:sp>
        <p:nvSpPr>
          <p:cNvPr id="15" name="Oval 14"/>
          <p:cNvSpPr/>
          <p:nvPr/>
        </p:nvSpPr>
        <p:spPr>
          <a:xfrm>
            <a:off x="7863840" y="3776472"/>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55864" y="3675887"/>
            <a:ext cx="3465576" cy="804672"/>
          </a:xfrm>
          <a:prstGeom prst="rect">
            <a:avLst/>
          </a:prstGeom>
          <a:noFill/>
        </p:spPr>
        <p:txBody>
          <a:bodyPr wrap="square" lIns="0" rIns="0" tIns="0" bIns="0">
            <a:spAutoFit/>
          </a:bodyPr>
          <a:lstStyle/>
          <a:p>
            <a:pPr algn="l">
              <a:spcBef>
                <a:spcPts val="0"/>
              </a:spcBef>
              <a:spcAft>
                <a:spcPts val="600"/>
              </a:spcAft>
              <a:defRPr sz="1800" b="0">
                <a:solidFill>
                  <a:srgbClr val="172B49"/>
                </a:solidFill>
                <a:latin typeface="Arial"/>
              </a:defRPr>
            </a:pPr>
            <a:r>
              <a:t>Men: 15,67 triệu.</a:t>
            </a:r>
          </a:p>
        </p:txBody>
      </p:sp>
      <p:sp>
        <p:nvSpPr>
          <p:cNvPr id="17" name="Oval 16"/>
          <p:cNvSpPr/>
          <p:nvPr/>
        </p:nvSpPr>
        <p:spPr>
          <a:xfrm>
            <a:off x="7863840" y="4663440"/>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55864" y="4562856"/>
            <a:ext cx="3465576" cy="804672"/>
          </a:xfrm>
          <a:prstGeom prst="rect">
            <a:avLst/>
          </a:prstGeom>
          <a:noFill/>
        </p:spPr>
        <p:txBody>
          <a:bodyPr wrap="square" lIns="0" rIns="0" tIns="0" bIns="0">
            <a:spAutoFit/>
          </a:bodyPr>
          <a:lstStyle/>
          <a:p>
            <a:pPr algn="l">
              <a:spcBef>
                <a:spcPts val="0"/>
              </a:spcBef>
              <a:spcAft>
                <a:spcPts val="600"/>
              </a:spcAft>
              <a:defRPr sz="1800" b="0">
                <a:solidFill>
                  <a:srgbClr val="172B49"/>
                </a:solidFill>
                <a:latin typeface="Arial"/>
              </a:defRPr>
            </a:pPr>
            <a:r>
              <a:t>Category phân cấp hỗ trợ biểu diễn nội dung và retrieval.</a:t>
            </a:r>
          </a:p>
        </p:txBody>
      </p:sp>
      <p:sp>
        <p:nvSpPr>
          <p:cNvPr id="19" name="Rounded Rectangle 18"/>
          <p:cNvSpPr/>
          <p:nvPr/>
        </p:nvSpPr>
        <p:spPr>
          <a:xfrm>
            <a:off x="566928" y="5824728"/>
            <a:ext cx="11064240" cy="438912"/>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5907024"/>
            <a:ext cx="10698480" cy="329184"/>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Trục số liệu là tương tác, không phải số item hoặc số người mua.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05 EXPLORATORY DATA ANALYSIS</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EDA: phân bố giá lệch phải</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21 / 52</a:t>
            </a:r>
          </a:p>
        </p:txBody>
      </p:sp>
      <p:sp>
        <p:nvSpPr>
          <p:cNvPr id="8" name="Rectangle 7"/>
          <p:cNvSpPr/>
          <p:nvPr/>
        </p:nvSpPr>
        <p:spPr>
          <a:xfrm>
            <a:off x="566928" y="6391656"/>
            <a:ext cx="4468250"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66928" y="1719072"/>
            <a:ext cx="6995160" cy="3877056"/>
          </a:xfrm>
          <a:prstGeom prst="roundRect">
            <a:avLst>
              <a:gd name="adj" fmla="val 9000"/>
            </a:avLst>
          </a:prstGeom>
          <a:solidFill>
            <a:srgbClr val="FFFFFF"/>
          </a:solidFill>
          <a:ln w="10160">
            <a:solidFill>
              <a:srgbClr val="DF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11_price_log_hist.png"/>
          <p:cNvPicPr>
            <a:picLocks noChangeAspect="1"/>
          </p:cNvPicPr>
          <p:nvPr/>
        </p:nvPicPr>
        <p:blipFill>
          <a:blip r:embed="rId2"/>
          <a:stretch>
            <a:fillRect/>
          </a:stretch>
        </p:blipFill>
        <p:spPr>
          <a:xfrm>
            <a:off x="676656" y="2168777"/>
            <a:ext cx="6775704" cy="2968500"/>
          </a:xfrm>
          <a:prstGeom prst="rect">
            <a:avLst/>
          </a:prstGeom>
        </p:spPr>
      </p:pic>
      <p:sp>
        <p:nvSpPr>
          <p:cNvPr id="11" name="Oval 10"/>
          <p:cNvSpPr/>
          <p:nvPr/>
        </p:nvSpPr>
        <p:spPr>
          <a:xfrm>
            <a:off x="7863840" y="2002536"/>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55864" y="1901952"/>
            <a:ext cx="3465576" cy="804672"/>
          </a:xfrm>
          <a:prstGeom prst="rect">
            <a:avLst/>
          </a:prstGeom>
          <a:noFill/>
        </p:spPr>
        <p:txBody>
          <a:bodyPr wrap="square" lIns="0" rIns="0" tIns="0" bIns="0">
            <a:spAutoFit/>
          </a:bodyPr>
          <a:lstStyle/>
          <a:p>
            <a:pPr algn="l">
              <a:spcBef>
                <a:spcPts val="0"/>
              </a:spcBef>
              <a:spcAft>
                <a:spcPts val="600"/>
              </a:spcAft>
              <a:defRPr sz="1900" b="0">
                <a:solidFill>
                  <a:srgbClr val="172B49"/>
                </a:solidFill>
                <a:latin typeface="Arial"/>
              </a:defRPr>
            </a:pPr>
            <a:r>
              <a:t>Mean 62,69; median 25.</a:t>
            </a:r>
          </a:p>
        </p:txBody>
      </p:sp>
      <p:sp>
        <p:nvSpPr>
          <p:cNvPr id="13" name="Oval 12"/>
          <p:cNvSpPr/>
          <p:nvPr/>
        </p:nvSpPr>
        <p:spPr>
          <a:xfrm>
            <a:off x="7863840" y="2889503"/>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55864" y="2788920"/>
            <a:ext cx="3465576" cy="804672"/>
          </a:xfrm>
          <a:prstGeom prst="rect">
            <a:avLst/>
          </a:prstGeom>
          <a:noFill/>
        </p:spPr>
        <p:txBody>
          <a:bodyPr wrap="square" lIns="0" rIns="0" tIns="0" bIns="0">
            <a:spAutoFit/>
          </a:bodyPr>
          <a:lstStyle/>
          <a:p>
            <a:pPr algn="l">
              <a:spcBef>
                <a:spcPts val="0"/>
              </a:spcBef>
              <a:spcAft>
                <a:spcPts val="600"/>
              </a:spcAft>
              <a:defRPr sz="1900" b="0">
                <a:solidFill>
                  <a:srgbClr val="172B49"/>
                </a:solidFill>
                <a:latin typeface="Arial"/>
              </a:defRPr>
            </a:pPr>
            <a:r>
              <a:t>P95 = 225; P99 = 636.</a:t>
            </a:r>
          </a:p>
        </p:txBody>
      </p:sp>
      <p:sp>
        <p:nvSpPr>
          <p:cNvPr id="15" name="Oval 14"/>
          <p:cNvSpPr/>
          <p:nvPr/>
        </p:nvSpPr>
        <p:spPr>
          <a:xfrm>
            <a:off x="7863840" y="3776472"/>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55864" y="3675887"/>
            <a:ext cx="3465576" cy="804672"/>
          </a:xfrm>
          <a:prstGeom prst="rect">
            <a:avLst/>
          </a:prstGeom>
          <a:noFill/>
        </p:spPr>
        <p:txBody>
          <a:bodyPr wrap="square" lIns="0" rIns="0" tIns="0" bIns="0">
            <a:spAutoFit/>
          </a:bodyPr>
          <a:lstStyle/>
          <a:p>
            <a:pPr algn="l">
              <a:spcBef>
                <a:spcPts val="0"/>
              </a:spcBef>
              <a:spcAft>
                <a:spcPts val="600"/>
              </a:spcAft>
              <a:defRPr sz="1900" b="0">
                <a:solidFill>
                  <a:srgbClr val="172B49"/>
                </a:solidFill>
                <a:latin typeface="Arial"/>
              </a:defRPr>
            </a:pPr>
            <a:r>
              <a:t>Giá quan sát từ 1 đến 5.000.</a:t>
            </a:r>
          </a:p>
        </p:txBody>
      </p:sp>
      <p:sp>
        <p:nvSpPr>
          <p:cNvPr id="17" name="Oval 16"/>
          <p:cNvSpPr/>
          <p:nvPr/>
        </p:nvSpPr>
        <p:spPr>
          <a:xfrm>
            <a:off x="7863840" y="4663440"/>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55864" y="4562856"/>
            <a:ext cx="3465576" cy="804672"/>
          </a:xfrm>
          <a:prstGeom prst="rect">
            <a:avLst/>
          </a:prstGeom>
          <a:noFill/>
        </p:spPr>
        <p:txBody>
          <a:bodyPr wrap="square" lIns="0" rIns="0" tIns="0" bIns="0">
            <a:spAutoFit/>
          </a:bodyPr>
          <a:lstStyle/>
          <a:p>
            <a:pPr algn="l">
              <a:spcBef>
                <a:spcPts val="0"/>
              </a:spcBef>
              <a:spcAft>
                <a:spcPts val="600"/>
              </a:spcAft>
              <a:defRPr sz="1900" b="0">
                <a:solidFill>
                  <a:srgbClr val="172B49"/>
                </a:solidFill>
                <a:latin typeface="Arial"/>
              </a:defRPr>
            </a:pPr>
            <a:r>
              <a:t>Two-Tower dùng log(1+price), sau đó chuẩn hóa.</a:t>
            </a:r>
          </a:p>
        </p:txBody>
      </p:sp>
      <p:sp>
        <p:nvSpPr>
          <p:cNvPr id="19" name="Rounded Rectangle 18"/>
          <p:cNvSpPr/>
          <p:nvPr/>
        </p:nvSpPr>
        <p:spPr>
          <a:xfrm>
            <a:off x="566928" y="5824728"/>
            <a:ext cx="11064240" cy="438912"/>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5907024"/>
            <a:ext cx="10698480" cy="329184"/>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Theo đơn vị gốc của dataset; số liệu tổng hợp trên dòng tương tác.</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05 EXPLORATORY DATA ANALYSIS</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Từ EDA đến quyết định mô hình hóa</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22 / 52</a:t>
            </a:r>
          </a:p>
        </p:txBody>
      </p:sp>
      <p:sp>
        <p:nvSpPr>
          <p:cNvPr id="8" name="Rectangle 7"/>
          <p:cNvSpPr/>
          <p:nvPr/>
        </p:nvSpPr>
        <p:spPr>
          <a:xfrm>
            <a:off x="566928" y="6391656"/>
            <a:ext cx="4681024"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Table 8"/>
          <p:cNvGraphicFramePr>
            <a:graphicFrameLocks noGrp="1"/>
          </p:cNvGraphicFramePr>
          <p:nvPr/>
        </p:nvGraphicFramePr>
        <p:xfrm>
          <a:off x="658368" y="1810512"/>
          <a:ext cx="10881360" cy="3465576"/>
        </p:xfrm>
        <a:graphic>
          <a:graphicData uri="http://schemas.openxmlformats.org/drawingml/2006/table">
            <a:tbl>
              <a:tblPr firstRow="1" bandRow="1">
                <a:tableStyleId>{5C22544A-7EE6-4342-B048-85BDC9FD1C3A}</a:tableStyleId>
              </a:tblPr>
              <a:tblGrid>
                <a:gridCol w="4937760"/>
                <a:gridCol w="5943600"/>
              </a:tblGrid>
              <a:tr h="693115">
                <a:tc>
                  <a:txBody>
                    <a:bodyPr/>
                    <a:lstStyle/>
                    <a:p>
                      <a:pPr>
                        <a:defRPr sz="1800" b="1">
                          <a:solidFill>
                            <a:srgbClr val="FFFFFF"/>
                          </a:solidFill>
                          <a:latin typeface="Arial"/>
                        </a:defRPr>
                      </a:pPr>
                      <a:r>
                        <a:t>Phát hiện</a:t>
                      </a:r>
                    </a:p>
                  </a:txBody>
                  <a:tcPr marL="128016" marR="91440" marT="91440" marB="64008" anchor="ctr">
                    <a:solidFill>
                      <a:srgbClr val="244BFF"/>
                    </a:solidFill>
                  </a:tcPr>
                </a:tc>
                <a:tc>
                  <a:txBody>
                    <a:bodyPr/>
                    <a:lstStyle/>
                    <a:p>
                      <a:pPr>
                        <a:defRPr sz="1800" b="1">
                          <a:solidFill>
                            <a:srgbClr val="FFFFFF"/>
                          </a:solidFill>
                          <a:latin typeface="Arial"/>
                        </a:defRPr>
                      </a:pPr>
                      <a:r>
                        <a:t>Quyết định / hướng xử lý</a:t>
                      </a:r>
                    </a:p>
                  </a:txBody>
                  <a:tcPr marL="128016" marR="91440" marT="91440" marB="64008" anchor="ctr">
                    <a:solidFill>
                      <a:srgbClr val="244BFF"/>
                    </a:solidFill>
                  </a:tcPr>
                </a:tc>
              </a:tr>
              <a:tr h="693115">
                <a:tc>
                  <a:txBody>
                    <a:bodyPr/>
                    <a:lstStyle/>
                    <a:p>
                      <a:pPr>
                        <a:defRPr sz="1800" b="0">
                          <a:solidFill>
                            <a:srgbClr val="172B49"/>
                          </a:solidFill>
                          <a:latin typeface="Arial"/>
                        </a:defRPr>
                      </a:pPr>
                      <a:r>
                        <a:t>Sparsity ≈ 99,999843%</a:t>
                      </a:r>
                    </a:p>
                  </a:txBody>
                  <a:tcPr marL="128016" marR="91440" marT="91440" marB="64008" anchor="ctr">
                    <a:solidFill>
                      <a:srgbClr val="F0F4FC"/>
                    </a:solidFill>
                  </a:tcPr>
                </a:tc>
                <a:tc>
                  <a:txBody>
                    <a:bodyPr/>
                    <a:lstStyle/>
                    <a:p>
                      <a:pPr>
                        <a:defRPr sz="1800" b="0">
                          <a:solidFill>
                            <a:srgbClr val="172B49"/>
                          </a:solidFill>
                          <a:latin typeface="Arial"/>
                        </a:defRPr>
                      </a:pPr>
                      <a:r>
                        <a:t>Thử implicit CF và biểu diễn metadata</a:t>
                      </a:r>
                    </a:p>
                  </a:txBody>
                  <a:tcPr marL="128016" marR="91440" marT="91440" marB="64008" anchor="ctr">
                    <a:solidFill>
                      <a:srgbClr val="F0F4FC"/>
                    </a:solidFill>
                  </a:tcPr>
                </a:tc>
              </a:tr>
              <a:tr h="693115">
                <a:tc>
                  <a:txBody>
                    <a:bodyPr/>
                    <a:lstStyle/>
                    <a:p>
                      <a:pPr>
                        <a:defRPr sz="1800" b="0">
                          <a:solidFill>
                            <a:srgbClr val="172B49"/>
                          </a:solidFill>
                          <a:latin typeface="Arial"/>
                        </a:defRPr>
                      </a:pPr>
                      <a:r>
                        <a:t>25,53% tương tác là lặp thêm</a:t>
                      </a:r>
                    </a:p>
                  </a:txBody>
                  <a:tcPr marL="128016" marR="91440" marT="91440" marB="64008" anchor="ctr">
                    <a:solidFill>
                      <a:srgbClr val="FFFFFF"/>
                    </a:solidFill>
                  </a:tcPr>
                </a:tc>
                <a:tc>
                  <a:txBody>
                    <a:bodyPr/>
                    <a:lstStyle/>
                    <a:p>
                      <a:pPr>
                        <a:defRPr sz="1800" b="0">
                          <a:solidFill>
                            <a:srgbClr val="172B49"/>
                          </a:solidFill>
                          <a:latin typeface="Arial"/>
                        </a:defRPr>
                      </a:pPr>
                      <a:r>
                        <a:t>Tổng hợp tín hiệu theo cặp user–item</a:t>
                      </a:r>
                    </a:p>
                  </a:txBody>
                  <a:tcPr marL="128016" marR="91440" marT="91440" marB="64008" anchor="ctr">
                    <a:solidFill>
                      <a:srgbClr val="FFFFFF"/>
                    </a:solidFill>
                  </a:tcPr>
                </a:tc>
              </a:tr>
              <a:tr h="693115">
                <a:tc>
                  <a:txBody>
                    <a:bodyPr/>
                    <a:lstStyle/>
                    <a:p>
                      <a:pPr>
                        <a:defRPr sz="1800" b="0">
                          <a:solidFill>
                            <a:srgbClr val="172B49"/>
                          </a:solidFill>
                          <a:latin typeface="Arial"/>
                        </a:defRPr>
                      </a:pPr>
                      <a:r>
                        <a:t>Nhiều user/item ít lịch sử</a:t>
                      </a:r>
                    </a:p>
                  </a:txBody>
                  <a:tcPr marL="128016" marR="91440" marT="91440" marB="64008" anchor="ctr">
                    <a:solidFill>
                      <a:srgbClr val="F0F4FC"/>
                    </a:solidFill>
                  </a:tcPr>
                </a:tc>
                <a:tc>
                  <a:txBody>
                    <a:bodyPr/>
                    <a:lstStyle/>
                    <a:p>
                      <a:pPr>
                        <a:defRPr sz="1800" b="0">
                          <a:solidFill>
                            <a:srgbClr val="172B49"/>
                          </a:solidFill>
                          <a:latin typeface="Arial"/>
                        </a:defRPr>
                      </a:pPr>
                      <a:r>
                        <a:t>Phân tích cold-start và phương án fallback</a:t>
                      </a:r>
                    </a:p>
                  </a:txBody>
                  <a:tcPr marL="128016" marR="91440" marT="91440" marB="64008" anchor="ctr">
                    <a:solidFill>
                      <a:srgbClr val="F0F4FC"/>
                    </a:solidFill>
                  </a:tcPr>
                </a:tc>
              </a:tr>
              <a:tr h="693116">
                <a:tc>
                  <a:txBody>
                    <a:bodyPr/>
                    <a:lstStyle/>
                    <a:p>
                      <a:pPr>
                        <a:defRPr sz="1800" b="0">
                          <a:solidFill>
                            <a:srgbClr val="172B49"/>
                          </a:solidFill>
                          <a:latin typeface="Arial"/>
                        </a:defRPr>
                      </a:pPr>
                      <a:r>
                        <a:t>One-pass 5-core loại 22,33%</a:t>
                      </a:r>
                    </a:p>
                  </a:txBody>
                  <a:tcPr marL="128016" marR="91440" marT="91440" marB="64008" anchor="ctr">
                    <a:solidFill>
                      <a:srgbClr val="FFFFFF"/>
                    </a:solidFill>
                  </a:tcPr>
                </a:tc>
                <a:tc>
                  <a:txBody>
                    <a:bodyPr/>
                    <a:lstStyle/>
                    <a:p>
                      <a:pPr>
                        <a:defRPr sz="1800" b="0">
                          <a:solidFill>
                            <a:srgbClr val="172B49"/>
                          </a:solidFill>
                          <a:latin typeface="Arial"/>
                        </a:defRPr>
                      </a:pPr>
                      <a:r>
                        <a:t>Chỉ là chẩn đoán, chưa áp dụng như bộ lọc cuối</a:t>
                      </a:r>
                    </a:p>
                  </a:txBody>
                  <a:tcPr marL="128016" marR="91440" marT="91440" marB="64008" anchor="ctr">
                    <a:solidFill>
                      <a:srgbClr val="FFFFFF"/>
                    </a:solidFill>
                  </a:tcPr>
                </a:tc>
              </a:tr>
            </a:tbl>
          </a:graphicData>
        </a:graphic>
      </p:graphicFrame>
      <p:sp>
        <p:nvSpPr>
          <p:cNvPr id="10" name="Rounded Rectangle 9"/>
          <p:cNvSpPr/>
          <p:nvPr/>
        </p:nvSpPr>
        <p:spPr>
          <a:xfrm>
            <a:off x="566928" y="5632704"/>
            <a:ext cx="11064240" cy="539496"/>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5715000"/>
            <a:ext cx="10698480" cy="429768"/>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Không loại bỏ hàng loạt long-tail trước khi đánh giá ảnh hưởng tới coverage.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06 FEATURE ENGINEERING</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Implicit feedback có trọng số</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23 / 52</a:t>
            </a:r>
          </a:p>
        </p:txBody>
      </p:sp>
      <p:sp>
        <p:nvSpPr>
          <p:cNvPr id="8" name="Rectangle 7"/>
          <p:cNvSpPr/>
          <p:nvPr/>
        </p:nvSpPr>
        <p:spPr>
          <a:xfrm>
            <a:off x="566928" y="6391656"/>
            <a:ext cx="4893798"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66928" y="1719072"/>
            <a:ext cx="6995160" cy="3877056"/>
          </a:xfrm>
          <a:prstGeom prst="roundRect">
            <a:avLst>
              <a:gd name="adj" fmla="val 9000"/>
            </a:avLst>
          </a:prstGeom>
          <a:solidFill>
            <a:srgbClr val="FFFFFF"/>
          </a:solidFill>
          <a:ln w="10160">
            <a:solidFill>
              <a:srgbClr val="DFE6F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23_event_weights.png"/>
          <p:cNvPicPr>
            <a:picLocks noChangeAspect="1"/>
          </p:cNvPicPr>
          <p:nvPr/>
        </p:nvPicPr>
        <p:blipFill>
          <a:blip r:embed="rId2"/>
          <a:stretch>
            <a:fillRect/>
          </a:stretch>
        </p:blipFill>
        <p:spPr>
          <a:xfrm>
            <a:off x="676656" y="1977316"/>
            <a:ext cx="6775704" cy="3351423"/>
          </a:xfrm>
          <a:prstGeom prst="rect">
            <a:avLst/>
          </a:prstGeom>
        </p:spPr>
      </p:pic>
      <p:sp>
        <p:nvSpPr>
          <p:cNvPr id="11" name="Oval 10"/>
          <p:cNvSpPr/>
          <p:nvPr/>
        </p:nvSpPr>
        <p:spPr>
          <a:xfrm>
            <a:off x="7863840" y="2002536"/>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55864" y="1901952"/>
            <a:ext cx="3465576" cy="804672"/>
          </a:xfrm>
          <a:prstGeom prst="rect">
            <a:avLst/>
          </a:prstGeom>
          <a:noFill/>
        </p:spPr>
        <p:txBody>
          <a:bodyPr wrap="square" lIns="0" rIns="0" tIns="0" bIns="0">
            <a:spAutoFit/>
          </a:bodyPr>
          <a:lstStyle/>
          <a:p>
            <a:pPr algn="l">
              <a:spcBef>
                <a:spcPts val="0"/>
              </a:spcBef>
              <a:spcAft>
                <a:spcPts val="600"/>
              </a:spcAft>
              <a:defRPr sz="1900" b="0">
                <a:solidFill>
                  <a:srgbClr val="172B49"/>
                </a:solidFill>
                <a:latin typeface="Arial"/>
              </a:defRPr>
            </a:pPr>
            <a:r>
              <a:t>implicit_score(u,i) = tổng trọng số sự kiện.</a:t>
            </a:r>
          </a:p>
        </p:txBody>
      </p:sp>
      <p:sp>
        <p:nvSpPr>
          <p:cNvPr id="13" name="Oval 12"/>
          <p:cNvSpPr/>
          <p:nvPr/>
        </p:nvSpPr>
        <p:spPr>
          <a:xfrm>
            <a:off x="7863840" y="2889503"/>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55864" y="2788920"/>
            <a:ext cx="3465576" cy="804672"/>
          </a:xfrm>
          <a:prstGeom prst="rect">
            <a:avLst/>
          </a:prstGeom>
          <a:noFill/>
        </p:spPr>
        <p:txBody>
          <a:bodyPr wrap="square" lIns="0" rIns="0" tIns="0" bIns="0">
            <a:spAutoFit/>
          </a:bodyPr>
          <a:lstStyle/>
          <a:p>
            <a:pPr algn="l">
              <a:spcBef>
                <a:spcPts val="0"/>
              </a:spcBef>
              <a:spcAft>
                <a:spcPts val="600"/>
              </a:spcAft>
              <a:defRPr sz="1900" b="0">
                <a:solidFill>
                  <a:srgbClr val="172B49"/>
                </a:solidFill>
                <a:latin typeface="Arial"/>
              </a:defRPr>
            </a:pPr>
            <a:r>
              <a:t>Giữ thêm số sự kiện theo loại.</a:t>
            </a:r>
          </a:p>
        </p:txBody>
      </p:sp>
      <p:sp>
        <p:nvSpPr>
          <p:cNvPr id="15" name="Oval 14"/>
          <p:cNvSpPr/>
          <p:nvPr/>
        </p:nvSpPr>
        <p:spPr>
          <a:xfrm>
            <a:off x="7863840" y="3776472"/>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55864" y="3675887"/>
            <a:ext cx="3465576" cy="804672"/>
          </a:xfrm>
          <a:prstGeom prst="rect">
            <a:avLst/>
          </a:prstGeom>
          <a:noFill/>
        </p:spPr>
        <p:txBody>
          <a:bodyPr wrap="square" lIns="0" rIns="0" tIns="0" bIns="0">
            <a:spAutoFit/>
          </a:bodyPr>
          <a:lstStyle/>
          <a:p>
            <a:pPr algn="l">
              <a:spcBef>
                <a:spcPts val="0"/>
              </a:spcBef>
              <a:spcAft>
                <a:spcPts val="600"/>
              </a:spcAft>
              <a:defRPr sz="1900" b="0">
                <a:solidFill>
                  <a:srgbClr val="172B49"/>
                </a:solidFill>
                <a:latin typeface="Arial"/>
              </a:defRPr>
            </a:pPr>
            <a:r>
              <a:t>Giữ thời điểm tương tác cuối.</a:t>
            </a:r>
          </a:p>
        </p:txBody>
      </p:sp>
      <p:sp>
        <p:nvSpPr>
          <p:cNvPr id="17" name="Oval 16"/>
          <p:cNvSpPr/>
          <p:nvPr/>
        </p:nvSpPr>
        <p:spPr>
          <a:xfrm>
            <a:off x="7863840" y="4663440"/>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55864" y="4562856"/>
            <a:ext cx="3465576" cy="804672"/>
          </a:xfrm>
          <a:prstGeom prst="rect">
            <a:avLst/>
          </a:prstGeom>
          <a:noFill/>
        </p:spPr>
        <p:txBody>
          <a:bodyPr wrap="square" lIns="0" rIns="0" tIns="0" bIns="0">
            <a:spAutoFit/>
          </a:bodyPr>
          <a:lstStyle/>
          <a:p>
            <a:pPr algn="l">
              <a:spcBef>
                <a:spcPts val="0"/>
              </a:spcBef>
              <a:spcAft>
                <a:spcPts val="600"/>
              </a:spcAft>
              <a:defRPr sz="1900" b="0">
                <a:solidFill>
                  <a:srgbClr val="172B49"/>
                </a:solidFill>
                <a:latin typeface="Arial"/>
              </a:defRPr>
            </a:pPr>
            <a:r>
              <a:t>109.718.519 cặp user–item trong TRAIN.</a:t>
            </a:r>
          </a:p>
        </p:txBody>
      </p:sp>
      <p:sp>
        <p:nvSpPr>
          <p:cNvPr id="19" name="Rounded Rectangle 18"/>
          <p:cNvSpPr/>
          <p:nvPr/>
        </p:nvSpPr>
        <p:spPr>
          <a:xfrm>
            <a:off x="566928" y="5824728"/>
            <a:ext cx="11064240" cy="438912"/>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5907024"/>
            <a:ext cx="10698480" cy="329184"/>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Trọng số do dự án đặt; không phải tham số mô hình tự học.</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06 FEATURE ENGINEERING</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Biểu diễn nội dung và metadata</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24 / 52</a:t>
            </a:r>
          </a:p>
        </p:txBody>
      </p:sp>
      <p:sp>
        <p:nvSpPr>
          <p:cNvPr id="8" name="Rectangle 7"/>
          <p:cNvSpPr/>
          <p:nvPr/>
        </p:nvSpPr>
        <p:spPr>
          <a:xfrm>
            <a:off x="566928" y="6391656"/>
            <a:ext cx="5106572"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58368" y="1801368"/>
            <a:ext cx="5312664" cy="3621024"/>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2057400"/>
            <a:ext cx="4754880" cy="256032"/>
          </a:xfrm>
          <a:prstGeom prst="rect">
            <a:avLst/>
          </a:prstGeom>
          <a:noFill/>
        </p:spPr>
        <p:txBody>
          <a:bodyPr wrap="square" lIns="0" rIns="0" tIns="0" bIns="0">
            <a:spAutoFit/>
          </a:bodyPr>
          <a:lstStyle/>
          <a:p>
            <a:pPr algn="l">
              <a:spcBef>
                <a:spcPts val="0"/>
              </a:spcBef>
              <a:spcAft>
                <a:spcPts val="600"/>
              </a:spcAft>
              <a:defRPr sz="1400" b="1">
                <a:solidFill>
                  <a:srgbClr val="244BFF"/>
                </a:solidFill>
                <a:latin typeface="Arial"/>
              </a:defRPr>
            </a:pPr>
            <a:r>
              <a:t>CONTENT-BASED</a:t>
            </a:r>
          </a:p>
        </p:txBody>
      </p:sp>
      <p:sp>
        <p:nvSpPr>
          <p:cNvPr id="11" name="Oval 10"/>
          <p:cNvSpPr/>
          <p:nvPr/>
        </p:nvSpPr>
        <p:spPr>
          <a:xfrm>
            <a:off x="914400" y="2843784"/>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06424" y="2743200"/>
            <a:ext cx="4553712" cy="512064"/>
          </a:xfrm>
          <a:prstGeom prst="rect">
            <a:avLst/>
          </a:prstGeom>
          <a:noFill/>
        </p:spPr>
        <p:txBody>
          <a:bodyPr wrap="square" lIns="0" rIns="0" tIns="0" bIns="0">
            <a:spAutoFit/>
          </a:bodyPr>
          <a:lstStyle/>
          <a:p>
            <a:pPr algn="l">
              <a:spcBef>
                <a:spcPts val="0"/>
              </a:spcBef>
              <a:spcAft>
                <a:spcPts val="600"/>
              </a:spcAft>
              <a:defRPr sz="2000" b="0">
                <a:solidFill>
                  <a:srgbClr val="172B49"/>
                </a:solidFill>
                <a:latin typeface="Arial"/>
              </a:defRPr>
            </a:pPr>
            <a:r>
              <a:t>Name · category · brand · condition</a:t>
            </a:r>
          </a:p>
        </p:txBody>
      </p:sp>
      <p:sp>
        <p:nvSpPr>
          <p:cNvPr id="13" name="Oval 12"/>
          <p:cNvSpPr/>
          <p:nvPr/>
        </p:nvSpPr>
        <p:spPr>
          <a:xfrm>
            <a:off x="914400" y="3438144"/>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06424" y="3337560"/>
            <a:ext cx="4553712" cy="512064"/>
          </a:xfrm>
          <a:prstGeom prst="rect">
            <a:avLst/>
          </a:prstGeom>
          <a:noFill/>
        </p:spPr>
        <p:txBody>
          <a:bodyPr wrap="square" lIns="0" rIns="0" tIns="0" bIns="0">
            <a:spAutoFit/>
          </a:bodyPr>
          <a:lstStyle/>
          <a:p>
            <a:pPr algn="l">
              <a:spcBef>
                <a:spcPts val="0"/>
              </a:spcBef>
              <a:spcAft>
                <a:spcPts val="600"/>
              </a:spcAft>
              <a:defRPr sz="2000" b="0">
                <a:solidFill>
                  <a:srgbClr val="172B49"/>
                </a:solidFill>
                <a:latin typeface="Arial"/>
              </a:defRPr>
            </a:pPr>
            <a:r>
              <a:t>Hashing TF-IDF</a:t>
            </a:r>
          </a:p>
        </p:txBody>
      </p:sp>
      <p:sp>
        <p:nvSpPr>
          <p:cNvPr id="15" name="Oval 14"/>
          <p:cNvSpPr/>
          <p:nvPr/>
        </p:nvSpPr>
        <p:spPr>
          <a:xfrm>
            <a:off x="914400" y="4032504"/>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06424" y="3931920"/>
            <a:ext cx="4553712" cy="512064"/>
          </a:xfrm>
          <a:prstGeom prst="rect">
            <a:avLst/>
          </a:prstGeom>
          <a:noFill/>
        </p:spPr>
        <p:txBody>
          <a:bodyPr wrap="square" lIns="0" rIns="0" tIns="0" bIns="0">
            <a:spAutoFit/>
          </a:bodyPr>
          <a:lstStyle/>
          <a:p>
            <a:pPr algn="l">
              <a:spcBef>
                <a:spcPts val="0"/>
              </a:spcBef>
              <a:spcAft>
                <a:spcPts val="600"/>
              </a:spcAft>
              <a:defRPr sz="2000" b="0">
                <a:solidFill>
                  <a:srgbClr val="172B49"/>
                </a:solidFill>
                <a:latin typeface="Arial"/>
              </a:defRPr>
            </a:pPr>
            <a:r>
              <a:t>262.144 chiều</a:t>
            </a:r>
          </a:p>
        </p:txBody>
      </p:sp>
      <p:sp>
        <p:nvSpPr>
          <p:cNvPr id="17" name="Oval 16"/>
          <p:cNvSpPr/>
          <p:nvPr/>
        </p:nvSpPr>
        <p:spPr>
          <a:xfrm>
            <a:off x="914400" y="4626864"/>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106424" y="4526280"/>
            <a:ext cx="4553712" cy="512064"/>
          </a:xfrm>
          <a:prstGeom prst="rect">
            <a:avLst/>
          </a:prstGeom>
          <a:noFill/>
        </p:spPr>
        <p:txBody>
          <a:bodyPr wrap="square" lIns="0" rIns="0" tIns="0" bIns="0">
            <a:spAutoFit/>
          </a:bodyPr>
          <a:lstStyle/>
          <a:p>
            <a:pPr algn="l">
              <a:spcBef>
                <a:spcPts val="0"/>
              </a:spcBef>
              <a:spcAft>
                <a:spcPts val="600"/>
              </a:spcAft>
              <a:defRPr sz="2000" b="0">
                <a:solidFill>
                  <a:srgbClr val="172B49"/>
                </a:solidFill>
                <a:latin typeface="Arial"/>
              </a:defRPr>
            </a:pPr>
            <a:r>
              <a:t>Unigram + bigram</a:t>
            </a:r>
          </a:p>
        </p:txBody>
      </p:sp>
      <p:sp>
        <p:nvSpPr>
          <p:cNvPr id="19" name="Rounded Rectangle 18"/>
          <p:cNvSpPr/>
          <p:nvPr/>
        </p:nvSpPr>
        <p:spPr>
          <a:xfrm>
            <a:off x="6217920" y="1801368"/>
            <a:ext cx="5312664" cy="3621024"/>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55664" y="2057400"/>
            <a:ext cx="4754880" cy="256032"/>
          </a:xfrm>
          <a:prstGeom prst="rect">
            <a:avLst/>
          </a:prstGeom>
          <a:noFill/>
        </p:spPr>
        <p:txBody>
          <a:bodyPr wrap="square" lIns="0" rIns="0" tIns="0" bIns="0">
            <a:spAutoFit/>
          </a:bodyPr>
          <a:lstStyle/>
          <a:p>
            <a:pPr algn="l">
              <a:spcBef>
                <a:spcPts val="0"/>
              </a:spcBef>
              <a:spcAft>
                <a:spcPts val="600"/>
              </a:spcAft>
              <a:defRPr sz="1400" b="1">
                <a:solidFill>
                  <a:srgbClr val="244BFF"/>
                </a:solidFill>
                <a:latin typeface="Arial"/>
              </a:defRPr>
            </a:pPr>
            <a:r>
              <a:t>TWO-TOWER</a:t>
            </a:r>
          </a:p>
        </p:txBody>
      </p:sp>
      <p:sp>
        <p:nvSpPr>
          <p:cNvPr id="21" name="Oval 20"/>
          <p:cNvSpPr/>
          <p:nvPr/>
        </p:nvSpPr>
        <p:spPr>
          <a:xfrm>
            <a:off x="6473952" y="2843784"/>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65976" y="2743200"/>
            <a:ext cx="4553712" cy="512064"/>
          </a:xfrm>
          <a:prstGeom prst="rect">
            <a:avLst/>
          </a:prstGeom>
          <a:noFill/>
        </p:spPr>
        <p:txBody>
          <a:bodyPr wrap="square" lIns="0" rIns="0" tIns="0" bIns="0">
            <a:spAutoFit/>
          </a:bodyPr>
          <a:lstStyle/>
          <a:p>
            <a:pPr algn="l">
              <a:spcBef>
                <a:spcPts val="0"/>
              </a:spcBef>
              <a:spcAft>
                <a:spcPts val="600"/>
              </a:spcAft>
              <a:defRPr sz="2000" b="0">
                <a:solidFill>
                  <a:srgbClr val="172B49"/>
                </a:solidFill>
                <a:latin typeface="Arial"/>
              </a:defRPr>
            </a:pPr>
            <a:r>
              <a:t>7 trường metadata + price</a:t>
            </a:r>
          </a:p>
        </p:txBody>
      </p:sp>
      <p:sp>
        <p:nvSpPr>
          <p:cNvPr id="23" name="Oval 22"/>
          <p:cNvSpPr/>
          <p:nvPr/>
        </p:nvSpPr>
        <p:spPr>
          <a:xfrm>
            <a:off x="6473952" y="3438144"/>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665976" y="3337560"/>
            <a:ext cx="4553712" cy="512064"/>
          </a:xfrm>
          <a:prstGeom prst="rect">
            <a:avLst/>
          </a:prstGeom>
          <a:noFill/>
        </p:spPr>
        <p:txBody>
          <a:bodyPr wrap="square" lIns="0" rIns="0" tIns="0" bIns="0">
            <a:spAutoFit/>
          </a:bodyPr>
          <a:lstStyle/>
          <a:p>
            <a:pPr algn="l">
              <a:spcBef>
                <a:spcPts val="0"/>
              </a:spcBef>
              <a:spcAft>
                <a:spcPts val="600"/>
              </a:spcAft>
              <a:defRPr sz="2000" b="0">
                <a:solidFill>
                  <a:srgbClr val="172B49"/>
                </a:solidFill>
                <a:latin typeface="Arial"/>
              </a:defRPr>
            </a:pPr>
            <a:r>
              <a:t>Hashed embeddings</a:t>
            </a:r>
          </a:p>
        </p:txBody>
      </p:sp>
      <p:sp>
        <p:nvSpPr>
          <p:cNvPr id="25" name="Oval 24"/>
          <p:cNvSpPr/>
          <p:nvPr/>
        </p:nvSpPr>
        <p:spPr>
          <a:xfrm>
            <a:off x="6473952" y="4032504"/>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65976" y="3931920"/>
            <a:ext cx="4553712" cy="512064"/>
          </a:xfrm>
          <a:prstGeom prst="rect">
            <a:avLst/>
          </a:prstGeom>
          <a:noFill/>
        </p:spPr>
        <p:txBody>
          <a:bodyPr wrap="square" lIns="0" rIns="0" tIns="0" bIns="0">
            <a:spAutoFit/>
          </a:bodyPr>
          <a:lstStyle/>
          <a:p>
            <a:pPr algn="l">
              <a:spcBef>
                <a:spcPts val="0"/>
              </a:spcBef>
              <a:spcAft>
                <a:spcPts val="600"/>
              </a:spcAft>
              <a:defRPr sz="2000" b="0">
                <a:solidFill>
                  <a:srgbClr val="172B49"/>
                </a:solidFill>
                <a:latin typeface="Arial"/>
              </a:defRPr>
            </a:pPr>
            <a:r>
              <a:t>Log-price chuẩn hóa</a:t>
            </a:r>
          </a:p>
        </p:txBody>
      </p:sp>
      <p:sp>
        <p:nvSpPr>
          <p:cNvPr id="27" name="Oval 26"/>
          <p:cNvSpPr/>
          <p:nvPr/>
        </p:nvSpPr>
        <p:spPr>
          <a:xfrm>
            <a:off x="6473952" y="4626864"/>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65976" y="4526280"/>
            <a:ext cx="4553712" cy="512064"/>
          </a:xfrm>
          <a:prstGeom prst="rect">
            <a:avLst/>
          </a:prstGeom>
          <a:noFill/>
        </p:spPr>
        <p:txBody>
          <a:bodyPr wrap="square" lIns="0" rIns="0" tIns="0" bIns="0">
            <a:spAutoFit/>
          </a:bodyPr>
          <a:lstStyle/>
          <a:p>
            <a:pPr algn="l">
              <a:spcBef>
                <a:spcPts val="0"/>
              </a:spcBef>
              <a:spcAft>
                <a:spcPts val="600"/>
              </a:spcAft>
              <a:defRPr sz="2000" b="0">
                <a:solidFill>
                  <a:srgbClr val="172B49"/>
                </a:solidFill>
                <a:latin typeface="Arial"/>
              </a:defRPr>
            </a:pPr>
            <a:r>
              <a:t>Ghép vector → MLP</a:t>
            </a:r>
          </a:p>
        </p:txBody>
      </p:sp>
      <p:sp>
        <p:nvSpPr>
          <p:cNvPr id="29" name="Rounded Rectangle 28"/>
          <p:cNvSpPr/>
          <p:nvPr/>
        </p:nvSpPr>
        <p:spPr>
          <a:xfrm>
            <a:off x="566928" y="5824728"/>
            <a:ext cx="11064240" cy="438912"/>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9808" y="5907024"/>
            <a:ext cx="10698480" cy="329184"/>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Hashing và xử lý theo batch giúp kiểm soát vocabulary và bộ nhớ.</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06 FEATURE ENGINEERING</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Chuỗi item và hành vi cho GRU4Rec</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25 / 52</a:t>
            </a:r>
          </a:p>
        </p:txBody>
      </p:sp>
      <p:sp>
        <p:nvSpPr>
          <p:cNvPr id="8" name="Rectangle 7"/>
          <p:cNvSpPr/>
          <p:nvPr/>
        </p:nvSpPr>
        <p:spPr>
          <a:xfrm>
            <a:off x="566928" y="6391656"/>
            <a:ext cx="5319346"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94360" y="2066543"/>
            <a:ext cx="2523744" cy="1581912"/>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2203703"/>
            <a:ext cx="2249424"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01</a:t>
            </a:r>
          </a:p>
        </p:txBody>
      </p:sp>
      <p:sp>
        <p:nvSpPr>
          <p:cNvPr id="11" name="TextBox 10"/>
          <p:cNvSpPr txBox="1"/>
          <p:nvPr/>
        </p:nvSpPr>
        <p:spPr>
          <a:xfrm>
            <a:off x="749808" y="2514600"/>
            <a:ext cx="2212848" cy="475488"/>
          </a:xfrm>
          <a:prstGeom prst="rect">
            <a:avLst/>
          </a:prstGeom>
          <a:noFill/>
        </p:spPr>
        <p:txBody>
          <a:bodyPr wrap="square" lIns="0" rIns="0" tIns="0" bIns="0">
            <a:spAutoFit/>
          </a:bodyPr>
          <a:lstStyle/>
          <a:p>
            <a:pPr algn="l">
              <a:spcBef>
                <a:spcPts val="0"/>
              </a:spcBef>
              <a:spcAft>
                <a:spcPts val="600"/>
              </a:spcAft>
              <a:defRPr sz="1900" b="1">
                <a:solidFill>
                  <a:srgbClr val="172B49"/>
                </a:solidFill>
                <a:latin typeface="Arial"/>
              </a:defRPr>
            </a:pPr>
            <a:r>
              <a:t>i₁ / view</a:t>
            </a:r>
          </a:p>
        </p:txBody>
      </p:sp>
      <p:sp>
        <p:nvSpPr>
          <p:cNvPr id="12" name="TextBox 11"/>
          <p:cNvSpPr txBox="1"/>
          <p:nvPr/>
        </p:nvSpPr>
        <p:spPr>
          <a:xfrm>
            <a:off x="749808" y="3017520"/>
            <a:ext cx="2212848" cy="576071"/>
          </a:xfrm>
          <a:prstGeom prst="rect">
            <a:avLst/>
          </a:prstGeom>
          <a:noFill/>
        </p:spPr>
        <p:txBody>
          <a:bodyPr wrap="square" lIns="0" rIns="0" tIns="0" bIns="0">
            <a:spAutoFit/>
          </a:bodyPr>
          <a:lstStyle/>
          <a:p>
            <a:pPr algn="l">
              <a:spcBef>
                <a:spcPts val="0"/>
              </a:spcBef>
              <a:spcAft>
                <a:spcPts val="600"/>
              </a:spcAft>
              <a:defRPr sz="1300" b="0">
                <a:solidFill>
                  <a:srgbClr val="5B6B83"/>
                </a:solidFill>
                <a:latin typeface="Arial"/>
              </a:defRPr>
            </a:pPr>
            <a:r>
              <a:t>Item + event</a:t>
            </a:r>
          </a:p>
        </p:txBody>
      </p:sp>
      <p:sp>
        <p:nvSpPr>
          <p:cNvPr id="13" name="Chevron 12"/>
          <p:cNvSpPr/>
          <p:nvPr/>
        </p:nvSpPr>
        <p:spPr>
          <a:xfrm>
            <a:off x="3159251" y="2766060"/>
            <a:ext cx="210312" cy="182880"/>
          </a:xfrm>
          <a:prstGeom prst="chevron">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410711" y="2066543"/>
            <a:ext cx="2523744" cy="1581912"/>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66159" y="2203703"/>
            <a:ext cx="2249424"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02</a:t>
            </a:r>
          </a:p>
        </p:txBody>
      </p:sp>
      <p:sp>
        <p:nvSpPr>
          <p:cNvPr id="16" name="TextBox 15"/>
          <p:cNvSpPr txBox="1"/>
          <p:nvPr/>
        </p:nvSpPr>
        <p:spPr>
          <a:xfrm>
            <a:off x="3566159" y="2514600"/>
            <a:ext cx="2212848" cy="475488"/>
          </a:xfrm>
          <a:prstGeom prst="rect">
            <a:avLst/>
          </a:prstGeom>
          <a:noFill/>
        </p:spPr>
        <p:txBody>
          <a:bodyPr wrap="square" lIns="0" rIns="0" tIns="0" bIns="0">
            <a:spAutoFit/>
          </a:bodyPr>
          <a:lstStyle/>
          <a:p>
            <a:pPr algn="l">
              <a:spcBef>
                <a:spcPts val="0"/>
              </a:spcBef>
              <a:spcAft>
                <a:spcPts val="600"/>
              </a:spcAft>
              <a:defRPr sz="1900" b="1">
                <a:solidFill>
                  <a:srgbClr val="172B49"/>
                </a:solidFill>
                <a:latin typeface="Arial"/>
              </a:defRPr>
            </a:pPr>
            <a:r>
              <a:t>i₂ / like</a:t>
            </a:r>
          </a:p>
        </p:txBody>
      </p:sp>
      <p:sp>
        <p:nvSpPr>
          <p:cNvPr id="17" name="TextBox 16"/>
          <p:cNvSpPr txBox="1"/>
          <p:nvPr/>
        </p:nvSpPr>
        <p:spPr>
          <a:xfrm>
            <a:off x="3566159" y="3017520"/>
            <a:ext cx="2212848" cy="576071"/>
          </a:xfrm>
          <a:prstGeom prst="rect">
            <a:avLst/>
          </a:prstGeom>
          <a:noFill/>
        </p:spPr>
        <p:txBody>
          <a:bodyPr wrap="square" lIns="0" rIns="0" tIns="0" bIns="0">
            <a:spAutoFit/>
          </a:bodyPr>
          <a:lstStyle/>
          <a:p>
            <a:pPr algn="l">
              <a:spcBef>
                <a:spcPts val="0"/>
              </a:spcBef>
              <a:spcAft>
                <a:spcPts val="600"/>
              </a:spcAft>
              <a:defRPr sz="1300" b="0">
                <a:solidFill>
                  <a:srgbClr val="5B6B83"/>
                </a:solidFill>
                <a:latin typeface="Arial"/>
              </a:defRPr>
            </a:pPr>
            <a:r>
              <a:t>Item + event</a:t>
            </a:r>
          </a:p>
        </p:txBody>
      </p:sp>
      <p:sp>
        <p:nvSpPr>
          <p:cNvPr id="18" name="Chevron 17"/>
          <p:cNvSpPr/>
          <p:nvPr/>
        </p:nvSpPr>
        <p:spPr>
          <a:xfrm>
            <a:off x="5975603" y="2766060"/>
            <a:ext cx="210312" cy="182880"/>
          </a:xfrm>
          <a:prstGeom prst="chevron">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27064" y="2066543"/>
            <a:ext cx="2523744" cy="1581912"/>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82512" y="2203703"/>
            <a:ext cx="2249424"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03</a:t>
            </a:r>
          </a:p>
        </p:txBody>
      </p:sp>
      <p:sp>
        <p:nvSpPr>
          <p:cNvPr id="21" name="TextBox 20"/>
          <p:cNvSpPr txBox="1"/>
          <p:nvPr/>
        </p:nvSpPr>
        <p:spPr>
          <a:xfrm>
            <a:off x="6382512" y="2514600"/>
            <a:ext cx="2212848" cy="475488"/>
          </a:xfrm>
          <a:prstGeom prst="rect">
            <a:avLst/>
          </a:prstGeom>
          <a:noFill/>
        </p:spPr>
        <p:txBody>
          <a:bodyPr wrap="square" lIns="0" rIns="0" tIns="0" bIns="0">
            <a:spAutoFit/>
          </a:bodyPr>
          <a:lstStyle/>
          <a:p>
            <a:pPr algn="l">
              <a:spcBef>
                <a:spcPts val="0"/>
              </a:spcBef>
              <a:spcAft>
                <a:spcPts val="600"/>
              </a:spcAft>
              <a:defRPr sz="1900" b="1">
                <a:solidFill>
                  <a:srgbClr val="172B49"/>
                </a:solidFill>
                <a:latin typeface="Arial"/>
              </a:defRPr>
            </a:pPr>
            <a:r>
              <a:t>i₃ / cart</a:t>
            </a:r>
          </a:p>
        </p:txBody>
      </p:sp>
      <p:sp>
        <p:nvSpPr>
          <p:cNvPr id="22" name="TextBox 21"/>
          <p:cNvSpPr txBox="1"/>
          <p:nvPr/>
        </p:nvSpPr>
        <p:spPr>
          <a:xfrm>
            <a:off x="6382512" y="3017520"/>
            <a:ext cx="2212848" cy="576071"/>
          </a:xfrm>
          <a:prstGeom prst="rect">
            <a:avLst/>
          </a:prstGeom>
          <a:noFill/>
        </p:spPr>
        <p:txBody>
          <a:bodyPr wrap="square" lIns="0" rIns="0" tIns="0" bIns="0">
            <a:spAutoFit/>
          </a:bodyPr>
          <a:lstStyle/>
          <a:p>
            <a:pPr algn="l">
              <a:spcBef>
                <a:spcPts val="0"/>
              </a:spcBef>
              <a:spcAft>
                <a:spcPts val="600"/>
              </a:spcAft>
              <a:defRPr sz="1300" b="0">
                <a:solidFill>
                  <a:srgbClr val="5B6B83"/>
                </a:solidFill>
                <a:latin typeface="Arial"/>
              </a:defRPr>
            </a:pPr>
            <a:r>
              <a:t>Item + event</a:t>
            </a:r>
          </a:p>
        </p:txBody>
      </p:sp>
      <p:sp>
        <p:nvSpPr>
          <p:cNvPr id="23" name="Chevron 22"/>
          <p:cNvSpPr/>
          <p:nvPr/>
        </p:nvSpPr>
        <p:spPr>
          <a:xfrm>
            <a:off x="8791956" y="2766060"/>
            <a:ext cx="210312" cy="182880"/>
          </a:xfrm>
          <a:prstGeom prst="chevron">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043415" y="2066543"/>
            <a:ext cx="2523744" cy="1581912"/>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98863" y="2203703"/>
            <a:ext cx="2249424"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04</a:t>
            </a:r>
          </a:p>
        </p:txBody>
      </p:sp>
      <p:sp>
        <p:nvSpPr>
          <p:cNvPr id="26" name="TextBox 25"/>
          <p:cNvSpPr txBox="1"/>
          <p:nvPr/>
        </p:nvSpPr>
        <p:spPr>
          <a:xfrm>
            <a:off x="9198863" y="2514600"/>
            <a:ext cx="2212848" cy="475488"/>
          </a:xfrm>
          <a:prstGeom prst="rect">
            <a:avLst/>
          </a:prstGeom>
          <a:noFill/>
        </p:spPr>
        <p:txBody>
          <a:bodyPr wrap="square" lIns="0" rIns="0" tIns="0" bIns="0">
            <a:spAutoFit/>
          </a:bodyPr>
          <a:lstStyle/>
          <a:p>
            <a:pPr algn="l">
              <a:spcBef>
                <a:spcPts val="0"/>
              </a:spcBef>
              <a:spcAft>
                <a:spcPts val="600"/>
              </a:spcAft>
              <a:defRPr sz="1900" b="1">
                <a:solidFill>
                  <a:srgbClr val="172B49"/>
                </a:solidFill>
                <a:latin typeface="Arial"/>
              </a:defRPr>
            </a:pPr>
            <a:r>
              <a:t>i₄ ?</a:t>
            </a:r>
          </a:p>
        </p:txBody>
      </p:sp>
      <p:sp>
        <p:nvSpPr>
          <p:cNvPr id="27" name="TextBox 26"/>
          <p:cNvSpPr txBox="1"/>
          <p:nvPr/>
        </p:nvSpPr>
        <p:spPr>
          <a:xfrm>
            <a:off x="9198863" y="3017520"/>
            <a:ext cx="2212848" cy="576071"/>
          </a:xfrm>
          <a:prstGeom prst="rect">
            <a:avLst/>
          </a:prstGeom>
          <a:noFill/>
        </p:spPr>
        <p:txBody>
          <a:bodyPr wrap="square" lIns="0" rIns="0" tIns="0" bIns="0">
            <a:spAutoFit/>
          </a:bodyPr>
          <a:lstStyle/>
          <a:p>
            <a:pPr algn="l">
              <a:spcBef>
                <a:spcPts val="0"/>
              </a:spcBef>
              <a:spcAft>
                <a:spcPts val="600"/>
              </a:spcAft>
              <a:defRPr sz="1300" b="0">
                <a:solidFill>
                  <a:srgbClr val="5B6B83"/>
                </a:solidFill>
                <a:latin typeface="Arial"/>
              </a:defRPr>
            </a:pPr>
            <a:r>
              <a:t>Target tiếp theo</a:t>
            </a:r>
          </a:p>
        </p:txBody>
      </p:sp>
      <p:sp>
        <p:nvSpPr>
          <p:cNvPr id="28" name="TextBox 27"/>
          <p:cNvSpPr txBox="1"/>
          <p:nvPr/>
        </p:nvSpPr>
        <p:spPr>
          <a:xfrm>
            <a:off x="758952" y="4206240"/>
            <a:ext cx="3291840" cy="566928"/>
          </a:xfrm>
          <a:prstGeom prst="rect">
            <a:avLst/>
          </a:prstGeom>
          <a:noFill/>
        </p:spPr>
        <p:txBody>
          <a:bodyPr wrap="square" lIns="0" rIns="0" tIns="0" bIns="0">
            <a:spAutoFit/>
          </a:bodyPr>
          <a:lstStyle/>
          <a:p>
            <a:pPr algn="l">
              <a:spcBef>
                <a:spcPts val="0"/>
              </a:spcBef>
              <a:spcAft>
                <a:spcPts val="600"/>
              </a:spcAft>
              <a:defRPr sz="3100" b="1">
                <a:solidFill>
                  <a:srgbClr val="244BFF"/>
                </a:solidFill>
                <a:latin typeface="Arial"/>
              </a:defRPr>
            </a:pPr>
            <a:r>
              <a:t>32 chiều</a:t>
            </a:r>
          </a:p>
        </p:txBody>
      </p:sp>
      <p:sp>
        <p:nvSpPr>
          <p:cNvPr id="29" name="TextBox 28"/>
          <p:cNvSpPr txBox="1"/>
          <p:nvPr/>
        </p:nvSpPr>
        <p:spPr>
          <a:xfrm>
            <a:off x="758952" y="4837176"/>
            <a:ext cx="3291840" cy="402336"/>
          </a:xfrm>
          <a:prstGeom prst="rect">
            <a:avLst/>
          </a:prstGeom>
          <a:noFill/>
        </p:spPr>
        <p:txBody>
          <a:bodyPr wrap="square" lIns="0" rIns="0" tIns="0" bIns="0">
            <a:spAutoFit/>
          </a:bodyPr>
          <a:lstStyle/>
          <a:p>
            <a:pPr algn="l">
              <a:spcBef>
                <a:spcPts val="0"/>
              </a:spcBef>
              <a:spcAft>
                <a:spcPts val="600"/>
              </a:spcAft>
              <a:defRPr sz="1700" b="0">
                <a:solidFill>
                  <a:srgbClr val="5B6B83"/>
                </a:solidFill>
                <a:latin typeface="Arial"/>
              </a:defRPr>
            </a:pPr>
            <a:r>
              <a:t>Item embedding</a:t>
            </a:r>
          </a:p>
        </p:txBody>
      </p:sp>
      <p:sp>
        <p:nvSpPr>
          <p:cNvPr id="30" name="TextBox 29"/>
          <p:cNvSpPr txBox="1"/>
          <p:nvPr/>
        </p:nvSpPr>
        <p:spPr>
          <a:xfrm>
            <a:off x="4526280" y="4206240"/>
            <a:ext cx="3291840" cy="566928"/>
          </a:xfrm>
          <a:prstGeom prst="rect">
            <a:avLst/>
          </a:prstGeom>
          <a:noFill/>
        </p:spPr>
        <p:txBody>
          <a:bodyPr wrap="square" lIns="0" rIns="0" tIns="0" bIns="0">
            <a:spAutoFit/>
          </a:bodyPr>
          <a:lstStyle/>
          <a:p>
            <a:pPr algn="l">
              <a:spcBef>
                <a:spcPts val="0"/>
              </a:spcBef>
              <a:spcAft>
                <a:spcPts val="600"/>
              </a:spcAft>
              <a:defRPr sz="3100" b="1">
                <a:solidFill>
                  <a:srgbClr val="244BFF"/>
                </a:solidFill>
                <a:latin typeface="Arial"/>
              </a:defRPr>
            </a:pPr>
            <a:r>
              <a:t>16 chiều</a:t>
            </a:r>
          </a:p>
        </p:txBody>
      </p:sp>
      <p:sp>
        <p:nvSpPr>
          <p:cNvPr id="31" name="TextBox 30"/>
          <p:cNvSpPr txBox="1"/>
          <p:nvPr/>
        </p:nvSpPr>
        <p:spPr>
          <a:xfrm>
            <a:off x="4526280" y="4837176"/>
            <a:ext cx="3291840" cy="402336"/>
          </a:xfrm>
          <a:prstGeom prst="rect">
            <a:avLst/>
          </a:prstGeom>
          <a:noFill/>
        </p:spPr>
        <p:txBody>
          <a:bodyPr wrap="square" lIns="0" rIns="0" tIns="0" bIns="0">
            <a:spAutoFit/>
          </a:bodyPr>
          <a:lstStyle/>
          <a:p>
            <a:pPr algn="l">
              <a:spcBef>
                <a:spcPts val="0"/>
              </a:spcBef>
              <a:spcAft>
                <a:spcPts val="600"/>
              </a:spcAft>
              <a:defRPr sz="1700" b="0">
                <a:solidFill>
                  <a:srgbClr val="5B6B83"/>
                </a:solidFill>
                <a:latin typeface="Arial"/>
              </a:defRPr>
            </a:pPr>
            <a:r>
              <a:t>Event embedding</a:t>
            </a:r>
          </a:p>
        </p:txBody>
      </p:sp>
      <p:sp>
        <p:nvSpPr>
          <p:cNvPr id="32" name="TextBox 31"/>
          <p:cNvSpPr txBox="1"/>
          <p:nvPr/>
        </p:nvSpPr>
        <p:spPr>
          <a:xfrm>
            <a:off x="8247888" y="4206240"/>
            <a:ext cx="3291840" cy="566928"/>
          </a:xfrm>
          <a:prstGeom prst="rect">
            <a:avLst/>
          </a:prstGeom>
          <a:noFill/>
        </p:spPr>
        <p:txBody>
          <a:bodyPr wrap="square" lIns="0" rIns="0" tIns="0" bIns="0">
            <a:spAutoFit/>
          </a:bodyPr>
          <a:lstStyle/>
          <a:p>
            <a:pPr algn="l">
              <a:spcBef>
                <a:spcPts val="0"/>
              </a:spcBef>
              <a:spcAft>
                <a:spcPts val="600"/>
              </a:spcAft>
              <a:defRPr sz="3100" b="1">
                <a:solidFill>
                  <a:srgbClr val="244BFF"/>
                </a:solidFill>
                <a:latin typeface="Arial"/>
              </a:defRPr>
            </a:pPr>
            <a:r>
              <a:t>100 bước</a:t>
            </a:r>
          </a:p>
        </p:txBody>
      </p:sp>
      <p:sp>
        <p:nvSpPr>
          <p:cNvPr id="33" name="TextBox 32"/>
          <p:cNvSpPr txBox="1"/>
          <p:nvPr/>
        </p:nvSpPr>
        <p:spPr>
          <a:xfrm>
            <a:off x="8247888" y="4837176"/>
            <a:ext cx="3291840" cy="402336"/>
          </a:xfrm>
          <a:prstGeom prst="rect">
            <a:avLst/>
          </a:prstGeom>
          <a:noFill/>
        </p:spPr>
        <p:txBody>
          <a:bodyPr wrap="square" lIns="0" rIns="0" tIns="0" bIns="0">
            <a:spAutoFit/>
          </a:bodyPr>
          <a:lstStyle/>
          <a:p>
            <a:pPr algn="l">
              <a:spcBef>
                <a:spcPts val="0"/>
              </a:spcBef>
              <a:spcAft>
                <a:spcPts val="600"/>
              </a:spcAft>
              <a:defRPr sz="1700" b="0">
                <a:solidFill>
                  <a:srgbClr val="5B6B83"/>
                </a:solidFill>
                <a:latin typeface="Arial"/>
              </a:defRPr>
            </a:pPr>
            <a:r>
              <a:t>Giới hạn chuỗi</a:t>
            </a:r>
          </a:p>
        </p:txBody>
      </p:sp>
      <p:sp>
        <p:nvSpPr>
          <p:cNvPr id="34" name="Rounded Rectangle 33"/>
          <p:cNvSpPr/>
          <p:nvPr/>
        </p:nvSpPr>
        <p:spPr>
          <a:xfrm>
            <a:off x="566928" y="5824728"/>
            <a:ext cx="11064240" cy="438912"/>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49808" y="5907024"/>
            <a:ext cx="10698480" cy="329184"/>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PAD = 0 · OOV = 1 · Hành vi là feature, nhãn là item tiếp theo.</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07 MODELS</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Các nhóm mô hình và phạm vi thực nghiệm</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26 / 52</a:t>
            </a:r>
          </a:p>
        </p:txBody>
      </p:sp>
      <p:sp>
        <p:nvSpPr>
          <p:cNvPr id="8" name="Rectangle 7"/>
          <p:cNvSpPr/>
          <p:nvPr/>
        </p:nvSpPr>
        <p:spPr>
          <a:xfrm>
            <a:off x="566928" y="6391656"/>
            <a:ext cx="5532119"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Table 8"/>
          <p:cNvGraphicFramePr>
            <a:graphicFrameLocks noGrp="1"/>
          </p:cNvGraphicFramePr>
          <p:nvPr/>
        </p:nvGraphicFramePr>
        <p:xfrm>
          <a:off x="658368" y="1810512"/>
          <a:ext cx="10881360" cy="3291840"/>
        </p:xfrm>
        <a:graphic>
          <a:graphicData uri="http://schemas.openxmlformats.org/drawingml/2006/table">
            <a:tbl>
              <a:tblPr firstRow="1" bandRow="1">
                <a:tableStyleId>{5C22544A-7EE6-4342-B048-85BDC9FD1C3A}</a:tableStyleId>
              </a:tblPr>
              <a:tblGrid>
                <a:gridCol w="1828800"/>
                <a:gridCol w="5577840"/>
                <a:gridCol w="3474720"/>
              </a:tblGrid>
              <a:tr h="822960">
                <a:tc>
                  <a:txBody>
                    <a:bodyPr/>
                    <a:lstStyle/>
                    <a:p>
                      <a:pPr>
                        <a:defRPr sz="1700" b="1">
                          <a:solidFill>
                            <a:srgbClr val="FFFFFF"/>
                          </a:solidFill>
                          <a:latin typeface="Arial"/>
                        </a:defRPr>
                      </a:pPr>
                      <a:r>
                        <a:t>Vai trò</a:t>
                      </a:r>
                    </a:p>
                  </a:txBody>
                  <a:tcPr marL="128016" marR="91440" marT="91440" marB="64008" anchor="ctr">
                    <a:solidFill>
                      <a:srgbClr val="244BFF"/>
                    </a:solidFill>
                  </a:tcPr>
                </a:tc>
                <a:tc>
                  <a:txBody>
                    <a:bodyPr/>
                    <a:lstStyle/>
                    <a:p>
                      <a:pPr>
                        <a:defRPr sz="1700" b="1">
                          <a:solidFill>
                            <a:srgbClr val="FFFFFF"/>
                          </a:solidFill>
                          <a:latin typeface="Arial"/>
                        </a:defRPr>
                      </a:pPr>
                      <a:r>
                        <a:t>Mô hình</a:t>
                      </a:r>
                    </a:p>
                  </a:txBody>
                  <a:tcPr marL="128016" marR="91440" marT="91440" marB="64008" anchor="ctr">
                    <a:solidFill>
                      <a:srgbClr val="244BFF"/>
                    </a:solidFill>
                  </a:tcPr>
                </a:tc>
                <a:tc>
                  <a:txBody>
                    <a:bodyPr/>
                    <a:lstStyle/>
                    <a:p>
                      <a:pPr>
                        <a:defRPr sz="1700" b="1">
                          <a:solidFill>
                            <a:srgbClr val="FFFFFF"/>
                          </a:solidFill>
                          <a:latin typeface="Arial"/>
                        </a:defRPr>
                      </a:pPr>
                      <a:r>
                        <a:t>Đầu ra</a:t>
                      </a:r>
                    </a:p>
                  </a:txBody>
                  <a:tcPr marL="128016" marR="91440" marT="91440" marB="64008" anchor="ctr">
                    <a:solidFill>
                      <a:srgbClr val="244BFF"/>
                    </a:solidFill>
                  </a:tcPr>
                </a:tc>
              </a:tr>
              <a:tr h="822960">
                <a:tc>
                  <a:txBody>
                    <a:bodyPr/>
                    <a:lstStyle/>
                    <a:p>
                      <a:pPr>
                        <a:defRPr sz="1700" b="0">
                          <a:solidFill>
                            <a:srgbClr val="172B49"/>
                          </a:solidFill>
                          <a:latin typeface="Arial"/>
                        </a:defRPr>
                      </a:pPr>
                      <a:r>
                        <a:t>Baseline</a:t>
                      </a:r>
                    </a:p>
                  </a:txBody>
                  <a:tcPr marL="128016" marR="91440" marT="91440" marB="64008" anchor="ctr">
                    <a:solidFill>
                      <a:srgbClr val="F0F4FC"/>
                    </a:solidFill>
                  </a:tcPr>
                </a:tc>
                <a:tc>
                  <a:txBody>
                    <a:bodyPr/>
                    <a:lstStyle/>
                    <a:p>
                      <a:pPr>
                        <a:defRPr sz="1700" b="0">
                          <a:solidFill>
                            <a:srgbClr val="172B49"/>
                          </a:solidFill>
                          <a:latin typeface="Arial"/>
                        </a:defRPr>
                      </a:pPr>
                      <a:r>
                        <a:t>Popularity / Trending</a:t>
                      </a:r>
                    </a:p>
                  </a:txBody>
                  <a:tcPr marL="128016" marR="91440" marT="91440" marB="64008" anchor="ctr">
                    <a:solidFill>
                      <a:srgbClr val="F0F4FC"/>
                    </a:solidFill>
                  </a:tcPr>
                </a:tc>
                <a:tc>
                  <a:txBody>
                    <a:bodyPr/>
                    <a:lstStyle/>
                    <a:p>
                      <a:pPr>
                        <a:defRPr sz="1700" b="0">
                          <a:solidFill>
                            <a:srgbClr val="172B49"/>
                          </a:solidFill>
                          <a:latin typeface="Arial"/>
                        </a:defRPr>
                      </a:pPr>
                      <a:r>
                        <a:t>Điểm phổ biến / xu hướng</a:t>
                      </a:r>
                    </a:p>
                  </a:txBody>
                  <a:tcPr marL="128016" marR="91440" marT="91440" marB="64008" anchor="ctr">
                    <a:solidFill>
                      <a:srgbClr val="F0F4FC"/>
                    </a:solidFill>
                  </a:tcPr>
                </a:tc>
              </a:tr>
              <a:tr h="822960">
                <a:tc>
                  <a:txBody>
                    <a:bodyPr/>
                    <a:lstStyle/>
                    <a:p>
                      <a:pPr>
                        <a:defRPr sz="1700" b="0">
                          <a:solidFill>
                            <a:srgbClr val="172B49"/>
                          </a:solidFill>
                          <a:latin typeface="Arial"/>
                        </a:defRPr>
                      </a:pPr>
                      <a:r>
                        <a:t>Retrieval</a:t>
                      </a:r>
                    </a:p>
                  </a:txBody>
                  <a:tcPr marL="128016" marR="91440" marT="91440" marB="64008" anchor="ctr">
                    <a:solidFill>
                      <a:srgbClr val="FFFFFF"/>
                    </a:solidFill>
                  </a:tcPr>
                </a:tc>
                <a:tc>
                  <a:txBody>
                    <a:bodyPr/>
                    <a:lstStyle/>
                    <a:p>
                      <a:pPr>
                        <a:defRPr sz="1700" b="0">
                          <a:solidFill>
                            <a:srgbClr val="172B49"/>
                          </a:solidFill>
                          <a:latin typeface="Arial"/>
                        </a:defRPr>
                      </a:pPr>
                      <a:r>
                        <a:t>Content / Co-vis / ALS / GRU / Two-Tower</a:t>
                      </a:r>
                    </a:p>
                  </a:txBody>
                  <a:tcPr marL="128016" marR="91440" marT="91440" marB="64008" anchor="ctr">
                    <a:solidFill>
                      <a:srgbClr val="FFFFFF"/>
                    </a:solidFill>
                  </a:tcPr>
                </a:tc>
                <a:tc>
                  <a:txBody>
                    <a:bodyPr/>
                    <a:lstStyle/>
                    <a:p>
                      <a:pPr>
                        <a:defRPr sz="1700" b="0">
                          <a:solidFill>
                            <a:srgbClr val="172B49"/>
                          </a:solidFill>
                          <a:latin typeface="Arial"/>
                        </a:defRPr>
                      </a:pPr>
                      <a:r>
                        <a:t>Tập ứng viên + score/rank</a:t>
                      </a:r>
                    </a:p>
                  </a:txBody>
                  <a:tcPr marL="128016" marR="91440" marT="91440" marB="64008" anchor="ctr">
                    <a:solidFill>
                      <a:srgbClr val="FFFFFF"/>
                    </a:solidFill>
                  </a:tcPr>
                </a:tc>
              </a:tr>
              <a:tr h="822960">
                <a:tc>
                  <a:txBody>
                    <a:bodyPr/>
                    <a:lstStyle/>
                    <a:p>
                      <a:pPr>
                        <a:defRPr sz="1700" b="0">
                          <a:solidFill>
                            <a:srgbClr val="172B49"/>
                          </a:solidFill>
                          <a:latin typeface="Arial"/>
                        </a:defRPr>
                      </a:pPr>
                      <a:r>
                        <a:t>Reranking</a:t>
                      </a:r>
                    </a:p>
                  </a:txBody>
                  <a:tcPr marL="128016" marR="91440" marT="91440" marB="64008" anchor="ctr">
                    <a:solidFill>
                      <a:srgbClr val="F0F4FC"/>
                    </a:solidFill>
                  </a:tcPr>
                </a:tc>
                <a:tc>
                  <a:txBody>
                    <a:bodyPr/>
                    <a:lstStyle/>
                    <a:p>
                      <a:pPr>
                        <a:defRPr sz="1700" b="0">
                          <a:solidFill>
                            <a:srgbClr val="172B49"/>
                          </a:solidFill>
                          <a:latin typeface="Arial"/>
                        </a:defRPr>
                      </a:pPr>
                      <a:r>
                        <a:t>DCN / LightGBM</a:t>
                      </a:r>
                    </a:p>
                  </a:txBody>
                  <a:tcPr marL="128016" marR="91440" marT="91440" marB="64008" anchor="ctr">
                    <a:solidFill>
                      <a:srgbClr val="F0F4FC"/>
                    </a:solidFill>
                  </a:tcPr>
                </a:tc>
                <a:tc>
                  <a:txBody>
                    <a:bodyPr/>
                    <a:lstStyle/>
                    <a:p>
                      <a:pPr>
                        <a:defRPr sz="1700" b="0">
                          <a:solidFill>
                            <a:srgbClr val="172B49"/>
                          </a:solidFill>
                          <a:latin typeface="Arial"/>
                        </a:defRPr>
                      </a:pPr>
                      <a:r>
                        <a:t>Thứ tự trong candidate pool</a:t>
                      </a:r>
                    </a:p>
                  </a:txBody>
                  <a:tcPr marL="128016" marR="91440" marT="91440" marB="64008" anchor="ctr">
                    <a:solidFill>
                      <a:srgbClr val="F0F4FC"/>
                    </a:solidFill>
                  </a:tcPr>
                </a:tc>
              </a:tr>
            </a:tbl>
          </a:graphicData>
        </a:graphic>
      </p:graphicFrame>
      <p:sp>
        <p:nvSpPr>
          <p:cNvPr id="10" name="Rounded Rectangle 9"/>
          <p:cNvSpPr/>
          <p:nvPr/>
        </p:nvSpPr>
        <p:spPr>
          <a:xfrm>
            <a:off x="566928" y="5614416"/>
            <a:ext cx="11064240" cy="566928"/>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5696712"/>
            <a:ext cx="10698480" cy="457200"/>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Đã có checkpoint và kết quả ranker; báo cáo theo giao thức của từng lượt.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07 MODELS · PIPELINE</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Pipeline offline: từ dữ liệu đến model</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27 / 52</a:t>
            </a:r>
          </a:p>
        </p:txBody>
      </p:sp>
      <p:sp>
        <p:nvSpPr>
          <p:cNvPr id="8" name="Rectangle 7"/>
          <p:cNvSpPr/>
          <p:nvPr/>
        </p:nvSpPr>
        <p:spPr>
          <a:xfrm>
            <a:off x="566928" y="6391656"/>
            <a:ext cx="5744893"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94360" y="1783080"/>
            <a:ext cx="1960473" cy="1481328"/>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920240"/>
            <a:ext cx="1686153"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01</a:t>
            </a:r>
          </a:p>
        </p:txBody>
      </p:sp>
      <p:sp>
        <p:nvSpPr>
          <p:cNvPr id="11" name="TextBox 10"/>
          <p:cNvSpPr txBox="1"/>
          <p:nvPr/>
        </p:nvSpPr>
        <p:spPr>
          <a:xfrm>
            <a:off x="749808" y="2231136"/>
            <a:ext cx="1649577" cy="475488"/>
          </a:xfrm>
          <a:prstGeom prst="rect">
            <a:avLst/>
          </a:prstGeom>
          <a:noFill/>
        </p:spPr>
        <p:txBody>
          <a:bodyPr wrap="square" lIns="0" rIns="0" tIns="0" bIns="0">
            <a:spAutoFit/>
          </a:bodyPr>
          <a:lstStyle/>
          <a:p>
            <a:pPr algn="l">
              <a:spcBef>
                <a:spcPts val="0"/>
              </a:spcBef>
              <a:spcAft>
                <a:spcPts val="600"/>
              </a:spcAft>
              <a:defRPr sz="1900" b="1">
                <a:solidFill>
                  <a:srgbClr val="172B49"/>
                </a:solidFill>
                <a:latin typeface="Arial"/>
              </a:defRPr>
            </a:pPr>
            <a:r>
              <a:t>Dữ liệu</a:t>
            </a:r>
          </a:p>
        </p:txBody>
      </p:sp>
      <p:sp>
        <p:nvSpPr>
          <p:cNvPr id="12" name="TextBox 11"/>
          <p:cNvSpPr txBox="1"/>
          <p:nvPr/>
        </p:nvSpPr>
        <p:spPr>
          <a:xfrm>
            <a:off x="749808" y="2734056"/>
            <a:ext cx="1649577" cy="475488"/>
          </a:xfrm>
          <a:prstGeom prst="rect">
            <a:avLst/>
          </a:prstGeom>
          <a:noFill/>
        </p:spPr>
        <p:txBody>
          <a:bodyPr wrap="square" lIns="0" rIns="0" tIns="0" bIns="0">
            <a:spAutoFit/>
          </a:bodyPr>
          <a:lstStyle/>
          <a:p>
            <a:pPr algn="l">
              <a:spcBef>
                <a:spcPts val="0"/>
              </a:spcBef>
              <a:spcAft>
                <a:spcPts val="600"/>
              </a:spcAft>
              <a:defRPr sz="1300" b="0">
                <a:solidFill>
                  <a:srgbClr val="5B6B83"/>
                </a:solidFill>
                <a:latin typeface="Arial"/>
              </a:defRPr>
            </a:pPr>
            <a:r>
              <a:t>Parquet + metadata</a:t>
            </a:r>
          </a:p>
        </p:txBody>
      </p:sp>
      <p:sp>
        <p:nvSpPr>
          <p:cNvPr id="13" name="Chevron 12"/>
          <p:cNvSpPr/>
          <p:nvPr/>
        </p:nvSpPr>
        <p:spPr>
          <a:xfrm>
            <a:off x="2595981" y="2432303"/>
            <a:ext cx="210312" cy="182880"/>
          </a:xfrm>
          <a:prstGeom prst="chevron">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847441" y="1783080"/>
            <a:ext cx="1960473" cy="1481328"/>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02889" y="1920240"/>
            <a:ext cx="1686153"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02</a:t>
            </a:r>
          </a:p>
        </p:txBody>
      </p:sp>
      <p:sp>
        <p:nvSpPr>
          <p:cNvPr id="16" name="TextBox 15"/>
          <p:cNvSpPr txBox="1"/>
          <p:nvPr/>
        </p:nvSpPr>
        <p:spPr>
          <a:xfrm>
            <a:off x="3002889" y="2231136"/>
            <a:ext cx="1649577" cy="475488"/>
          </a:xfrm>
          <a:prstGeom prst="rect">
            <a:avLst/>
          </a:prstGeom>
          <a:noFill/>
        </p:spPr>
        <p:txBody>
          <a:bodyPr wrap="square" lIns="0" rIns="0" tIns="0" bIns="0">
            <a:spAutoFit/>
          </a:bodyPr>
          <a:lstStyle/>
          <a:p>
            <a:pPr algn="l">
              <a:spcBef>
                <a:spcPts val="0"/>
              </a:spcBef>
              <a:spcAft>
                <a:spcPts val="600"/>
              </a:spcAft>
              <a:defRPr sz="1900" b="1">
                <a:solidFill>
                  <a:srgbClr val="172B49"/>
                </a:solidFill>
                <a:latin typeface="Arial"/>
              </a:defRPr>
            </a:pPr>
            <a:r>
              <a:t>Tiền xử lý</a:t>
            </a:r>
          </a:p>
        </p:txBody>
      </p:sp>
      <p:sp>
        <p:nvSpPr>
          <p:cNvPr id="17" name="TextBox 16"/>
          <p:cNvSpPr txBox="1"/>
          <p:nvPr/>
        </p:nvSpPr>
        <p:spPr>
          <a:xfrm>
            <a:off x="3002889" y="2734056"/>
            <a:ext cx="1649577" cy="475488"/>
          </a:xfrm>
          <a:prstGeom prst="rect">
            <a:avLst/>
          </a:prstGeom>
          <a:noFill/>
        </p:spPr>
        <p:txBody>
          <a:bodyPr wrap="square" lIns="0" rIns="0" tIns="0" bIns="0">
            <a:spAutoFit/>
          </a:bodyPr>
          <a:lstStyle/>
          <a:p>
            <a:pPr algn="l">
              <a:spcBef>
                <a:spcPts val="0"/>
              </a:spcBef>
              <a:spcAft>
                <a:spcPts val="600"/>
              </a:spcAft>
              <a:defRPr sz="1300" b="0">
                <a:solidFill>
                  <a:srgbClr val="5B6B83"/>
                </a:solidFill>
                <a:latin typeface="Arial"/>
              </a:defRPr>
            </a:pPr>
            <a:r>
              <a:t>Lọc • chia thời gian</a:t>
            </a:r>
          </a:p>
        </p:txBody>
      </p:sp>
      <p:sp>
        <p:nvSpPr>
          <p:cNvPr id="18" name="Chevron 17"/>
          <p:cNvSpPr/>
          <p:nvPr/>
        </p:nvSpPr>
        <p:spPr>
          <a:xfrm>
            <a:off x="4849063" y="2432303"/>
            <a:ext cx="210312" cy="182880"/>
          </a:xfrm>
          <a:prstGeom prst="chevron">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00523" y="1783080"/>
            <a:ext cx="1960473" cy="1481328"/>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55971" y="1920240"/>
            <a:ext cx="1686153"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03</a:t>
            </a:r>
          </a:p>
        </p:txBody>
      </p:sp>
      <p:sp>
        <p:nvSpPr>
          <p:cNvPr id="21" name="TextBox 20"/>
          <p:cNvSpPr txBox="1"/>
          <p:nvPr/>
        </p:nvSpPr>
        <p:spPr>
          <a:xfrm>
            <a:off x="5255971" y="2231136"/>
            <a:ext cx="1649577" cy="475488"/>
          </a:xfrm>
          <a:prstGeom prst="rect">
            <a:avLst/>
          </a:prstGeom>
          <a:noFill/>
        </p:spPr>
        <p:txBody>
          <a:bodyPr wrap="square" lIns="0" rIns="0" tIns="0" bIns="0">
            <a:spAutoFit/>
          </a:bodyPr>
          <a:lstStyle/>
          <a:p>
            <a:pPr algn="l">
              <a:spcBef>
                <a:spcPts val="0"/>
              </a:spcBef>
              <a:spcAft>
                <a:spcPts val="600"/>
              </a:spcAft>
              <a:defRPr sz="1900" b="1">
                <a:solidFill>
                  <a:srgbClr val="172B49"/>
                </a:solidFill>
                <a:latin typeface="Arial"/>
              </a:defRPr>
            </a:pPr>
            <a:r>
              <a:t>Đặc trưng</a:t>
            </a:r>
          </a:p>
        </p:txBody>
      </p:sp>
      <p:sp>
        <p:nvSpPr>
          <p:cNvPr id="22" name="TextBox 21"/>
          <p:cNvSpPr txBox="1"/>
          <p:nvPr/>
        </p:nvSpPr>
        <p:spPr>
          <a:xfrm>
            <a:off x="5255971" y="2734056"/>
            <a:ext cx="1649577" cy="475488"/>
          </a:xfrm>
          <a:prstGeom prst="rect">
            <a:avLst/>
          </a:prstGeom>
          <a:noFill/>
        </p:spPr>
        <p:txBody>
          <a:bodyPr wrap="square" lIns="0" rIns="0" tIns="0" bIns="0">
            <a:spAutoFit/>
          </a:bodyPr>
          <a:lstStyle/>
          <a:p>
            <a:pPr algn="l">
              <a:spcBef>
                <a:spcPts val="0"/>
              </a:spcBef>
              <a:spcAft>
                <a:spcPts val="600"/>
              </a:spcAft>
              <a:defRPr sz="1300" b="0">
                <a:solidFill>
                  <a:srgbClr val="5B6B83"/>
                </a:solidFill>
                <a:latin typeface="Arial"/>
              </a:defRPr>
            </a:pPr>
            <a:r>
              <a:t>Pairs • text • chuỗi</a:t>
            </a:r>
          </a:p>
        </p:txBody>
      </p:sp>
      <p:sp>
        <p:nvSpPr>
          <p:cNvPr id="23" name="Chevron 22"/>
          <p:cNvSpPr/>
          <p:nvPr/>
        </p:nvSpPr>
        <p:spPr>
          <a:xfrm>
            <a:off x="7102144" y="2432303"/>
            <a:ext cx="210312" cy="182880"/>
          </a:xfrm>
          <a:prstGeom prst="chevron">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353604" y="1783080"/>
            <a:ext cx="1960473" cy="1481328"/>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09052" y="1920240"/>
            <a:ext cx="1686153"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04</a:t>
            </a:r>
          </a:p>
        </p:txBody>
      </p:sp>
      <p:sp>
        <p:nvSpPr>
          <p:cNvPr id="26" name="TextBox 25"/>
          <p:cNvSpPr txBox="1"/>
          <p:nvPr/>
        </p:nvSpPr>
        <p:spPr>
          <a:xfrm>
            <a:off x="7509052" y="2231136"/>
            <a:ext cx="1649577" cy="475488"/>
          </a:xfrm>
          <a:prstGeom prst="rect">
            <a:avLst/>
          </a:prstGeom>
          <a:noFill/>
        </p:spPr>
        <p:txBody>
          <a:bodyPr wrap="square" lIns="0" rIns="0" tIns="0" bIns="0">
            <a:spAutoFit/>
          </a:bodyPr>
          <a:lstStyle/>
          <a:p>
            <a:pPr algn="l">
              <a:spcBef>
                <a:spcPts val="0"/>
              </a:spcBef>
              <a:spcAft>
                <a:spcPts val="600"/>
              </a:spcAft>
              <a:defRPr sz="1900" b="1">
                <a:solidFill>
                  <a:srgbClr val="172B49"/>
                </a:solidFill>
                <a:latin typeface="Arial"/>
              </a:defRPr>
            </a:pPr>
            <a:r>
              <a:t>Retrieval</a:t>
            </a:r>
          </a:p>
        </p:txBody>
      </p:sp>
      <p:sp>
        <p:nvSpPr>
          <p:cNvPr id="27" name="TextBox 26"/>
          <p:cNvSpPr txBox="1"/>
          <p:nvPr/>
        </p:nvSpPr>
        <p:spPr>
          <a:xfrm>
            <a:off x="7509052" y="2734056"/>
            <a:ext cx="1649577" cy="475488"/>
          </a:xfrm>
          <a:prstGeom prst="rect">
            <a:avLst/>
          </a:prstGeom>
          <a:noFill/>
        </p:spPr>
        <p:txBody>
          <a:bodyPr wrap="square" lIns="0" rIns="0" tIns="0" bIns="0">
            <a:spAutoFit/>
          </a:bodyPr>
          <a:lstStyle/>
          <a:p>
            <a:pPr algn="l">
              <a:spcBef>
                <a:spcPts val="0"/>
              </a:spcBef>
              <a:spcAft>
                <a:spcPts val="600"/>
              </a:spcAft>
              <a:defRPr sz="1300" b="0">
                <a:solidFill>
                  <a:srgbClr val="5B6B83"/>
                </a:solidFill>
                <a:latin typeface="Arial"/>
              </a:defRPr>
            </a:pPr>
            <a:r>
              <a:t>5 nguồn ứng viên</a:t>
            </a:r>
          </a:p>
        </p:txBody>
      </p:sp>
      <p:sp>
        <p:nvSpPr>
          <p:cNvPr id="28" name="Chevron 27"/>
          <p:cNvSpPr/>
          <p:nvPr/>
        </p:nvSpPr>
        <p:spPr>
          <a:xfrm>
            <a:off x="9355226" y="2432303"/>
            <a:ext cx="210312" cy="182880"/>
          </a:xfrm>
          <a:prstGeom prst="chevron">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606686" y="1783080"/>
            <a:ext cx="1960473" cy="1481328"/>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62134" y="1920240"/>
            <a:ext cx="1686153"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05</a:t>
            </a:r>
          </a:p>
        </p:txBody>
      </p:sp>
      <p:sp>
        <p:nvSpPr>
          <p:cNvPr id="31" name="TextBox 30"/>
          <p:cNvSpPr txBox="1"/>
          <p:nvPr/>
        </p:nvSpPr>
        <p:spPr>
          <a:xfrm>
            <a:off x="9762134" y="2231136"/>
            <a:ext cx="1649577" cy="475488"/>
          </a:xfrm>
          <a:prstGeom prst="rect">
            <a:avLst/>
          </a:prstGeom>
          <a:noFill/>
        </p:spPr>
        <p:txBody>
          <a:bodyPr wrap="square" lIns="0" rIns="0" tIns="0" bIns="0">
            <a:spAutoFit/>
          </a:bodyPr>
          <a:lstStyle/>
          <a:p>
            <a:pPr algn="l">
              <a:spcBef>
                <a:spcPts val="0"/>
              </a:spcBef>
              <a:spcAft>
                <a:spcPts val="600"/>
              </a:spcAft>
              <a:defRPr sz="1900" b="1">
                <a:solidFill>
                  <a:srgbClr val="172B49"/>
                </a:solidFill>
                <a:latin typeface="Arial"/>
              </a:defRPr>
            </a:pPr>
            <a:r>
              <a:t>Ranker</a:t>
            </a:r>
          </a:p>
        </p:txBody>
      </p:sp>
      <p:sp>
        <p:nvSpPr>
          <p:cNvPr id="32" name="TextBox 31"/>
          <p:cNvSpPr txBox="1"/>
          <p:nvPr/>
        </p:nvSpPr>
        <p:spPr>
          <a:xfrm>
            <a:off x="9762134" y="2734056"/>
            <a:ext cx="1649577" cy="475488"/>
          </a:xfrm>
          <a:prstGeom prst="rect">
            <a:avLst/>
          </a:prstGeom>
          <a:noFill/>
        </p:spPr>
        <p:txBody>
          <a:bodyPr wrap="square" lIns="0" rIns="0" tIns="0" bIns="0">
            <a:spAutoFit/>
          </a:bodyPr>
          <a:lstStyle/>
          <a:p>
            <a:pPr algn="l">
              <a:spcBef>
                <a:spcPts val="0"/>
              </a:spcBef>
              <a:spcAft>
                <a:spcPts val="600"/>
              </a:spcAft>
              <a:defRPr sz="1300" b="0">
                <a:solidFill>
                  <a:srgbClr val="5B6B83"/>
                </a:solidFill>
                <a:latin typeface="Arial"/>
              </a:defRPr>
            </a:pPr>
            <a:r>
              <a:t>DCN / LightGBM</a:t>
            </a:r>
          </a:p>
        </p:txBody>
      </p:sp>
      <p:sp>
        <p:nvSpPr>
          <p:cNvPr id="33" name="Oval 32"/>
          <p:cNvSpPr/>
          <p:nvPr/>
        </p:nvSpPr>
        <p:spPr>
          <a:xfrm>
            <a:off x="749808" y="3712464"/>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41832" y="3611880"/>
            <a:ext cx="10506455" cy="374904"/>
          </a:xfrm>
          <a:prstGeom prst="rect">
            <a:avLst/>
          </a:prstGeom>
          <a:noFill/>
        </p:spPr>
        <p:txBody>
          <a:bodyPr wrap="square" lIns="0" rIns="0" tIns="0" bIns="0">
            <a:spAutoFit/>
          </a:bodyPr>
          <a:lstStyle/>
          <a:p>
            <a:pPr algn="l">
              <a:spcBef>
                <a:spcPts val="0"/>
              </a:spcBef>
              <a:spcAft>
                <a:spcPts val="600"/>
              </a:spcAft>
              <a:defRPr sz="1800" b="0">
                <a:solidFill>
                  <a:srgbClr val="172B49"/>
                </a:solidFill>
                <a:latin typeface="Arial"/>
              </a:defRPr>
            </a:pPr>
            <a:r>
              <a:t>Chuẩn hóa Parquet, lọc dữ liệu và chia TRAIN / VAL / TEST theo thời gian.</a:t>
            </a:r>
          </a:p>
        </p:txBody>
      </p:sp>
      <p:sp>
        <p:nvSpPr>
          <p:cNvPr id="35" name="Oval 34"/>
          <p:cNvSpPr/>
          <p:nvPr/>
        </p:nvSpPr>
        <p:spPr>
          <a:xfrm>
            <a:off x="749808" y="4169664"/>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41832" y="4069080"/>
            <a:ext cx="10506455" cy="374904"/>
          </a:xfrm>
          <a:prstGeom prst="rect">
            <a:avLst/>
          </a:prstGeom>
          <a:noFill/>
        </p:spPr>
        <p:txBody>
          <a:bodyPr wrap="square" lIns="0" rIns="0" tIns="0" bIns="0">
            <a:spAutoFit/>
          </a:bodyPr>
          <a:lstStyle/>
          <a:p>
            <a:pPr algn="l">
              <a:spcBef>
                <a:spcPts val="0"/>
              </a:spcBef>
              <a:spcAft>
                <a:spcPts val="600"/>
              </a:spcAft>
              <a:defRPr sz="1800" b="0">
                <a:solidFill>
                  <a:srgbClr val="172B49"/>
                </a:solidFill>
                <a:latin typeface="Arial"/>
              </a:defRPr>
            </a:pPr>
            <a:r>
              <a:t>Tạo metadata, implicit pairs và chuỗi hành vi cho từng nhóm mô hình.</a:t>
            </a:r>
          </a:p>
        </p:txBody>
      </p:sp>
      <p:sp>
        <p:nvSpPr>
          <p:cNvPr id="37" name="Oval 36"/>
          <p:cNvSpPr/>
          <p:nvPr/>
        </p:nvSpPr>
        <p:spPr>
          <a:xfrm>
            <a:off x="749808" y="4626864"/>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1832" y="4526280"/>
            <a:ext cx="10506455" cy="374904"/>
          </a:xfrm>
          <a:prstGeom prst="rect">
            <a:avLst/>
          </a:prstGeom>
          <a:noFill/>
        </p:spPr>
        <p:txBody>
          <a:bodyPr wrap="square" lIns="0" rIns="0" tIns="0" bIns="0">
            <a:spAutoFit/>
          </a:bodyPr>
          <a:lstStyle/>
          <a:p>
            <a:pPr algn="l">
              <a:spcBef>
                <a:spcPts val="0"/>
              </a:spcBef>
              <a:spcAft>
                <a:spcPts val="600"/>
              </a:spcAft>
              <a:defRPr sz="1800" b="0">
                <a:solidFill>
                  <a:srgbClr val="172B49"/>
                </a:solidFill>
                <a:latin typeface="Arial"/>
              </a:defRPr>
            </a:pPr>
            <a:r>
              <a:t>Huấn luyện retrieval → xuất ứng viên và đặc trưng → huấn luyện ranker.</a:t>
            </a:r>
          </a:p>
        </p:txBody>
      </p:sp>
      <p:sp>
        <p:nvSpPr>
          <p:cNvPr id="39" name="Oval 38"/>
          <p:cNvSpPr/>
          <p:nvPr/>
        </p:nvSpPr>
        <p:spPr>
          <a:xfrm>
            <a:off x="749808" y="5084064"/>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41832" y="4983480"/>
            <a:ext cx="10506455" cy="374904"/>
          </a:xfrm>
          <a:prstGeom prst="rect">
            <a:avLst/>
          </a:prstGeom>
          <a:noFill/>
        </p:spPr>
        <p:txBody>
          <a:bodyPr wrap="square" lIns="0" rIns="0" tIns="0" bIns="0">
            <a:spAutoFit/>
          </a:bodyPr>
          <a:lstStyle/>
          <a:p>
            <a:pPr algn="l">
              <a:spcBef>
                <a:spcPts val="0"/>
              </a:spcBef>
              <a:spcAft>
                <a:spcPts val="600"/>
              </a:spcAft>
              <a:defRPr sz="1800" b="0">
                <a:solidFill>
                  <a:srgbClr val="172B49"/>
                </a:solidFill>
                <a:latin typeface="Arial"/>
              </a:defRPr>
            </a:pPr>
            <a:r>
              <a:t>Chọn tham số trên VAL; lưu checkpoint, schema và kết quả TEST theo protocol.</a:t>
            </a:r>
          </a:p>
        </p:txBody>
      </p:sp>
      <p:sp>
        <p:nvSpPr>
          <p:cNvPr id="41" name="Rounded Rectangle 40"/>
          <p:cNvSpPr/>
          <p:nvPr/>
        </p:nvSpPr>
        <p:spPr>
          <a:xfrm>
            <a:off x="566928" y="5852160"/>
            <a:ext cx="11064240" cy="384048"/>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49808" y="5934456"/>
            <a:ext cx="10698480" cy="274320"/>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TRAIN → học tham số     |     VAL → chọn cấu hình     |     TEST → báo cáo kết quả</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07 MODELS · PIPELINE</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Pipeline gợi ý: truy hồi → hợp nhất → xếp hạng</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28 / 52</a:t>
            </a:r>
          </a:p>
        </p:txBody>
      </p:sp>
      <p:sp>
        <p:nvSpPr>
          <p:cNvPr id="8" name="Rectangle 7"/>
          <p:cNvSpPr/>
          <p:nvPr/>
        </p:nvSpPr>
        <p:spPr>
          <a:xfrm>
            <a:off x="566928" y="6391656"/>
            <a:ext cx="5957667"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85800" y="2075688"/>
            <a:ext cx="2121408" cy="2331720"/>
          </a:xfrm>
          <a:prstGeom prst="roundRect">
            <a:avLst>
              <a:gd name="adj" fmla="val 9000"/>
            </a:avLst>
          </a:prstGeom>
          <a:solidFill>
            <a:srgbClr val="1021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478024"/>
            <a:ext cx="1755648" cy="1554480"/>
          </a:xfrm>
          <a:prstGeom prst="rect">
            <a:avLst/>
          </a:prstGeom>
          <a:noFill/>
        </p:spPr>
        <p:txBody>
          <a:bodyPr wrap="square" lIns="0" rIns="0" tIns="0" bIns="0">
            <a:spAutoFit/>
          </a:bodyPr>
          <a:lstStyle/>
          <a:p>
            <a:pPr algn="ctr">
              <a:spcBef>
                <a:spcPts val="0"/>
              </a:spcBef>
              <a:spcAft>
                <a:spcPts val="600"/>
              </a:spcAft>
              <a:defRPr sz="2000" b="1">
                <a:solidFill>
                  <a:srgbClr val="FFFFFF"/>
                </a:solidFill>
                <a:latin typeface="Arial"/>
              </a:defRPr>
            </a:pPr>
            <a:r>
              <a:t>User / session</a:t>
            </a:r>
          </a:p>
          <a:p>
            <a:pPr algn="ctr">
              <a:spcBef>
                <a:spcPts val="0"/>
              </a:spcBef>
              <a:spcAft>
                <a:spcPts val="600"/>
              </a:spcAft>
              <a:defRPr sz="2000" b="1">
                <a:solidFill>
                  <a:srgbClr val="FFFFFF"/>
                </a:solidFill>
                <a:latin typeface="Arial"/>
              </a:defRPr>
            </a:pPr>
            <a:r>
              <a:t>Lịch sử</a:t>
            </a:r>
          </a:p>
          <a:p>
            <a:pPr algn="ctr">
              <a:spcBef>
                <a:spcPts val="0"/>
              </a:spcBef>
              <a:spcAft>
                <a:spcPts val="600"/>
              </a:spcAft>
              <a:defRPr sz="2000" b="1">
                <a:solidFill>
                  <a:srgbClr val="FFFFFF"/>
                </a:solidFill>
                <a:latin typeface="Arial"/>
              </a:defRPr>
            </a:pPr>
            <a:r>
              <a:t>Item đang xem</a:t>
            </a:r>
          </a:p>
        </p:txBody>
      </p:sp>
      <p:sp>
        <p:nvSpPr>
          <p:cNvPr id="11" name="Rounded Rectangle 10"/>
          <p:cNvSpPr/>
          <p:nvPr/>
        </p:nvSpPr>
        <p:spPr>
          <a:xfrm>
            <a:off x="3264408" y="1719072"/>
            <a:ext cx="2788920" cy="484632"/>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19856" y="1837943"/>
            <a:ext cx="2478024" cy="274320"/>
          </a:xfrm>
          <a:prstGeom prst="rect">
            <a:avLst/>
          </a:prstGeom>
          <a:noFill/>
        </p:spPr>
        <p:txBody>
          <a:bodyPr wrap="square" lIns="0" rIns="0" tIns="0" bIns="0">
            <a:spAutoFit/>
          </a:bodyPr>
          <a:lstStyle/>
          <a:p>
            <a:pPr algn="l">
              <a:spcBef>
                <a:spcPts val="0"/>
              </a:spcBef>
              <a:spcAft>
                <a:spcPts val="600"/>
              </a:spcAft>
              <a:defRPr sz="1700" b="1">
                <a:solidFill>
                  <a:srgbClr val="244BFF"/>
                </a:solidFill>
                <a:latin typeface="Arial"/>
              </a:defRPr>
            </a:pPr>
            <a:r>
              <a:t>Content-Based</a:t>
            </a:r>
          </a:p>
        </p:txBody>
      </p:sp>
      <p:cxnSp>
        <p:nvCxnSpPr>
          <p:cNvPr id="13" name="Connector 12"/>
          <p:cNvCxnSpPr/>
          <p:nvPr/>
        </p:nvCxnSpPr>
        <p:spPr>
          <a:xfrm flipV="1">
            <a:off x="2816352" y="1956815"/>
            <a:ext cx="384048" cy="1271017"/>
          </a:xfrm>
          <a:prstGeom prst="line">
            <a:avLst/>
          </a:prstGeom>
          <a:ln w="12700">
            <a:solidFill>
              <a:srgbClr val="244BFF"/>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6080760" y="1956815"/>
            <a:ext cx="438912" cy="1271017"/>
          </a:xfrm>
          <a:prstGeom prst="line">
            <a:avLst/>
          </a:prstGeom>
          <a:ln w="12700">
            <a:solidFill>
              <a:srgbClr val="244BFF"/>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264408" y="2331720"/>
            <a:ext cx="2788920" cy="484632"/>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19856" y="2450591"/>
            <a:ext cx="2478024" cy="274320"/>
          </a:xfrm>
          <a:prstGeom prst="rect">
            <a:avLst/>
          </a:prstGeom>
          <a:noFill/>
        </p:spPr>
        <p:txBody>
          <a:bodyPr wrap="square" lIns="0" rIns="0" tIns="0" bIns="0">
            <a:spAutoFit/>
          </a:bodyPr>
          <a:lstStyle/>
          <a:p>
            <a:pPr algn="l">
              <a:spcBef>
                <a:spcPts val="0"/>
              </a:spcBef>
              <a:spcAft>
                <a:spcPts val="600"/>
              </a:spcAft>
              <a:defRPr sz="1700" b="1">
                <a:solidFill>
                  <a:srgbClr val="244BFF"/>
                </a:solidFill>
                <a:latin typeface="Arial"/>
              </a:defRPr>
            </a:pPr>
            <a:r>
              <a:t>Co-visitation</a:t>
            </a:r>
          </a:p>
        </p:txBody>
      </p:sp>
      <p:cxnSp>
        <p:nvCxnSpPr>
          <p:cNvPr id="17" name="Connector 16"/>
          <p:cNvCxnSpPr/>
          <p:nvPr/>
        </p:nvCxnSpPr>
        <p:spPr>
          <a:xfrm flipV="1">
            <a:off x="2816352" y="2569463"/>
            <a:ext cx="384048" cy="658369"/>
          </a:xfrm>
          <a:prstGeom prst="line">
            <a:avLst/>
          </a:prstGeom>
          <a:ln w="12700">
            <a:solidFill>
              <a:srgbClr val="244BFF"/>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6080760" y="2569463"/>
            <a:ext cx="438912" cy="658369"/>
          </a:xfrm>
          <a:prstGeom prst="line">
            <a:avLst/>
          </a:prstGeom>
          <a:ln w="12700">
            <a:solidFill>
              <a:srgbClr val="244BFF"/>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3264408" y="2944368"/>
            <a:ext cx="2788920" cy="484632"/>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19856" y="3063239"/>
            <a:ext cx="2478024" cy="274320"/>
          </a:xfrm>
          <a:prstGeom prst="rect">
            <a:avLst/>
          </a:prstGeom>
          <a:noFill/>
        </p:spPr>
        <p:txBody>
          <a:bodyPr wrap="square" lIns="0" rIns="0" tIns="0" bIns="0">
            <a:spAutoFit/>
          </a:bodyPr>
          <a:lstStyle/>
          <a:p>
            <a:pPr algn="l">
              <a:spcBef>
                <a:spcPts val="0"/>
              </a:spcBef>
              <a:spcAft>
                <a:spcPts val="600"/>
              </a:spcAft>
              <a:defRPr sz="1700" b="1">
                <a:solidFill>
                  <a:srgbClr val="244BFF"/>
                </a:solidFill>
                <a:latin typeface="Arial"/>
              </a:defRPr>
            </a:pPr>
            <a:r>
              <a:t>ALS</a:t>
            </a:r>
          </a:p>
        </p:txBody>
      </p:sp>
      <p:cxnSp>
        <p:nvCxnSpPr>
          <p:cNvPr id="21" name="Connector 20"/>
          <p:cNvCxnSpPr/>
          <p:nvPr/>
        </p:nvCxnSpPr>
        <p:spPr>
          <a:xfrm flipV="1">
            <a:off x="2816352" y="3182111"/>
            <a:ext cx="384048" cy="45721"/>
          </a:xfrm>
          <a:prstGeom prst="line">
            <a:avLst/>
          </a:prstGeom>
          <a:ln w="12700">
            <a:solidFill>
              <a:srgbClr val="244BFF"/>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080760" y="3182111"/>
            <a:ext cx="438912" cy="45721"/>
          </a:xfrm>
          <a:prstGeom prst="line">
            <a:avLst/>
          </a:prstGeom>
          <a:ln w="12700">
            <a:solidFill>
              <a:srgbClr val="244BFF"/>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3264408" y="3557016"/>
            <a:ext cx="2788920" cy="484632"/>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419856" y="3675888"/>
            <a:ext cx="2478024" cy="274320"/>
          </a:xfrm>
          <a:prstGeom prst="rect">
            <a:avLst/>
          </a:prstGeom>
          <a:noFill/>
        </p:spPr>
        <p:txBody>
          <a:bodyPr wrap="square" lIns="0" rIns="0" tIns="0" bIns="0">
            <a:spAutoFit/>
          </a:bodyPr>
          <a:lstStyle/>
          <a:p>
            <a:pPr algn="l">
              <a:spcBef>
                <a:spcPts val="0"/>
              </a:spcBef>
              <a:spcAft>
                <a:spcPts val="600"/>
              </a:spcAft>
              <a:defRPr sz="1700" b="1">
                <a:solidFill>
                  <a:srgbClr val="244BFF"/>
                </a:solidFill>
                <a:latin typeface="Arial"/>
              </a:defRPr>
            </a:pPr>
            <a:r>
              <a:t>GRU4Rec</a:t>
            </a:r>
          </a:p>
        </p:txBody>
      </p:sp>
      <p:cxnSp>
        <p:nvCxnSpPr>
          <p:cNvPr id="25" name="Connector 24"/>
          <p:cNvCxnSpPr/>
          <p:nvPr/>
        </p:nvCxnSpPr>
        <p:spPr>
          <a:xfrm>
            <a:off x="2816352" y="3227832"/>
            <a:ext cx="384048" cy="566928"/>
          </a:xfrm>
          <a:prstGeom prst="line">
            <a:avLst/>
          </a:prstGeom>
          <a:ln w="12700">
            <a:solidFill>
              <a:srgbClr val="244BFF"/>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6080760" y="3227832"/>
            <a:ext cx="438912" cy="566928"/>
          </a:xfrm>
          <a:prstGeom prst="line">
            <a:avLst/>
          </a:prstGeom>
          <a:ln w="12700">
            <a:solidFill>
              <a:srgbClr val="244BFF"/>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3264408" y="4169664"/>
            <a:ext cx="2788920" cy="484632"/>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419856" y="4288536"/>
            <a:ext cx="2478024" cy="274320"/>
          </a:xfrm>
          <a:prstGeom prst="rect">
            <a:avLst/>
          </a:prstGeom>
          <a:noFill/>
        </p:spPr>
        <p:txBody>
          <a:bodyPr wrap="square" lIns="0" rIns="0" tIns="0" bIns="0">
            <a:spAutoFit/>
          </a:bodyPr>
          <a:lstStyle/>
          <a:p>
            <a:pPr algn="l">
              <a:spcBef>
                <a:spcPts val="0"/>
              </a:spcBef>
              <a:spcAft>
                <a:spcPts val="600"/>
              </a:spcAft>
              <a:defRPr sz="1700" b="1">
                <a:solidFill>
                  <a:srgbClr val="244BFF"/>
                </a:solidFill>
                <a:latin typeface="Arial"/>
              </a:defRPr>
            </a:pPr>
            <a:r>
              <a:t>Two-Tower</a:t>
            </a:r>
          </a:p>
        </p:txBody>
      </p:sp>
      <p:cxnSp>
        <p:nvCxnSpPr>
          <p:cNvPr id="29" name="Connector 28"/>
          <p:cNvCxnSpPr/>
          <p:nvPr/>
        </p:nvCxnSpPr>
        <p:spPr>
          <a:xfrm>
            <a:off x="2816352" y="3227832"/>
            <a:ext cx="384048" cy="1179576"/>
          </a:xfrm>
          <a:prstGeom prst="line">
            <a:avLst/>
          </a:prstGeom>
          <a:ln w="12700">
            <a:solidFill>
              <a:srgbClr val="244BFF"/>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V="1">
            <a:off x="6080760" y="3227832"/>
            <a:ext cx="438912" cy="1179576"/>
          </a:xfrm>
          <a:prstGeom prst="line">
            <a:avLst/>
          </a:prstGeom>
          <a:ln w="12700">
            <a:solidFill>
              <a:srgbClr val="244BFF"/>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6565392" y="2066543"/>
            <a:ext cx="2286000" cy="2331720"/>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729983" y="2350008"/>
            <a:ext cx="1956816" cy="420624"/>
          </a:xfrm>
          <a:prstGeom prst="rect">
            <a:avLst/>
          </a:prstGeom>
          <a:noFill/>
        </p:spPr>
        <p:txBody>
          <a:bodyPr wrap="square" lIns="0" rIns="0" tIns="0" bIns="0">
            <a:spAutoFit/>
          </a:bodyPr>
          <a:lstStyle/>
          <a:p>
            <a:pPr algn="l">
              <a:spcBef>
                <a:spcPts val="0"/>
              </a:spcBef>
              <a:spcAft>
                <a:spcPts val="600"/>
              </a:spcAft>
              <a:defRPr sz="2300" b="1">
                <a:solidFill>
                  <a:srgbClr val="244BFF"/>
                </a:solidFill>
                <a:latin typeface="Arial"/>
              </a:defRPr>
            </a:pPr>
            <a:r>
              <a:t>Hợp nhất</a:t>
            </a:r>
          </a:p>
        </p:txBody>
      </p:sp>
      <p:sp>
        <p:nvSpPr>
          <p:cNvPr id="33" name="TextBox 32"/>
          <p:cNvSpPr txBox="1"/>
          <p:nvPr/>
        </p:nvSpPr>
        <p:spPr>
          <a:xfrm>
            <a:off x="6729983" y="3026664"/>
            <a:ext cx="1956816" cy="1033271"/>
          </a:xfrm>
          <a:prstGeom prst="rect">
            <a:avLst/>
          </a:prstGeom>
          <a:noFill/>
        </p:spPr>
        <p:txBody>
          <a:bodyPr wrap="square" lIns="0" rIns="0" tIns="0" bIns="0">
            <a:spAutoFit/>
          </a:bodyPr>
          <a:lstStyle/>
          <a:p>
            <a:pPr algn="l">
              <a:spcBef>
                <a:spcPts val="0"/>
              </a:spcBef>
              <a:spcAft>
                <a:spcPts val="600"/>
              </a:spcAft>
              <a:defRPr sz="1800" b="0">
                <a:solidFill>
                  <a:srgbClr val="172B49"/>
                </a:solidFill>
                <a:latin typeface="Arial"/>
              </a:defRPr>
            </a:pPr>
            <a:r>
              <a:t>Khử trùng</a:t>
            </a:r>
          </a:p>
          <a:p>
            <a:pPr algn="l">
              <a:spcBef>
                <a:spcPts val="0"/>
              </a:spcBef>
              <a:spcAft>
                <a:spcPts val="600"/>
              </a:spcAft>
              <a:defRPr sz="1800" b="0">
                <a:solidFill>
                  <a:srgbClr val="172B49"/>
                </a:solidFill>
                <a:latin typeface="Arial"/>
              </a:defRPr>
            </a:pPr>
            <a:r>
              <a:t>Lọc lịch sử</a:t>
            </a:r>
          </a:p>
          <a:p>
            <a:pPr algn="l">
              <a:spcBef>
                <a:spcPts val="0"/>
              </a:spcBef>
              <a:spcAft>
                <a:spcPts val="600"/>
              </a:spcAft>
              <a:defRPr sz="1800" b="0">
                <a:solidFill>
                  <a:srgbClr val="172B49"/>
                </a:solidFill>
                <a:latin typeface="Arial"/>
              </a:defRPr>
            </a:pPr>
            <a:r>
              <a:t>Score / rank</a:t>
            </a:r>
          </a:p>
        </p:txBody>
      </p:sp>
      <p:sp>
        <p:nvSpPr>
          <p:cNvPr id="34" name="Rounded Rectangle 33"/>
          <p:cNvSpPr/>
          <p:nvPr/>
        </p:nvSpPr>
        <p:spPr>
          <a:xfrm>
            <a:off x="9180576" y="2066543"/>
            <a:ext cx="2286000" cy="2331720"/>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345167" y="2350008"/>
            <a:ext cx="1956816" cy="420624"/>
          </a:xfrm>
          <a:prstGeom prst="rect">
            <a:avLst/>
          </a:prstGeom>
          <a:noFill/>
        </p:spPr>
        <p:txBody>
          <a:bodyPr wrap="square" lIns="0" rIns="0" tIns="0" bIns="0">
            <a:spAutoFit/>
          </a:bodyPr>
          <a:lstStyle/>
          <a:p>
            <a:pPr algn="l">
              <a:spcBef>
                <a:spcPts val="0"/>
              </a:spcBef>
              <a:spcAft>
                <a:spcPts val="600"/>
              </a:spcAft>
              <a:defRPr sz="2300" b="1">
                <a:solidFill>
                  <a:srgbClr val="244BFF"/>
                </a:solidFill>
                <a:latin typeface="Arial"/>
              </a:defRPr>
            </a:pPr>
            <a:r>
              <a:t>Ranker</a:t>
            </a:r>
          </a:p>
        </p:txBody>
      </p:sp>
      <p:sp>
        <p:nvSpPr>
          <p:cNvPr id="36" name="TextBox 35"/>
          <p:cNvSpPr txBox="1"/>
          <p:nvPr/>
        </p:nvSpPr>
        <p:spPr>
          <a:xfrm>
            <a:off x="9345167" y="3026664"/>
            <a:ext cx="1956816" cy="1033271"/>
          </a:xfrm>
          <a:prstGeom prst="rect">
            <a:avLst/>
          </a:prstGeom>
          <a:noFill/>
        </p:spPr>
        <p:txBody>
          <a:bodyPr wrap="square" lIns="0" rIns="0" tIns="0" bIns="0">
            <a:spAutoFit/>
          </a:bodyPr>
          <a:lstStyle/>
          <a:p>
            <a:pPr algn="l">
              <a:spcBef>
                <a:spcPts val="0"/>
              </a:spcBef>
              <a:spcAft>
                <a:spcPts val="600"/>
              </a:spcAft>
              <a:defRPr sz="1800" b="0">
                <a:solidFill>
                  <a:srgbClr val="172B49"/>
                </a:solidFill>
                <a:latin typeface="Arial"/>
              </a:defRPr>
            </a:pPr>
            <a:r>
              <a:t>DCN hoặc</a:t>
            </a:r>
          </a:p>
          <a:p>
            <a:pPr algn="l">
              <a:spcBef>
                <a:spcPts val="0"/>
              </a:spcBef>
              <a:spcAft>
                <a:spcPts val="600"/>
              </a:spcAft>
              <a:defRPr sz="1800" b="0">
                <a:solidFill>
                  <a:srgbClr val="172B49"/>
                </a:solidFill>
                <a:latin typeface="Arial"/>
              </a:defRPr>
            </a:pPr>
            <a:r>
              <a:t>LightGBM</a:t>
            </a:r>
          </a:p>
          <a:p>
            <a:pPr algn="l">
              <a:spcBef>
                <a:spcPts val="0"/>
              </a:spcBef>
              <a:spcAft>
                <a:spcPts val="600"/>
              </a:spcAft>
              <a:defRPr sz="1800" b="0">
                <a:solidFill>
                  <a:srgbClr val="172B49"/>
                </a:solidFill>
                <a:latin typeface="Arial"/>
              </a:defRPr>
            </a:pPr>
            <a:r>
              <a:t>→ Top-K</a:t>
            </a:r>
          </a:p>
        </p:txBody>
      </p:sp>
      <p:sp>
        <p:nvSpPr>
          <p:cNvPr id="37" name="Chevron 36"/>
          <p:cNvSpPr/>
          <p:nvPr/>
        </p:nvSpPr>
        <p:spPr>
          <a:xfrm>
            <a:off x="8915400" y="3072384"/>
            <a:ext cx="210312" cy="228600"/>
          </a:xfrm>
          <a:prstGeom prst="chevron">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58952" y="5193792"/>
            <a:ext cx="10698480" cy="457200"/>
          </a:xfrm>
          <a:prstGeom prst="rect">
            <a:avLst/>
          </a:prstGeom>
          <a:noFill/>
        </p:spPr>
        <p:txBody>
          <a:bodyPr wrap="square" lIns="0" rIns="0" tIns="0" bIns="0">
            <a:spAutoFit/>
          </a:bodyPr>
          <a:lstStyle/>
          <a:p>
            <a:pPr algn="l">
              <a:spcBef>
                <a:spcPts val="0"/>
              </a:spcBef>
              <a:spcAft>
                <a:spcPts val="600"/>
              </a:spcAft>
              <a:defRPr sz="1800" b="0">
                <a:solidFill>
                  <a:srgbClr val="172B49"/>
                </a:solidFill>
                <a:latin typeface="Arial"/>
              </a:defRPr>
            </a:pPr>
            <a:r>
              <a:t>Metadata và ảnh được ghép sau khi chọn danh sách; ảnh không quyết định danh tính sản phẩm.</a:t>
            </a:r>
          </a:p>
        </p:txBody>
      </p:sp>
      <p:sp>
        <p:nvSpPr>
          <p:cNvPr id="39" name="Rounded Rectangle 38"/>
          <p:cNvSpPr/>
          <p:nvPr/>
        </p:nvSpPr>
        <p:spPr>
          <a:xfrm>
            <a:off x="566928" y="5897880"/>
            <a:ext cx="11064240" cy="365760"/>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49808" y="5980176"/>
            <a:ext cx="10698480" cy="256032"/>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Sơ đồ thực nghiệm hai tầng; khả năng phục vụ từng nhánh phụ thuộc cấu hình và artifact.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07 MODELS</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Popularity và Trending</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29 / 52</a:t>
            </a:r>
          </a:p>
        </p:txBody>
      </p:sp>
      <p:sp>
        <p:nvSpPr>
          <p:cNvPr id="8" name="Rectangle 7"/>
          <p:cNvSpPr/>
          <p:nvPr/>
        </p:nvSpPr>
        <p:spPr>
          <a:xfrm>
            <a:off x="566928" y="6391656"/>
            <a:ext cx="6170441"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76656" y="1865376"/>
            <a:ext cx="10817352" cy="1124712"/>
          </a:xfrm>
          <a:prstGeom prst="roundRect">
            <a:avLst>
              <a:gd name="adj" fmla="val 9000"/>
            </a:avLst>
          </a:prstGeom>
          <a:solidFill>
            <a:srgbClr val="1021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77824" y="2212848"/>
            <a:ext cx="10387584" cy="502920"/>
          </a:xfrm>
          <a:prstGeom prst="rect">
            <a:avLst/>
          </a:prstGeom>
          <a:noFill/>
        </p:spPr>
        <p:txBody>
          <a:bodyPr wrap="square" lIns="0" rIns="0" tIns="0" bIns="0">
            <a:spAutoFit/>
          </a:bodyPr>
          <a:lstStyle/>
          <a:p>
            <a:pPr algn="ctr">
              <a:spcBef>
                <a:spcPts val="0"/>
              </a:spcBef>
              <a:spcAft>
                <a:spcPts val="600"/>
              </a:spcAft>
              <a:defRPr sz="2700" b="1">
                <a:solidFill>
                  <a:srgbClr val="FFFFFF"/>
                </a:solidFill>
                <a:latin typeface="Arial"/>
              </a:defRPr>
            </a:pPr>
            <a:r>
              <a:t>Trending = Σ weight × 0,5 ^ (tuổi sự kiện / 3 ngày)</a:t>
            </a:r>
          </a:p>
        </p:txBody>
      </p:sp>
      <p:sp>
        <p:nvSpPr>
          <p:cNvPr id="11" name="TextBox 10"/>
          <p:cNvSpPr txBox="1"/>
          <p:nvPr/>
        </p:nvSpPr>
        <p:spPr>
          <a:xfrm>
            <a:off x="795528" y="3630168"/>
            <a:ext cx="2542032" cy="530352"/>
          </a:xfrm>
          <a:prstGeom prst="rect">
            <a:avLst/>
          </a:prstGeom>
          <a:noFill/>
        </p:spPr>
        <p:txBody>
          <a:bodyPr wrap="square" lIns="0" rIns="0" tIns="0" bIns="0">
            <a:spAutoFit/>
          </a:bodyPr>
          <a:lstStyle/>
          <a:p>
            <a:pPr algn="l">
              <a:spcBef>
                <a:spcPts val="0"/>
              </a:spcBef>
              <a:spcAft>
                <a:spcPts val="600"/>
              </a:spcAft>
              <a:defRPr sz="3300" b="1">
                <a:solidFill>
                  <a:srgbClr val="244BFF"/>
                </a:solidFill>
                <a:latin typeface="Arial"/>
              </a:defRPr>
            </a:pPr>
            <a:r>
              <a:t>100%</a:t>
            </a:r>
          </a:p>
        </p:txBody>
      </p:sp>
      <p:sp>
        <p:nvSpPr>
          <p:cNvPr id="12" name="TextBox 11"/>
          <p:cNvSpPr txBox="1"/>
          <p:nvPr/>
        </p:nvSpPr>
        <p:spPr>
          <a:xfrm>
            <a:off x="795528" y="4315968"/>
            <a:ext cx="2542032" cy="310896"/>
          </a:xfrm>
          <a:prstGeom prst="rect">
            <a:avLst/>
          </a:prstGeom>
          <a:noFill/>
        </p:spPr>
        <p:txBody>
          <a:bodyPr wrap="square" lIns="0" rIns="0" tIns="0" bIns="0">
            <a:spAutoFit/>
          </a:bodyPr>
          <a:lstStyle/>
          <a:p>
            <a:pPr algn="l">
              <a:spcBef>
                <a:spcPts val="0"/>
              </a:spcBef>
              <a:spcAft>
                <a:spcPts val="600"/>
              </a:spcAft>
              <a:defRPr sz="1700" b="0">
                <a:solidFill>
                  <a:srgbClr val="5B6B83"/>
                </a:solidFill>
                <a:latin typeface="Arial"/>
              </a:defRPr>
            </a:pPr>
            <a:r>
              <a:t>0 ngày</a:t>
            </a:r>
          </a:p>
        </p:txBody>
      </p:sp>
      <p:sp>
        <p:nvSpPr>
          <p:cNvPr id="13" name="TextBox 12"/>
          <p:cNvSpPr txBox="1"/>
          <p:nvPr/>
        </p:nvSpPr>
        <p:spPr>
          <a:xfrm>
            <a:off x="3611880" y="3630168"/>
            <a:ext cx="2542032" cy="530352"/>
          </a:xfrm>
          <a:prstGeom prst="rect">
            <a:avLst/>
          </a:prstGeom>
          <a:noFill/>
        </p:spPr>
        <p:txBody>
          <a:bodyPr wrap="square" lIns="0" rIns="0" tIns="0" bIns="0">
            <a:spAutoFit/>
          </a:bodyPr>
          <a:lstStyle/>
          <a:p>
            <a:pPr algn="l">
              <a:spcBef>
                <a:spcPts val="0"/>
              </a:spcBef>
              <a:spcAft>
                <a:spcPts val="600"/>
              </a:spcAft>
              <a:defRPr sz="3300" b="1">
                <a:solidFill>
                  <a:srgbClr val="244BFF"/>
                </a:solidFill>
                <a:latin typeface="Arial"/>
              </a:defRPr>
            </a:pPr>
            <a:r>
              <a:t>50%</a:t>
            </a:r>
          </a:p>
        </p:txBody>
      </p:sp>
      <p:sp>
        <p:nvSpPr>
          <p:cNvPr id="14" name="TextBox 13"/>
          <p:cNvSpPr txBox="1"/>
          <p:nvPr/>
        </p:nvSpPr>
        <p:spPr>
          <a:xfrm>
            <a:off x="3611880" y="4315968"/>
            <a:ext cx="2542032" cy="310896"/>
          </a:xfrm>
          <a:prstGeom prst="rect">
            <a:avLst/>
          </a:prstGeom>
          <a:noFill/>
        </p:spPr>
        <p:txBody>
          <a:bodyPr wrap="square" lIns="0" rIns="0" tIns="0" bIns="0">
            <a:spAutoFit/>
          </a:bodyPr>
          <a:lstStyle/>
          <a:p>
            <a:pPr algn="l">
              <a:spcBef>
                <a:spcPts val="0"/>
              </a:spcBef>
              <a:spcAft>
                <a:spcPts val="600"/>
              </a:spcAft>
              <a:defRPr sz="1700" b="0">
                <a:solidFill>
                  <a:srgbClr val="5B6B83"/>
                </a:solidFill>
                <a:latin typeface="Arial"/>
              </a:defRPr>
            </a:pPr>
            <a:r>
              <a:t>3 ngày</a:t>
            </a:r>
          </a:p>
        </p:txBody>
      </p:sp>
      <p:sp>
        <p:nvSpPr>
          <p:cNvPr id="15" name="TextBox 14"/>
          <p:cNvSpPr txBox="1"/>
          <p:nvPr/>
        </p:nvSpPr>
        <p:spPr>
          <a:xfrm>
            <a:off x="6428232" y="3630168"/>
            <a:ext cx="2542032" cy="530352"/>
          </a:xfrm>
          <a:prstGeom prst="rect">
            <a:avLst/>
          </a:prstGeom>
          <a:noFill/>
        </p:spPr>
        <p:txBody>
          <a:bodyPr wrap="square" lIns="0" rIns="0" tIns="0" bIns="0">
            <a:spAutoFit/>
          </a:bodyPr>
          <a:lstStyle/>
          <a:p>
            <a:pPr algn="l">
              <a:spcBef>
                <a:spcPts val="0"/>
              </a:spcBef>
              <a:spcAft>
                <a:spcPts val="600"/>
              </a:spcAft>
              <a:defRPr sz="3300" b="1">
                <a:solidFill>
                  <a:srgbClr val="244BFF"/>
                </a:solidFill>
                <a:latin typeface="Arial"/>
              </a:defRPr>
            </a:pPr>
            <a:r>
              <a:t>25%</a:t>
            </a:r>
          </a:p>
        </p:txBody>
      </p:sp>
      <p:sp>
        <p:nvSpPr>
          <p:cNvPr id="16" name="TextBox 15"/>
          <p:cNvSpPr txBox="1"/>
          <p:nvPr/>
        </p:nvSpPr>
        <p:spPr>
          <a:xfrm>
            <a:off x="6428232" y="4315968"/>
            <a:ext cx="2542032" cy="310896"/>
          </a:xfrm>
          <a:prstGeom prst="rect">
            <a:avLst/>
          </a:prstGeom>
          <a:noFill/>
        </p:spPr>
        <p:txBody>
          <a:bodyPr wrap="square" lIns="0" rIns="0" tIns="0" bIns="0">
            <a:spAutoFit/>
          </a:bodyPr>
          <a:lstStyle/>
          <a:p>
            <a:pPr algn="l">
              <a:spcBef>
                <a:spcPts val="0"/>
              </a:spcBef>
              <a:spcAft>
                <a:spcPts val="600"/>
              </a:spcAft>
              <a:defRPr sz="1700" b="0">
                <a:solidFill>
                  <a:srgbClr val="5B6B83"/>
                </a:solidFill>
                <a:latin typeface="Arial"/>
              </a:defRPr>
            </a:pPr>
            <a:r>
              <a:t>6 ngày</a:t>
            </a:r>
          </a:p>
        </p:txBody>
      </p:sp>
      <p:sp>
        <p:nvSpPr>
          <p:cNvPr id="17" name="TextBox 16"/>
          <p:cNvSpPr txBox="1"/>
          <p:nvPr/>
        </p:nvSpPr>
        <p:spPr>
          <a:xfrm>
            <a:off x="9244584" y="3630168"/>
            <a:ext cx="2542032" cy="530352"/>
          </a:xfrm>
          <a:prstGeom prst="rect">
            <a:avLst/>
          </a:prstGeom>
          <a:noFill/>
        </p:spPr>
        <p:txBody>
          <a:bodyPr wrap="square" lIns="0" rIns="0" tIns="0" bIns="0">
            <a:spAutoFit/>
          </a:bodyPr>
          <a:lstStyle/>
          <a:p>
            <a:pPr algn="l">
              <a:spcBef>
                <a:spcPts val="0"/>
              </a:spcBef>
              <a:spcAft>
                <a:spcPts val="600"/>
              </a:spcAft>
              <a:defRPr sz="3300" b="1">
                <a:solidFill>
                  <a:srgbClr val="244BFF"/>
                </a:solidFill>
                <a:latin typeface="Arial"/>
              </a:defRPr>
            </a:pPr>
            <a:r>
              <a:t>12,5%</a:t>
            </a:r>
          </a:p>
        </p:txBody>
      </p:sp>
      <p:sp>
        <p:nvSpPr>
          <p:cNvPr id="18" name="TextBox 17"/>
          <p:cNvSpPr txBox="1"/>
          <p:nvPr/>
        </p:nvSpPr>
        <p:spPr>
          <a:xfrm>
            <a:off x="9244584" y="4315968"/>
            <a:ext cx="2542032" cy="310896"/>
          </a:xfrm>
          <a:prstGeom prst="rect">
            <a:avLst/>
          </a:prstGeom>
          <a:noFill/>
        </p:spPr>
        <p:txBody>
          <a:bodyPr wrap="square" lIns="0" rIns="0" tIns="0" bIns="0">
            <a:spAutoFit/>
          </a:bodyPr>
          <a:lstStyle/>
          <a:p>
            <a:pPr algn="l">
              <a:spcBef>
                <a:spcPts val="0"/>
              </a:spcBef>
              <a:spcAft>
                <a:spcPts val="600"/>
              </a:spcAft>
              <a:defRPr sz="1700" b="0">
                <a:solidFill>
                  <a:srgbClr val="5B6B83"/>
                </a:solidFill>
                <a:latin typeface="Arial"/>
              </a:defRPr>
            </a:pPr>
            <a:r>
              <a:t>9 ngày</a:t>
            </a:r>
          </a:p>
        </p:txBody>
      </p:sp>
      <p:sp>
        <p:nvSpPr>
          <p:cNvPr id="19" name="TextBox 18"/>
          <p:cNvSpPr txBox="1"/>
          <p:nvPr/>
        </p:nvSpPr>
        <p:spPr>
          <a:xfrm>
            <a:off x="777240" y="4956048"/>
            <a:ext cx="10652760" cy="512064"/>
          </a:xfrm>
          <a:prstGeom prst="rect">
            <a:avLst/>
          </a:prstGeom>
          <a:noFill/>
        </p:spPr>
        <p:txBody>
          <a:bodyPr wrap="square" lIns="0" rIns="0" tIns="0" bIns="0">
            <a:spAutoFit/>
          </a:bodyPr>
          <a:lstStyle/>
          <a:p>
            <a:pPr algn="l">
              <a:spcBef>
                <a:spcPts val="0"/>
              </a:spcBef>
              <a:spcAft>
                <a:spcPts val="600"/>
              </a:spcAft>
              <a:defRPr sz="1700" b="0">
                <a:solidFill>
                  <a:srgbClr val="5B6B83"/>
                </a:solidFill>
                <a:latin typeface="Arial"/>
              </a:defRPr>
            </a:pPr>
            <a:r>
              <a:t>Minh họa hệ số time-decay; không phải số liệu đo từ một mô hình.</a:t>
            </a:r>
          </a:p>
        </p:txBody>
      </p:sp>
      <p:sp>
        <p:nvSpPr>
          <p:cNvPr id="20" name="Rounded Rectangle 19"/>
          <p:cNvSpPr/>
          <p:nvPr/>
        </p:nvSpPr>
        <p:spPr>
          <a:xfrm>
            <a:off x="566928" y="5824728"/>
            <a:ext cx="11064240" cy="438912"/>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9808" y="5907024"/>
            <a:ext cx="10698480" cy="329184"/>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Snapshot TRAIN dùng offline; snapshot toàn bộ processed phục vụ catalog/demo.</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07 MODELS</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Content-Based: gợi ý từ hồ sơ nội dung</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30 / 52</a:t>
            </a:r>
          </a:p>
        </p:txBody>
      </p:sp>
      <p:sp>
        <p:nvSpPr>
          <p:cNvPr id="8" name="Rectangle 7"/>
          <p:cNvSpPr/>
          <p:nvPr/>
        </p:nvSpPr>
        <p:spPr>
          <a:xfrm>
            <a:off x="566928" y="6391656"/>
            <a:ext cx="6383215"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94360" y="1993392"/>
            <a:ext cx="2523744" cy="1600200"/>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2130552"/>
            <a:ext cx="2249424"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01</a:t>
            </a:r>
          </a:p>
        </p:txBody>
      </p:sp>
      <p:sp>
        <p:nvSpPr>
          <p:cNvPr id="11" name="TextBox 10"/>
          <p:cNvSpPr txBox="1"/>
          <p:nvPr/>
        </p:nvSpPr>
        <p:spPr>
          <a:xfrm>
            <a:off x="749808" y="2441448"/>
            <a:ext cx="2212848" cy="475488"/>
          </a:xfrm>
          <a:prstGeom prst="rect">
            <a:avLst/>
          </a:prstGeom>
          <a:noFill/>
        </p:spPr>
        <p:txBody>
          <a:bodyPr wrap="square" lIns="0" rIns="0" tIns="0" bIns="0">
            <a:spAutoFit/>
          </a:bodyPr>
          <a:lstStyle/>
          <a:p>
            <a:pPr algn="l">
              <a:spcBef>
                <a:spcPts val="0"/>
              </a:spcBef>
              <a:spcAft>
                <a:spcPts val="600"/>
              </a:spcAft>
              <a:defRPr sz="1900" b="1">
                <a:solidFill>
                  <a:srgbClr val="172B49"/>
                </a:solidFill>
                <a:latin typeface="Arial"/>
              </a:defRPr>
            </a:pPr>
            <a:r>
              <a:t>Metadata</a:t>
            </a:r>
          </a:p>
        </p:txBody>
      </p:sp>
      <p:sp>
        <p:nvSpPr>
          <p:cNvPr id="12" name="TextBox 11"/>
          <p:cNvSpPr txBox="1"/>
          <p:nvPr/>
        </p:nvSpPr>
        <p:spPr>
          <a:xfrm>
            <a:off x="749808" y="2944368"/>
            <a:ext cx="2212848" cy="594359"/>
          </a:xfrm>
          <a:prstGeom prst="rect">
            <a:avLst/>
          </a:prstGeom>
          <a:noFill/>
        </p:spPr>
        <p:txBody>
          <a:bodyPr wrap="square" lIns="0" rIns="0" tIns="0" bIns="0">
            <a:spAutoFit/>
          </a:bodyPr>
          <a:lstStyle/>
          <a:p>
            <a:pPr algn="l">
              <a:spcBef>
                <a:spcPts val="0"/>
              </a:spcBef>
              <a:spcAft>
                <a:spcPts val="600"/>
              </a:spcAft>
              <a:defRPr sz="1300" b="0">
                <a:solidFill>
                  <a:srgbClr val="5B6B83"/>
                </a:solidFill>
                <a:latin typeface="Arial"/>
              </a:defRPr>
            </a:pPr>
            <a:r>
              <a:t>TF-IDF sản phẩm</a:t>
            </a:r>
          </a:p>
        </p:txBody>
      </p:sp>
      <p:sp>
        <p:nvSpPr>
          <p:cNvPr id="13" name="Chevron 12"/>
          <p:cNvSpPr/>
          <p:nvPr/>
        </p:nvSpPr>
        <p:spPr>
          <a:xfrm>
            <a:off x="3159251" y="2702052"/>
            <a:ext cx="210312" cy="182880"/>
          </a:xfrm>
          <a:prstGeom prst="chevron">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410711" y="1993392"/>
            <a:ext cx="2523744" cy="1600200"/>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66159" y="2130552"/>
            <a:ext cx="2249424"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02</a:t>
            </a:r>
          </a:p>
        </p:txBody>
      </p:sp>
      <p:sp>
        <p:nvSpPr>
          <p:cNvPr id="16" name="TextBox 15"/>
          <p:cNvSpPr txBox="1"/>
          <p:nvPr/>
        </p:nvSpPr>
        <p:spPr>
          <a:xfrm>
            <a:off x="3566159" y="2441448"/>
            <a:ext cx="2212848" cy="475488"/>
          </a:xfrm>
          <a:prstGeom prst="rect">
            <a:avLst/>
          </a:prstGeom>
          <a:noFill/>
        </p:spPr>
        <p:txBody>
          <a:bodyPr wrap="square" lIns="0" rIns="0" tIns="0" bIns="0">
            <a:spAutoFit/>
          </a:bodyPr>
          <a:lstStyle/>
          <a:p>
            <a:pPr algn="l">
              <a:spcBef>
                <a:spcPts val="0"/>
              </a:spcBef>
              <a:spcAft>
                <a:spcPts val="600"/>
              </a:spcAft>
              <a:defRPr sz="1900" b="1">
                <a:solidFill>
                  <a:srgbClr val="172B49"/>
                </a:solidFill>
                <a:latin typeface="Arial"/>
              </a:defRPr>
            </a:pPr>
            <a:r>
              <a:t>Hồ sơ user</a:t>
            </a:r>
          </a:p>
        </p:txBody>
      </p:sp>
      <p:sp>
        <p:nvSpPr>
          <p:cNvPr id="17" name="TextBox 16"/>
          <p:cNvSpPr txBox="1"/>
          <p:nvPr/>
        </p:nvSpPr>
        <p:spPr>
          <a:xfrm>
            <a:off x="3566159" y="2944368"/>
            <a:ext cx="2212848" cy="594359"/>
          </a:xfrm>
          <a:prstGeom prst="rect">
            <a:avLst/>
          </a:prstGeom>
          <a:noFill/>
        </p:spPr>
        <p:txBody>
          <a:bodyPr wrap="square" lIns="0" rIns="0" tIns="0" bIns="0">
            <a:spAutoFit/>
          </a:bodyPr>
          <a:lstStyle/>
          <a:p>
            <a:pPr algn="l">
              <a:spcBef>
                <a:spcPts val="0"/>
              </a:spcBef>
              <a:spcAft>
                <a:spcPts val="600"/>
              </a:spcAft>
              <a:defRPr sz="1300" b="0">
                <a:solidFill>
                  <a:srgbClr val="5B6B83"/>
                </a:solidFill>
                <a:latin typeface="Arial"/>
              </a:defRPr>
            </a:pPr>
            <a:r>
              <a:t>≤100 item lịch sử</a:t>
            </a:r>
          </a:p>
        </p:txBody>
      </p:sp>
      <p:sp>
        <p:nvSpPr>
          <p:cNvPr id="18" name="Chevron 17"/>
          <p:cNvSpPr/>
          <p:nvPr/>
        </p:nvSpPr>
        <p:spPr>
          <a:xfrm>
            <a:off x="5975603" y="2702052"/>
            <a:ext cx="210312" cy="182880"/>
          </a:xfrm>
          <a:prstGeom prst="chevron">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27064" y="1993392"/>
            <a:ext cx="2523744" cy="1600200"/>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82512" y="2130552"/>
            <a:ext cx="2249424"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03</a:t>
            </a:r>
          </a:p>
        </p:txBody>
      </p:sp>
      <p:sp>
        <p:nvSpPr>
          <p:cNvPr id="21" name="TextBox 20"/>
          <p:cNvSpPr txBox="1"/>
          <p:nvPr/>
        </p:nvSpPr>
        <p:spPr>
          <a:xfrm>
            <a:off x="6382512" y="2441448"/>
            <a:ext cx="2212848" cy="475488"/>
          </a:xfrm>
          <a:prstGeom prst="rect">
            <a:avLst/>
          </a:prstGeom>
          <a:noFill/>
        </p:spPr>
        <p:txBody>
          <a:bodyPr wrap="square" lIns="0" rIns="0" tIns="0" bIns="0">
            <a:spAutoFit/>
          </a:bodyPr>
          <a:lstStyle/>
          <a:p>
            <a:pPr algn="l">
              <a:spcBef>
                <a:spcPts val="0"/>
              </a:spcBef>
              <a:spcAft>
                <a:spcPts val="600"/>
              </a:spcAft>
              <a:defRPr sz="1900" b="1">
                <a:solidFill>
                  <a:srgbClr val="172B49"/>
                </a:solidFill>
                <a:latin typeface="Arial"/>
              </a:defRPr>
            </a:pPr>
            <a:r>
              <a:t>So khớp</a:t>
            </a:r>
          </a:p>
        </p:txBody>
      </p:sp>
      <p:sp>
        <p:nvSpPr>
          <p:cNvPr id="22" name="TextBox 21"/>
          <p:cNvSpPr txBox="1"/>
          <p:nvPr/>
        </p:nvSpPr>
        <p:spPr>
          <a:xfrm>
            <a:off x="6382512" y="2944368"/>
            <a:ext cx="2212848" cy="594359"/>
          </a:xfrm>
          <a:prstGeom prst="rect">
            <a:avLst/>
          </a:prstGeom>
          <a:noFill/>
        </p:spPr>
        <p:txBody>
          <a:bodyPr wrap="square" lIns="0" rIns="0" tIns="0" bIns="0">
            <a:spAutoFit/>
          </a:bodyPr>
          <a:lstStyle/>
          <a:p>
            <a:pPr algn="l">
              <a:spcBef>
                <a:spcPts val="0"/>
              </a:spcBef>
              <a:spcAft>
                <a:spcPts val="600"/>
              </a:spcAft>
              <a:defRPr sz="1300" b="0">
                <a:solidFill>
                  <a:srgbClr val="5B6B83"/>
                </a:solidFill>
                <a:latin typeface="Arial"/>
              </a:defRPr>
            </a:pPr>
            <a:r>
              <a:t>Vector chuẩn hóa</a:t>
            </a:r>
          </a:p>
        </p:txBody>
      </p:sp>
      <p:sp>
        <p:nvSpPr>
          <p:cNvPr id="23" name="Chevron 22"/>
          <p:cNvSpPr/>
          <p:nvPr/>
        </p:nvSpPr>
        <p:spPr>
          <a:xfrm>
            <a:off x="8791956" y="2702052"/>
            <a:ext cx="210312" cy="182880"/>
          </a:xfrm>
          <a:prstGeom prst="chevron">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043415" y="1993392"/>
            <a:ext cx="2523744" cy="1600200"/>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98863" y="2130552"/>
            <a:ext cx="2249424"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04</a:t>
            </a:r>
          </a:p>
        </p:txBody>
      </p:sp>
      <p:sp>
        <p:nvSpPr>
          <p:cNvPr id="26" name="TextBox 25"/>
          <p:cNvSpPr txBox="1"/>
          <p:nvPr/>
        </p:nvSpPr>
        <p:spPr>
          <a:xfrm>
            <a:off x="9198863" y="2441448"/>
            <a:ext cx="2212848" cy="475488"/>
          </a:xfrm>
          <a:prstGeom prst="rect">
            <a:avLst/>
          </a:prstGeom>
          <a:noFill/>
        </p:spPr>
        <p:txBody>
          <a:bodyPr wrap="square" lIns="0" rIns="0" tIns="0" bIns="0">
            <a:spAutoFit/>
          </a:bodyPr>
          <a:lstStyle/>
          <a:p>
            <a:pPr algn="l">
              <a:spcBef>
                <a:spcPts val="0"/>
              </a:spcBef>
              <a:spcAft>
                <a:spcPts val="600"/>
              </a:spcAft>
              <a:defRPr sz="1900" b="1">
                <a:solidFill>
                  <a:srgbClr val="172B49"/>
                </a:solidFill>
                <a:latin typeface="Arial"/>
              </a:defRPr>
            </a:pPr>
            <a:r>
              <a:t>Top-K</a:t>
            </a:r>
          </a:p>
        </p:txBody>
      </p:sp>
      <p:sp>
        <p:nvSpPr>
          <p:cNvPr id="27" name="TextBox 26"/>
          <p:cNvSpPr txBox="1"/>
          <p:nvPr/>
        </p:nvSpPr>
        <p:spPr>
          <a:xfrm>
            <a:off x="9198863" y="2944368"/>
            <a:ext cx="2212848" cy="594359"/>
          </a:xfrm>
          <a:prstGeom prst="rect">
            <a:avLst/>
          </a:prstGeom>
          <a:noFill/>
        </p:spPr>
        <p:txBody>
          <a:bodyPr wrap="square" lIns="0" rIns="0" tIns="0" bIns="0">
            <a:spAutoFit/>
          </a:bodyPr>
          <a:lstStyle/>
          <a:p>
            <a:pPr algn="l">
              <a:spcBef>
                <a:spcPts val="0"/>
              </a:spcBef>
              <a:spcAft>
                <a:spcPts val="600"/>
              </a:spcAft>
              <a:defRPr sz="1300" b="0">
                <a:solidFill>
                  <a:srgbClr val="5B6B83"/>
                </a:solidFill>
                <a:latin typeface="Arial"/>
              </a:defRPr>
            </a:pPr>
            <a:r>
              <a:t>Lọc item đã xem</a:t>
            </a:r>
          </a:p>
        </p:txBody>
      </p:sp>
      <p:sp>
        <p:nvSpPr>
          <p:cNvPr id="28" name="Oval 27"/>
          <p:cNvSpPr/>
          <p:nvPr/>
        </p:nvSpPr>
        <p:spPr>
          <a:xfrm>
            <a:off x="758952" y="4142232"/>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50976" y="4041648"/>
            <a:ext cx="10506455" cy="603504"/>
          </a:xfrm>
          <a:prstGeom prst="rect">
            <a:avLst/>
          </a:prstGeom>
          <a:noFill/>
        </p:spPr>
        <p:txBody>
          <a:bodyPr wrap="square" lIns="0" rIns="0" tIns="0" bIns="0">
            <a:spAutoFit/>
          </a:bodyPr>
          <a:lstStyle/>
          <a:p>
            <a:pPr algn="l">
              <a:spcBef>
                <a:spcPts val="0"/>
              </a:spcBef>
              <a:spcAft>
                <a:spcPts val="600"/>
              </a:spcAft>
              <a:defRPr sz="2100" b="0">
                <a:solidFill>
                  <a:srgbClr val="172B49"/>
                </a:solidFill>
                <a:latin typeface="Arial"/>
              </a:defRPr>
            </a:pPr>
            <a:r>
              <a:t>Recency decay = 0,97 để tăng vai trò lịch sử gần.</a:t>
            </a:r>
          </a:p>
        </p:txBody>
      </p:sp>
      <p:sp>
        <p:nvSpPr>
          <p:cNvPr id="30" name="Oval 29"/>
          <p:cNvSpPr/>
          <p:nvPr/>
        </p:nvSpPr>
        <p:spPr>
          <a:xfrm>
            <a:off x="758952" y="4828032"/>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50976" y="4727448"/>
            <a:ext cx="10506455" cy="603504"/>
          </a:xfrm>
          <a:prstGeom prst="rect">
            <a:avLst/>
          </a:prstGeom>
          <a:noFill/>
        </p:spPr>
        <p:txBody>
          <a:bodyPr wrap="square" lIns="0" rIns="0" tIns="0" bIns="0">
            <a:spAutoFit/>
          </a:bodyPr>
          <a:lstStyle/>
          <a:p>
            <a:pPr algn="l">
              <a:spcBef>
                <a:spcPts val="0"/>
              </a:spcBef>
              <a:spcAft>
                <a:spcPts val="600"/>
              </a:spcAft>
              <a:defRPr sz="2100" b="0">
                <a:solidFill>
                  <a:srgbClr val="172B49"/>
                </a:solidFill>
                <a:latin typeface="Arial"/>
              </a:defRPr>
            </a:pPr>
            <a:r>
              <a:t>VAL: lịch sử TRAIN. TEST: lịch sử TRAIN + VAL.</a:t>
            </a:r>
          </a:p>
        </p:txBody>
      </p:sp>
      <p:sp>
        <p:nvSpPr>
          <p:cNvPr id="32" name="Rounded Rectangle 31"/>
          <p:cNvSpPr/>
          <p:nvPr/>
        </p:nvSpPr>
        <p:spPr>
          <a:xfrm>
            <a:off x="566928" y="5687568"/>
            <a:ext cx="11064240" cy="521207"/>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49808" y="5769864"/>
            <a:ext cx="10698480" cy="411479"/>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Metadata và IDF dùng full catalog; cần ghi rõ giới hạn của temporal evaluation.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07 MODELS</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Co-visitation: quan hệ đồng xuất hiện</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31 / 52</a:t>
            </a:r>
          </a:p>
        </p:txBody>
      </p:sp>
      <p:sp>
        <p:nvSpPr>
          <p:cNvPr id="8" name="Rectangle 7"/>
          <p:cNvSpPr/>
          <p:nvPr/>
        </p:nvSpPr>
        <p:spPr>
          <a:xfrm>
            <a:off x="566928" y="6391656"/>
            <a:ext cx="6595989"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94360" y="1938528"/>
            <a:ext cx="2523744" cy="1572768"/>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2075688"/>
            <a:ext cx="2249424"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01</a:t>
            </a:r>
          </a:p>
        </p:txBody>
      </p:sp>
      <p:sp>
        <p:nvSpPr>
          <p:cNvPr id="11" name="TextBox 10"/>
          <p:cNvSpPr txBox="1"/>
          <p:nvPr/>
        </p:nvSpPr>
        <p:spPr>
          <a:xfrm>
            <a:off x="749808" y="2386584"/>
            <a:ext cx="2212848" cy="475488"/>
          </a:xfrm>
          <a:prstGeom prst="rect">
            <a:avLst/>
          </a:prstGeom>
          <a:noFill/>
        </p:spPr>
        <p:txBody>
          <a:bodyPr wrap="square" lIns="0" rIns="0" tIns="0" bIns="0">
            <a:spAutoFit/>
          </a:bodyPr>
          <a:lstStyle/>
          <a:p>
            <a:pPr algn="l">
              <a:spcBef>
                <a:spcPts val="0"/>
              </a:spcBef>
              <a:spcAft>
                <a:spcPts val="600"/>
              </a:spcAft>
              <a:defRPr sz="1900" b="1">
                <a:solidFill>
                  <a:srgbClr val="172B49"/>
                </a:solidFill>
                <a:latin typeface="Arial"/>
              </a:defRPr>
            </a:pPr>
            <a:r>
              <a:t>Session</a:t>
            </a:r>
          </a:p>
        </p:txBody>
      </p:sp>
      <p:sp>
        <p:nvSpPr>
          <p:cNvPr id="12" name="TextBox 11"/>
          <p:cNvSpPr txBox="1"/>
          <p:nvPr/>
        </p:nvSpPr>
        <p:spPr>
          <a:xfrm>
            <a:off x="749808" y="2889504"/>
            <a:ext cx="2212848" cy="566927"/>
          </a:xfrm>
          <a:prstGeom prst="rect">
            <a:avLst/>
          </a:prstGeom>
          <a:noFill/>
        </p:spPr>
        <p:txBody>
          <a:bodyPr wrap="square" lIns="0" rIns="0" tIns="0" bIns="0">
            <a:spAutoFit/>
          </a:bodyPr>
          <a:lstStyle/>
          <a:p>
            <a:pPr algn="l">
              <a:spcBef>
                <a:spcPts val="0"/>
              </a:spcBef>
              <a:spcAft>
                <a:spcPts val="600"/>
              </a:spcAft>
              <a:defRPr sz="1300" b="0">
                <a:solidFill>
                  <a:srgbClr val="5B6B83"/>
                </a:solidFill>
                <a:latin typeface="Arial"/>
              </a:defRPr>
            </a:pPr>
            <a:r>
              <a:t>Bucket tương tác</a:t>
            </a:r>
          </a:p>
        </p:txBody>
      </p:sp>
      <p:sp>
        <p:nvSpPr>
          <p:cNvPr id="13" name="Chevron 12"/>
          <p:cNvSpPr/>
          <p:nvPr/>
        </p:nvSpPr>
        <p:spPr>
          <a:xfrm>
            <a:off x="3159251" y="2633472"/>
            <a:ext cx="210312" cy="182880"/>
          </a:xfrm>
          <a:prstGeom prst="chevron">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410711" y="1938528"/>
            <a:ext cx="2523744" cy="1572768"/>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66159" y="2075688"/>
            <a:ext cx="2249424"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02</a:t>
            </a:r>
          </a:p>
        </p:txBody>
      </p:sp>
      <p:sp>
        <p:nvSpPr>
          <p:cNvPr id="16" name="TextBox 15"/>
          <p:cNvSpPr txBox="1"/>
          <p:nvPr/>
        </p:nvSpPr>
        <p:spPr>
          <a:xfrm>
            <a:off x="3566159" y="2386584"/>
            <a:ext cx="2212848" cy="475488"/>
          </a:xfrm>
          <a:prstGeom prst="rect">
            <a:avLst/>
          </a:prstGeom>
          <a:noFill/>
        </p:spPr>
        <p:txBody>
          <a:bodyPr wrap="square" lIns="0" rIns="0" tIns="0" bIns="0">
            <a:spAutoFit/>
          </a:bodyPr>
          <a:lstStyle/>
          <a:p>
            <a:pPr algn="l">
              <a:spcBef>
                <a:spcPts val="0"/>
              </a:spcBef>
              <a:spcAft>
                <a:spcPts val="600"/>
              </a:spcAft>
              <a:defRPr sz="1900" b="1">
                <a:solidFill>
                  <a:srgbClr val="172B49"/>
                </a:solidFill>
                <a:latin typeface="Arial"/>
              </a:defRPr>
            </a:pPr>
            <a:r>
              <a:t>Sliding window</a:t>
            </a:r>
          </a:p>
        </p:txBody>
      </p:sp>
      <p:sp>
        <p:nvSpPr>
          <p:cNvPr id="17" name="TextBox 16"/>
          <p:cNvSpPr txBox="1"/>
          <p:nvPr/>
        </p:nvSpPr>
        <p:spPr>
          <a:xfrm>
            <a:off x="3566159" y="2889504"/>
            <a:ext cx="2212848" cy="566927"/>
          </a:xfrm>
          <a:prstGeom prst="rect">
            <a:avLst/>
          </a:prstGeom>
          <a:noFill/>
        </p:spPr>
        <p:txBody>
          <a:bodyPr wrap="square" lIns="0" rIns="0" tIns="0" bIns="0">
            <a:spAutoFit/>
          </a:bodyPr>
          <a:lstStyle/>
          <a:p>
            <a:pPr algn="l">
              <a:spcBef>
                <a:spcPts val="0"/>
              </a:spcBef>
              <a:spcAft>
                <a:spcPts val="600"/>
              </a:spcAft>
              <a:defRPr sz="1300" b="0">
                <a:solidFill>
                  <a:srgbClr val="5B6B83"/>
                </a:solidFill>
                <a:latin typeface="Arial"/>
              </a:defRPr>
            </a:pPr>
            <a:r>
              <a:t>Tạo cặp item</a:t>
            </a:r>
          </a:p>
        </p:txBody>
      </p:sp>
      <p:sp>
        <p:nvSpPr>
          <p:cNvPr id="18" name="Chevron 17"/>
          <p:cNvSpPr/>
          <p:nvPr/>
        </p:nvSpPr>
        <p:spPr>
          <a:xfrm>
            <a:off x="5975603" y="2633472"/>
            <a:ext cx="210312" cy="182880"/>
          </a:xfrm>
          <a:prstGeom prst="chevron">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27064" y="1938528"/>
            <a:ext cx="2523744" cy="1572768"/>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82512" y="2075688"/>
            <a:ext cx="2249424"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03</a:t>
            </a:r>
          </a:p>
        </p:txBody>
      </p:sp>
      <p:sp>
        <p:nvSpPr>
          <p:cNvPr id="21" name="TextBox 20"/>
          <p:cNvSpPr txBox="1"/>
          <p:nvPr/>
        </p:nvSpPr>
        <p:spPr>
          <a:xfrm>
            <a:off x="6382512" y="2386584"/>
            <a:ext cx="2212848" cy="475488"/>
          </a:xfrm>
          <a:prstGeom prst="rect">
            <a:avLst/>
          </a:prstGeom>
          <a:noFill/>
        </p:spPr>
        <p:txBody>
          <a:bodyPr wrap="square" lIns="0" rIns="0" tIns="0" bIns="0">
            <a:spAutoFit/>
          </a:bodyPr>
          <a:lstStyle/>
          <a:p>
            <a:pPr algn="l">
              <a:spcBef>
                <a:spcPts val="0"/>
              </a:spcBef>
              <a:spcAft>
                <a:spcPts val="600"/>
              </a:spcAft>
              <a:defRPr sz="1900" b="1">
                <a:solidFill>
                  <a:srgbClr val="172B49"/>
                </a:solidFill>
                <a:latin typeface="Arial"/>
              </a:defRPr>
            </a:pPr>
            <a:r>
              <a:t>Top-K láng giềng</a:t>
            </a:r>
          </a:p>
        </p:txBody>
      </p:sp>
      <p:sp>
        <p:nvSpPr>
          <p:cNvPr id="22" name="TextBox 21"/>
          <p:cNvSpPr txBox="1"/>
          <p:nvPr/>
        </p:nvSpPr>
        <p:spPr>
          <a:xfrm>
            <a:off x="6382512" y="2889504"/>
            <a:ext cx="2212848" cy="566927"/>
          </a:xfrm>
          <a:prstGeom prst="rect">
            <a:avLst/>
          </a:prstGeom>
          <a:noFill/>
        </p:spPr>
        <p:txBody>
          <a:bodyPr wrap="square" lIns="0" rIns="0" tIns="0" bIns="0">
            <a:spAutoFit/>
          </a:bodyPr>
          <a:lstStyle/>
          <a:p>
            <a:pPr algn="l">
              <a:spcBef>
                <a:spcPts val="0"/>
              </a:spcBef>
              <a:spcAft>
                <a:spcPts val="600"/>
              </a:spcAft>
              <a:defRPr sz="1300" b="0">
                <a:solidFill>
                  <a:srgbClr val="5B6B83"/>
                </a:solidFill>
                <a:latin typeface="Arial"/>
              </a:defRPr>
            </a:pPr>
            <a:r>
              <a:t>Reduce / checkpoint</a:t>
            </a:r>
          </a:p>
        </p:txBody>
      </p:sp>
      <p:sp>
        <p:nvSpPr>
          <p:cNvPr id="23" name="Chevron 22"/>
          <p:cNvSpPr/>
          <p:nvPr/>
        </p:nvSpPr>
        <p:spPr>
          <a:xfrm>
            <a:off x="8791956" y="2633472"/>
            <a:ext cx="210312" cy="182880"/>
          </a:xfrm>
          <a:prstGeom prst="chevron">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043415" y="1938528"/>
            <a:ext cx="2523744" cy="1572768"/>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98863" y="2075688"/>
            <a:ext cx="2249424"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04</a:t>
            </a:r>
          </a:p>
        </p:txBody>
      </p:sp>
      <p:sp>
        <p:nvSpPr>
          <p:cNvPr id="26" name="TextBox 25"/>
          <p:cNvSpPr txBox="1"/>
          <p:nvPr/>
        </p:nvSpPr>
        <p:spPr>
          <a:xfrm>
            <a:off x="9198863" y="2386584"/>
            <a:ext cx="2212848" cy="475488"/>
          </a:xfrm>
          <a:prstGeom prst="rect">
            <a:avLst/>
          </a:prstGeom>
          <a:noFill/>
        </p:spPr>
        <p:txBody>
          <a:bodyPr wrap="square" lIns="0" rIns="0" tIns="0" bIns="0">
            <a:spAutoFit/>
          </a:bodyPr>
          <a:lstStyle/>
          <a:p>
            <a:pPr algn="l">
              <a:spcBef>
                <a:spcPts val="0"/>
              </a:spcBef>
              <a:spcAft>
                <a:spcPts val="600"/>
              </a:spcAft>
              <a:defRPr sz="1900" b="1">
                <a:solidFill>
                  <a:srgbClr val="172B49"/>
                </a:solidFill>
                <a:latin typeface="Arial"/>
              </a:defRPr>
            </a:pPr>
            <a:r>
              <a:t>Gợi ý</a:t>
            </a:r>
          </a:p>
        </p:txBody>
      </p:sp>
      <p:sp>
        <p:nvSpPr>
          <p:cNvPr id="27" name="TextBox 26"/>
          <p:cNvSpPr txBox="1"/>
          <p:nvPr/>
        </p:nvSpPr>
        <p:spPr>
          <a:xfrm>
            <a:off x="9198863" y="2889504"/>
            <a:ext cx="2212848" cy="566927"/>
          </a:xfrm>
          <a:prstGeom prst="rect">
            <a:avLst/>
          </a:prstGeom>
          <a:noFill/>
        </p:spPr>
        <p:txBody>
          <a:bodyPr wrap="square" lIns="0" rIns="0" tIns="0" bIns="0">
            <a:spAutoFit/>
          </a:bodyPr>
          <a:lstStyle/>
          <a:p>
            <a:pPr algn="l">
              <a:spcBef>
                <a:spcPts val="0"/>
              </a:spcBef>
              <a:spcAft>
                <a:spcPts val="600"/>
              </a:spcAft>
              <a:defRPr sz="1300" b="0">
                <a:solidFill>
                  <a:srgbClr val="5B6B83"/>
                </a:solidFill>
                <a:latin typeface="Arial"/>
              </a:defRPr>
            </a:pPr>
            <a:r>
              <a:t>Tổng hợp từ lịch sử</a:t>
            </a:r>
          </a:p>
        </p:txBody>
      </p:sp>
      <p:graphicFrame>
        <p:nvGraphicFramePr>
          <p:cNvPr id="28" name="Table 27"/>
          <p:cNvGraphicFramePr>
            <a:graphicFrameLocks noGrp="1"/>
          </p:cNvGraphicFramePr>
          <p:nvPr/>
        </p:nvGraphicFramePr>
        <p:xfrm>
          <a:off x="694944" y="3904487"/>
          <a:ext cx="10799063" cy="1435608"/>
        </p:xfrm>
        <a:graphic>
          <a:graphicData uri="http://schemas.openxmlformats.org/drawingml/2006/table">
            <a:tbl>
              <a:tblPr firstRow="1" bandRow="1">
                <a:tableStyleId>{5C22544A-7EE6-4342-B048-85BDC9FD1C3A}</a:tableStyleId>
              </a:tblPr>
              <a:tblGrid>
                <a:gridCol w="2057400"/>
                <a:gridCol w="1645920"/>
                <a:gridCol w="2377440"/>
                <a:gridCol w="2880360"/>
                <a:gridCol w="1837943"/>
              </a:tblGrid>
              <a:tr h="717804">
                <a:tc>
                  <a:txBody>
                    <a:bodyPr/>
                    <a:lstStyle/>
                    <a:p>
                      <a:pPr>
                        <a:defRPr sz="1600" b="1">
                          <a:solidFill>
                            <a:srgbClr val="FFFFFF"/>
                          </a:solidFill>
                          <a:latin typeface="Arial"/>
                        </a:defRPr>
                      </a:pPr>
                      <a:r>
                        <a:t>History</a:t>
                      </a:r>
                    </a:p>
                  </a:txBody>
                  <a:tcPr marL="128016" marR="91440" marT="91440" marB="64008" anchor="ctr">
                    <a:solidFill>
                      <a:srgbClr val="244BFF"/>
                    </a:solidFill>
                  </a:tcPr>
                </a:tc>
                <a:tc>
                  <a:txBody>
                    <a:bodyPr/>
                    <a:lstStyle/>
                    <a:p>
                      <a:pPr>
                        <a:defRPr sz="1600" b="1">
                          <a:solidFill>
                            <a:srgbClr val="FFFFFF"/>
                          </a:solidFill>
                          <a:latin typeface="Arial"/>
                        </a:defRPr>
                      </a:pPr>
                      <a:r>
                        <a:t>Decay</a:t>
                      </a:r>
                    </a:p>
                  </a:txBody>
                  <a:tcPr marL="128016" marR="91440" marT="91440" marB="64008" anchor="ctr">
                    <a:solidFill>
                      <a:srgbClr val="244BFF"/>
                    </a:solidFill>
                  </a:tcPr>
                </a:tc>
                <a:tc>
                  <a:txBody>
                    <a:bodyPr/>
                    <a:lstStyle/>
                    <a:p>
                      <a:pPr>
                        <a:defRPr sz="1600" b="1">
                          <a:solidFill>
                            <a:srgbClr val="FFFFFF"/>
                          </a:solidFill>
                          <a:latin typeface="Arial"/>
                        </a:defRPr>
                      </a:pPr>
                      <a:r>
                        <a:t>Reverse weight</a:t>
                      </a:r>
                    </a:p>
                  </a:txBody>
                  <a:tcPr marL="128016" marR="91440" marT="91440" marB="64008" anchor="ctr">
                    <a:solidFill>
                      <a:srgbClr val="244BFF"/>
                    </a:solidFill>
                  </a:tcPr>
                </a:tc>
                <a:tc>
                  <a:txBody>
                    <a:bodyPr/>
                    <a:lstStyle/>
                    <a:p>
                      <a:pPr>
                        <a:defRPr sz="1600" b="1">
                          <a:solidFill>
                            <a:srgbClr val="FFFFFF"/>
                          </a:solidFill>
                          <a:latin typeface="Arial"/>
                        </a:defRPr>
                      </a:pPr>
                      <a:r>
                        <a:t>Popularity penalty</a:t>
                      </a:r>
                    </a:p>
                  </a:txBody>
                  <a:tcPr marL="128016" marR="91440" marT="91440" marB="64008" anchor="ctr">
                    <a:solidFill>
                      <a:srgbClr val="244BFF"/>
                    </a:solidFill>
                  </a:tcPr>
                </a:tc>
                <a:tc>
                  <a:txBody>
                    <a:bodyPr/>
                    <a:lstStyle/>
                    <a:p>
                      <a:pPr>
                        <a:defRPr sz="1600" b="1">
                          <a:solidFill>
                            <a:srgbClr val="FFFFFF"/>
                          </a:solidFill>
                          <a:latin typeface="Arial"/>
                        </a:defRPr>
                      </a:pPr>
                      <a:r>
                        <a:t>Window</a:t>
                      </a:r>
                    </a:p>
                  </a:txBody>
                  <a:tcPr marL="128016" marR="91440" marT="91440" marB="64008" anchor="ctr">
                    <a:solidFill>
                      <a:srgbClr val="244BFF"/>
                    </a:solidFill>
                  </a:tcPr>
                </a:tc>
              </a:tr>
              <a:tr h="717804">
                <a:tc>
                  <a:txBody>
                    <a:bodyPr/>
                    <a:lstStyle/>
                    <a:p>
                      <a:pPr>
                        <a:defRPr sz="1600" b="0">
                          <a:solidFill>
                            <a:srgbClr val="172B49"/>
                          </a:solidFill>
                          <a:latin typeface="Arial"/>
                        </a:defRPr>
                      </a:pPr>
                      <a:r>
                        <a:t>30 item</a:t>
                      </a:r>
                    </a:p>
                  </a:txBody>
                  <a:tcPr marL="128016" marR="91440" marT="91440" marB="64008" anchor="ctr">
                    <a:solidFill>
                      <a:srgbClr val="F0F4FC"/>
                    </a:solidFill>
                  </a:tcPr>
                </a:tc>
                <a:tc>
                  <a:txBody>
                    <a:bodyPr/>
                    <a:lstStyle/>
                    <a:p>
                      <a:pPr>
                        <a:defRPr sz="1600" b="0">
                          <a:solidFill>
                            <a:srgbClr val="172B49"/>
                          </a:solidFill>
                          <a:latin typeface="Arial"/>
                        </a:defRPr>
                      </a:pPr>
                      <a:r>
                        <a:t>0,9</a:t>
                      </a:r>
                    </a:p>
                  </a:txBody>
                  <a:tcPr marL="128016" marR="91440" marT="91440" marB="64008" anchor="ctr">
                    <a:solidFill>
                      <a:srgbClr val="F0F4FC"/>
                    </a:solidFill>
                  </a:tcPr>
                </a:tc>
                <a:tc>
                  <a:txBody>
                    <a:bodyPr/>
                    <a:lstStyle/>
                    <a:p>
                      <a:pPr>
                        <a:defRPr sz="1600" b="0">
                          <a:solidFill>
                            <a:srgbClr val="172B49"/>
                          </a:solidFill>
                          <a:latin typeface="Arial"/>
                        </a:defRPr>
                      </a:pPr>
                      <a:r>
                        <a:t>0,4</a:t>
                      </a:r>
                    </a:p>
                  </a:txBody>
                  <a:tcPr marL="128016" marR="91440" marT="91440" marB="64008" anchor="ctr">
                    <a:solidFill>
                      <a:srgbClr val="F0F4FC"/>
                    </a:solidFill>
                  </a:tcPr>
                </a:tc>
                <a:tc>
                  <a:txBody>
                    <a:bodyPr/>
                    <a:lstStyle/>
                    <a:p>
                      <a:pPr>
                        <a:defRPr sz="1600" b="0">
                          <a:solidFill>
                            <a:srgbClr val="172B49"/>
                          </a:solidFill>
                          <a:latin typeface="Arial"/>
                        </a:defRPr>
                      </a:pPr>
                      <a:r>
                        <a:t>0,1</a:t>
                      </a:r>
                    </a:p>
                  </a:txBody>
                  <a:tcPr marL="128016" marR="91440" marT="91440" marB="64008" anchor="ctr">
                    <a:solidFill>
                      <a:srgbClr val="F0F4FC"/>
                    </a:solidFill>
                  </a:tcPr>
                </a:tc>
                <a:tc>
                  <a:txBody>
                    <a:bodyPr/>
                    <a:lstStyle/>
                    <a:p>
                      <a:pPr>
                        <a:defRPr sz="1600" b="0">
                          <a:solidFill>
                            <a:srgbClr val="172B49"/>
                          </a:solidFill>
                          <a:latin typeface="Arial"/>
                        </a:defRPr>
                      </a:pPr>
                      <a:r>
                        <a:t>5</a:t>
                      </a:r>
                    </a:p>
                  </a:txBody>
                  <a:tcPr marL="128016" marR="91440" marT="91440" marB="64008" anchor="ctr">
                    <a:solidFill>
                      <a:srgbClr val="F0F4FC"/>
                    </a:solidFill>
                  </a:tcPr>
                </a:tc>
              </a:tr>
            </a:tbl>
          </a:graphicData>
        </a:graphic>
      </p:graphicFrame>
      <p:sp>
        <p:nvSpPr>
          <p:cNvPr id="29" name="Rounded Rectangle 28"/>
          <p:cNvSpPr/>
          <p:nvPr/>
        </p:nvSpPr>
        <p:spPr>
          <a:xfrm>
            <a:off x="566928" y="5824728"/>
            <a:ext cx="11064240" cy="438912"/>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9808" y="5907024"/>
            <a:ext cx="10698480" cy="329184"/>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Chọn cấu hình trên VAL; refit TRAIN + VAL trước đánh giá TEST.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07 MODELS</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ALS: collaborative filtering cho implicit data</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32 / 52</a:t>
            </a:r>
          </a:p>
        </p:txBody>
      </p:sp>
      <p:sp>
        <p:nvSpPr>
          <p:cNvPr id="8" name="Rectangle 7"/>
          <p:cNvSpPr/>
          <p:nvPr/>
        </p:nvSpPr>
        <p:spPr>
          <a:xfrm>
            <a:off x="566928" y="6391656"/>
            <a:ext cx="6808763"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914400" y="1938528"/>
            <a:ext cx="356616" cy="356616"/>
          </a:xfrm>
          <a:prstGeom prst="rect">
            <a:avLst/>
          </a:prstGeom>
          <a:solidFill>
            <a:srgbClr val="DF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321308" y="1938528"/>
            <a:ext cx="356616" cy="356616"/>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728216" y="1938528"/>
            <a:ext cx="356616" cy="356616"/>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135124" y="1938528"/>
            <a:ext cx="356616" cy="356616"/>
          </a:xfrm>
          <a:prstGeom prst="rect">
            <a:avLst/>
          </a:prstGeom>
          <a:solidFill>
            <a:srgbClr val="DF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42032" y="1938528"/>
            <a:ext cx="356616" cy="356616"/>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48940" y="1938528"/>
            <a:ext cx="356616" cy="356616"/>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14400" y="2345436"/>
            <a:ext cx="356616" cy="356616"/>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321308" y="2345436"/>
            <a:ext cx="356616" cy="356616"/>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728216" y="2345436"/>
            <a:ext cx="356616" cy="356616"/>
          </a:xfrm>
          <a:prstGeom prst="rect">
            <a:avLst/>
          </a:prstGeom>
          <a:solidFill>
            <a:srgbClr val="DF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2135124" y="2345436"/>
            <a:ext cx="356616" cy="356616"/>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542032" y="2345436"/>
            <a:ext cx="356616" cy="356616"/>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948940" y="2345436"/>
            <a:ext cx="356616" cy="356616"/>
          </a:xfrm>
          <a:prstGeom prst="rect">
            <a:avLst/>
          </a:prstGeom>
          <a:solidFill>
            <a:srgbClr val="DF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14400" y="2752344"/>
            <a:ext cx="356616" cy="356616"/>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321308" y="2752344"/>
            <a:ext cx="356616" cy="356616"/>
          </a:xfrm>
          <a:prstGeom prst="rect">
            <a:avLst/>
          </a:prstGeom>
          <a:solidFill>
            <a:srgbClr val="DF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728216" y="2752344"/>
            <a:ext cx="356616" cy="356616"/>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2135124" y="2752344"/>
            <a:ext cx="356616" cy="356616"/>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542032" y="2752344"/>
            <a:ext cx="356616" cy="356616"/>
          </a:xfrm>
          <a:prstGeom prst="rect">
            <a:avLst/>
          </a:prstGeom>
          <a:solidFill>
            <a:srgbClr val="DF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2948940" y="2752344"/>
            <a:ext cx="356616" cy="356616"/>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14400" y="3159252"/>
            <a:ext cx="356616" cy="356616"/>
          </a:xfrm>
          <a:prstGeom prst="rect">
            <a:avLst/>
          </a:prstGeom>
          <a:solidFill>
            <a:srgbClr val="DF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321308" y="3159252"/>
            <a:ext cx="356616" cy="356616"/>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728216" y="3159252"/>
            <a:ext cx="356616" cy="356616"/>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2135124" y="3159252"/>
            <a:ext cx="356616" cy="356616"/>
          </a:xfrm>
          <a:prstGeom prst="rect">
            <a:avLst/>
          </a:prstGeom>
          <a:solidFill>
            <a:srgbClr val="DF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2542032" y="3159252"/>
            <a:ext cx="356616" cy="356616"/>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2948940" y="3159252"/>
            <a:ext cx="356616" cy="356616"/>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800600" y="1938528"/>
            <a:ext cx="356616" cy="356616"/>
          </a:xfrm>
          <a:prstGeom prst="rect">
            <a:avLst/>
          </a:prstGeom>
          <a:solidFill>
            <a:srgbClr val="DF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207508" y="1938528"/>
            <a:ext cx="356616" cy="356616"/>
          </a:xfrm>
          <a:prstGeom prst="rect">
            <a:avLst/>
          </a:prstGeom>
          <a:solidFill>
            <a:srgbClr val="008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4800600" y="2345436"/>
            <a:ext cx="356616" cy="356616"/>
          </a:xfrm>
          <a:prstGeom prst="rect">
            <a:avLst/>
          </a:prstGeom>
          <a:solidFill>
            <a:srgbClr val="008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5207508" y="2345436"/>
            <a:ext cx="356616" cy="356616"/>
          </a:xfrm>
          <a:prstGeom prst="rect">
            <a:avLst/>
          </a:prstGeom>
          <a:solidFill>
            <a:srgbClr val="008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4800600" y="2752344"/>
            <a:ext cx="356616" cy="356616"/>
          </a:xfrm>
          <a:prstGeom prst="rect">
            <a:avLst/>
          </a:prstGeom>
          <a:solidFill>
            <a:srgbClr val="008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5207508" y="2752344"/>
            <a:ext cx="356616" cy="356616"/>
          </a:xfrm>
          <a:prstGeom prst="rect">
            <a:avLst/>
          </a:prstGeom>
          <a:solidFill>
            <a:srgbClr val="DF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800600" y="3159252"/>
            <a:ext cx="356616" cy="356616"/>
          </a:xfrm>
          <a:prstGeom prst="rect">
            <a:avLst/>
          </a:prstGeom>
          <a:solidFill>
            <a:srgbClr val="DF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207508" y="3159252"/>
            <a:ext cx="356616" cy="356616"/>
          </a:xfrm>
          <a:prstGeom prst="rect">
            <a:avLst/>
          </a:prstGeom>
          <a:solidFill>
            <a:srgbClr val="008E8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452360" y="1938528"/>
            <a:ext cx="356616" cy="356616"/>
          </a:xfrm>
          <a:prstGeom prst="rect">
            <a:avLst/>
          </a:prstGeom>
          <a:solidFill>
            <a:srgbClr val="DF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7859268" y="1938528"/>
            <a:ext cx="356616" cy="356616"/>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8266176" y="1938528"/>
            <a:ext cx="356616" cy="356616"/>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8673084" y="1938528"/>
            <a:ext cx="356616" cy="356616"/>
          </a:xfrm>
          <a:prstGeom prst="rect">
            <a:avLst/>
          </a:prstGeom>
          <a:solidFill>
            <a:srgbClr val="DF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9079992" y="1938528"/>
            <a:ext cx="356616" cy="356616"/>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9486900" y="1938528"/>
            <a:ext cx="356616" cy="356616"/>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7452360" y="2345436"/>
            <a:ext cx="356616" cy="356616"/>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7859268" y="2345436"/>
            <a:ext cx="356616" cy="356616"/>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8266176" y="2345436"/>
            <a:ext cx="356616" cy="356616"/>
          </a:xfrm>
          <a:prstGeom prst="rect">
            <a:avLst/>
          </a:prstGeom>
          <a:solidFill>
            <a:srgbClr val="DF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8673084" y="2345436"/>
            <a:ext cx="356616" cy="356616"/>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9079992" y="2345436"/>
            <a:ext cx="356616" cy="356616"/>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9486900" y="2345436"/>
            <a:ext cx="356616" cy="356616"/>
          </a:xfrm>
          <a:prstGeom prst="rect">
            <a:avLst/>
          </a:prstGeom>
          <a:solidFill>
            <a:srgbClr val="DF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630168" y="2423160"/>
            <a:ext cx="731520" cy="676656"/>
          </a:xfrm>
          <a:prstGeom prst="rect">
            <a:avLst/>
          </a:prstGeom>
          <a:noFill/>
        </p:spPr>
        <p:txBody>
          <a:bodyPr wrap="square" lIns="0" rIns="0" tIns="0" bIns="0">
            <a:spAutoFit/>
          </a:bodyPr>
          <a:lstStyle/>
          <a:p>
            <a:pPr algn="l">
              <a:spcBef>
                <a:spcPts val="0"/>
              </a:spcBef>
              <a:spcAft>
                <a:spcPts val="600"/>
              </a:spcAft>
              <a:defRPr sz="4000" b="1">
                <a:solidFill>
                  <a:srgbClr val="5B6B83"/>
                </a:solidFill>
                <a:latin typeface="Arial"/>
              </a:defRPr>
            </a:pPr>
            <a:r>
              <a:t>≈</a:t>
            </a:r>
          </a:p>
        </p:txBody>
      </p:sp>
      <p:sp>
        <p:nvSpPr>
          <p:cNvPr id="54" name="TextBox 53"/>
          <p:cNvSpPr txBox="1"/>
          <p:nvPr/>
        </p:nvSpPr>
        <p:spPr>
          <a:xfrm>
            <a:off x="6144768" y="2404872"/>
            <a:ext cx="640080" cy="548640"/>
          </a:xfrm>
          <a:prstGeom prst="rect">
            <a:avLst/>
          </a:prstGeom>
          <a:noFill/>
        </p:spPr>
        <p:txBody>
          <a:bodyPr wrap="square" lIns="0" rIns="0" tIns="0" bIns="0">
            <a:spAutoFit/>
          </a:bodyPr>
          <a:lstStyle/>
          <a:p>
            <a:pPr algn="l">
              <a:spcBef>
                <a:spcPts val="0"/>
              </a:spcBef>
              <a:spcAft>
                <a:spcPts val="600"/>
              </a:spcAft>
              <a:defRPr sz="3600" b="1">
                <a:solidFill>
                  <a:srgbClr val="5B6B83"/>
                </a:solidFill>
                <a:latin typeface="Arial"/>
              </a:defRPr>
            </a:pPr>
            <a:r>
              <a:t>×</a:t>
            </a:r>
          </a:p>
        </p:txBody>
      </p:sp>
      <p:sp>
        <p:nvSpPr>
          <p:cNvPr id="55" name="TextBox 54"/>
          <p:cNvSpPr txBox="1"/>
          <p:nvPr/>
        </p:nvSpPr>
        <p:spPr>
          <a:xfrm>
            <a:off x="905256" y="3767328"/>
            <a:ext cx="3291840" cy="457200"/>
          </a:xfrm>
          <a:prstGeom prst="rect">
            <a:avLst/>
          </a:prstGeom>
          <a:noFill/>
        </p:spPr>
        <p:txBody>
          <a:bodyPr wrap="square" lIns="0" rIns="0" tIns="0" bIns="0">
            <a:spAutoFit/>
          </a:bodyPr>
          <a:lstStyle/>
          <a:p>
            <a:pPr algn="l">
              <a:spcBef>
                <a:spcPts val="0"/>
              </a:spcBef>
              <a:spcAft>
                <a:spcPts val="600"/>
              </a:spcAft>
              <a:defRPr sz="2000" b="1">
                <a:solidFill>
                  <a:srgbClr val="172B49"/>
                </a:solidFill>
                <a:latin typeface="Arial"/>
              </a:defRPr>
            </a:pPr>
            <a:r>
              <a:t>Ma trận tương tác</a:t>
            </a:r>
          </a:p>
        </p:txBody>
      </p:sp>
      <p:sp>
        <p:nvSpPr>
          <p:cNvPr id="56" name="TextBox 55"/>
          <p:cNvSpPr txBox="1"/>
          <p:nvPr/>
        </p:nvSpPr>
        <p:spPr>
          <a:xfrm>
            <a:off x="4617720" y="3767328"/>
            <a:ext cx="2468880" cy="457200"/>
          </a:xfrm>
          <a:prstGeom prst="rect">
            <a:avLst/>
          </a:prstGeom>
          <a:noFill/>
        </p:spPr>
        <p:txBody>
          <a:bodyPr wrap="square" lIns="0" rIns="0" tIns="0" bIns="0">
            <a:spAutoFit/>
          </a:bodyPr>
          <a:lstStyle/>
          <a:p>
            <a:pPr algn="l">
              <a:spcBef>
                <a:spcPts val="0"/>
              </a:spcBef>
              <a:spcAft>
                <a:spcPts val="600"/>
              </a:spcAft>
              <a:defRPr sz="2000" b="1">
                <a:solidFill>
                  <a:srgbClr val="172B49"/>
                </a:solidFill>
                <a:latin typeface="Arial"/>
              </a:defRPr>
            </a:pPr>
            <a:r>
              <a:t>User factors</a:t>
            </a:r>
          </a:p>
        </p:txBody>
      </p:sp>
      <p:sp>
        <p:nvSpPr>
          <p:cNvPr id="57" name="TextBox 56"/>
          <p:cNvSpPr txBox="1"/>
          <p:nvPr/>
        </p:nvSpPr>
        <p:spPr>
          <a:xfrm>
            <a:off x="7461504" y="3767328"/>
            <a:ext cx="3383280" cy="457200"/>
          </a:xfrm>
          <a:prstGeom prst="rect">
            <a:avLst/>
          </a:prstGeom>
          <a:noFill/>
        </p:spPr>
        <p:txBody>
          <a:bodyPr wrap="square" lIns="0" rIns="0" tIns="0" bIns="0">
            <a:spAutoFit/>
          </a:bodyPr>
          <a:lstStyle/>
          <a:p>
            <a:pPr algn="l">
              <a:spcBef>
                <a:spcPts val="0"/>
              </a:spcBef>
              <a:spcAft>
                <a:spcPts val="600"/>
              </a:spcAft>
              <a:defRPr sz="2000" b="1">
                <a:solidFill>
                  <a:srgbClr val="172B49"/>
                </a:solidFill>
                <a:latin typeface="Arial"/>
              </a:defRPr>
            </a:pPr>
            <a:r>
              <a:t>Item factors</a:t>
            </a:r>
          </a:p>
        </p:txBody>
      </p:sp>
      <p:graphicFrame>
        <p:nvGraphicFramePr>
          <p:cNvPr id="58" name="Table 57"/>
          <p:cNvGraphicFramePr>
            <a:graphicFrameLocks noGrp="1"/>
          </p:cNvGraphicFramePr>
          <p:nvPr/>
        </p:nvGraphicFramePr>
        <p:xfrm>
          <a:off x="704088" y="4599432"/>
          <a:ext cx="10789920" cy="1014984"/>
        </p:xfrm>
        <a:graphic>
          <a:graphicData uri="http://schemas.openxmlformats.org/drawingml/2006/table">
            <a:tbl>
              <a:tblPr firstRow="1" bandRow="1">
                <a:tableStyleId>{5C22544A-7EE6-4342-B048-85BDC9FD1C3A}</a:tableStyleId>
              </a:tblPr>
              <a:tblGrid>
                <a:gridCol w="2697480"/>
                <a:gridCol w="2697480"/>
                <a:gridCol w="2697480"/>
                <a:gridCol w="2697480"/>
              </a:tblGrid>
              <a:tr h="507492">
                <a:tc>
                  <a:txBody>
                    <a:bodyPr/>
                    <a:lstStyle/>
                    <a:p>
                      <a:pPr>
                        <a:defRPr sz="1700" b="1">
                          <a:solidFill>
                            <a:srgbClr val="FFFFFF"/>
                          </a:solidFill>
                          <a:latin typeface="Arial"/>
                        </a:defRPr>
                      </a:pPr>
                      <a:r>
                        <a:t>Factors</a:t>
                      </a:r>
                    </a:p>
                  </a:txBody>
                  <a:tcPr marL="128016" marR="91440" marT="91440" marB="64008" anchor="ctr">
                    <a:solidFill>
                      <a:srgbClr val="244BFF"/>
                    </a:solidFill>
                  </a:tcPr>
                </a:tc>
                <a:tc>
                  <a:txBody>
                    <a:bodyPr/>
                    <a:lstStyle/>
                    <a:p>
                      <a:pPr>
                        <a:defRPr sz="1700" b="1">
                          <a:solidFill>
                            <a:srgbClr val="FFFFFF"/>
                          </a:solidFill>
                          <a:latin typeface="Arial"/>
                        </a:defRPr>
                      </a:pPr>
                      <a:r>
                        <a:t>Regularization</a:t>
                      </a:r>
                    </a:p>
                  </a:txBody>
                  <a:tcPr marL="128016" marR="91440" marT="91440" marB="64008" anchor="ctr">
                    <a:solidFill>
                      <a:srgbClr val="244BFF"/>
                    </a:solidFill>
                  </a:tcPr>
                </a:tc>
                <a:tc>
                  <a:txBody>
                    <a:bodyPr/>
                    <a:lstStyle/>
                    <a:p>
                      <a:pPr>
                        <a:defRPr sz="1700" b="1">
                          <a:solidFill>
                            <a:srgbClr val="FFFFFF"/>
                          </a:solidFill>
                          <a:latin typeface="Arial"/>
                        </a:defRPr>
                      </a:pPr>
                      <a:r>
                        <a:t>Alpha</a:t>
                      </a:r>
                    </a:p>
                  </a:txBody>
                  <a:tcPr marL="128016" marR="91440" marT="91440" marB="64008" anchor="ctr">
                    <a:solidFill>
                      <a:srgbClr val="244BFF"/>
                    </a:solidFill>
                  </a:tcPr>
                </a:tc>
                <a:tc>
                  <a:txBody>
                    <a:bodyPr/>
                    <a:lstStyle/>
                    <a:p>
                      <a:pPr>
                        <a:defRPr sz="1700" b="1">
                          <a:solidFill>
                            <a:srgbClr val="FFFFFF"/>
                          </a:solidFill>
                          <a:latin typeface="Arial"/>
                        </a:defRPr>
                      </a:pPr>
                      <a:r>
                        <a:t>Iterations</a:t>
                      </a:r>
                    </a:p>
                  </a:txBody>
                  <a:tcPr marL="128016" marR="91440" marT="91440" marB="64008" anchor="ctr">
                    <a:solidFill>
                      <a:srgbClr val="244BFF"/>
                    </a:solidFill>
                  </a:tcPr>
                </a:tc>
              </a:tr>
              <a:tr h="507492">
                <a:tc>
                  <a:txBody>
                    <a:bodyPr/>
                    <a:lstStyle/>
                    <a:p>
                      <a:pPr>
                        <a:defRPr sz="1700" b="0">
                          <a:solidFill>
                            <a:srgbClr val="172B49"/>
                          </a:solidFill>
                          <a:latin typeface="Arial"/>
                        </a:defRPr>
                      </a:pPr>
                      <a:r>
                        <a:t>32</a:t>
                      </a:r>
                    </a:p>
                  </a:txBody>
                  <a:tcPr marL="128016" marR="91440" marT="91440" marB="64008" anchor="ctr">
                    <a:solidFill>
                      <a:srgbClr val="F0F4FC"/>
                    </a:solidFill>
                  </a:tcPr>
                </a:tc>
                <a:tc>
                  <a:txBody>
                    <a:bodyPr/>
                    <a:lstStyle/>
                    <a:p>
                      <a:pPr>
                        <a:defRPr sz="1700" b="0">
                          <a:solidFill>
                            <a:srgbClr val="172B49"/>
                          </a:solidFill>
                          <a:latin typeface="Arial"/>
                        </a:defRPr>
                      </a:pPr>
                      <a:r>
                        <a:t>0,15</a:t>
                      </a:r>
                    </a:p>
                  </a:txBody>
                  <a:tcPr marL="128016" marR="91440" marT="91440" marB="64008" anchor="ctr">
                    <a:solidFill>
                      <a:srgbClr val="F0F4FC"/>
                    </a:solidFill>
                  </a:tcPr>
                </a:tc>
                <a:tc>
                  <a:txBody>
                    <a:bodyPr/>
                    <a:lstStyle/>
                    <a:p>
                      <a:pPr>
                        <a:defRPr sz="1700" b="0">
                          <a:solidFill>
                            <a:srgbClr val="172B49"/>
                          </a:solidFill>
                          <a:latin typeface="Arial"/>
                        </a:defRPr>
                      </a:pPr>
                      <a:r>
                        <a:t>40</a:t>
                      </a:r>
                    </a:p>
                  </a:txBody>
                  <a:tcPr marL="128016" marR="91440" marT="91440" marB="64008" anchor="ctr">
                    <a:solidFill>
                      <a:srgbClr val="F0F4FC"/>
                    </a:solidFill>
                  </a:tcPr>
                </a:tc>
                <a:tc>
                  <a:txBody>
                    <a:bodyPr/>
                    <a:lstStyle/>
                    <a:p>
                      <a:pPr>
                        <a:defRPr sz="1700" b="0">
                          <a:solidFill>
                            <a:srgbClr val="172B49"/>
                          </a:solidFill>
                          <a:latin typeface="Arial"/>
                        </a:defRPr>
                      </a:pPr>
                      <a:r>
                        <a:t>12</a:t>
                      </a:r>
                    </a:p>
                  </a:txBody>
                  <a:tcPr marL="128016" marR="91440" marT="91440" marB="64008" anchor="ctr">
                    <a:solidFill>
                      <a:srgbClr val="F0F4FC"/>
                    </a:solidFill>
                  </a:tcPr>
                </a:tc>
              </a:tr>
            </a:tbl>
          </a:graphicData>
        </a:graphic>
      </p:graphicFrame>
      <p:sp>
        <p:nvSpPr>
          <p:cNvPr id="59" name="Rounded Rectangle 58"/>
          <p:cNvSpPr/>
          <p:nvPr/>
        </p:nvSpPr>
        <p:spPr>
          <a:xfrm>
            <a:off x="566928" y="5870448"/>
            <a:ext cx="11064240" cy="365760"/>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749808" y="5952744"/>
            <a:ext cx="10698480" cy="256032"/>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Sơ đồ nguyên lý; cấu hình từ ALS artifact. Chọn model bằng POSITIVE NDCG@20.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07 MODELS</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GRU4Rec: học thứ tự và loại hành vi</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33 / 52</a:t>
            </a:r>
          </a:p>
        </p:txBody>
      </p:sp>
      <p:sp>
        <p:nvSpPr>
          <p:cNvPr id="8" name="Rectangle 7"/>
          <p:cNvSpPr/>
          <p:nvPr/>
        </p:nvSpPr>
        <p:spPr>
          <a:xfrm>
            <a:off x="566928" y="6391656"/>
            <a:ext cx="7021536"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94360" y="1993392"/>
            <a:ext cx="2523744" cy="1609344"/>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2130552"/>
            <a:ext cx="2249424"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01</a:t>
            </a:r>
          </a:p>
        </p:txBody>
      </p:sp>
      <p:sp>
        <p:nvSpPr>
          <p:cNvPr id="11" name="TextBox 10"/>
          <p:cNvSpPr txBox="1"/>
          <p:nvPr/>
        </p:nvSpPr>
        <p:spPr>
          <a:xfrm>
            <a:off x="749808" y="2441448"/>
            <a:ext cx="2212848" cy="475488"/>
          </a:xfrm>
          <a:prstGeom prst="rect">
            <a:avLst/>
          </a:prstGeom>
          <a:noFill/>
        </p:spPr>
        <p:txBody>
          <a:bodyPr wrap="square" lIns="0" rIns="0" tIns="0" bIns="0">
            <a:spAutoFit/>
          </a:bodyPr>
          <a:lstStyle/>
          <a:p>
            <a:pPr algn="l">
              <a:spcBef>
                <a:spcPts val="0"/>
              </a:spcBef>
              <a:spcAft>
                <a:spcPts val="600"/>
              </a:spcAft>
              <a:defRPr sz="1900" b="1">
                <a:solidFill>
                  <a:srgbClr val="172B49"/>
                </a:solidFill>
                <a:latin typeface="Arial"/>
              </a:defRPr>
            </a:pPr>
            <a:r>
              <a:t>Item + event</a:t>
            </a:r>
          </a:p>
        </p:txBody>
      </p:sp>
      <p:sp>
        <p:nvSpPr>
          <p:cNvPr id="12" name="TextBox 11"/>
          <p:cNvSpPr txBox="1"/>
          <p:nvPr/>
        </p:nvSpPr>
        <p:spPr>
          <a:xfrm>
            <a:off x="749808" y="2944368"/>
            <a:ext cx="2212848" cy="603503"/>
          </a:xfrm>
          <a:prstGeom prst="rect">
            <a:avLst/>
          </a:prstGeom>
          <a:noFill/>
        </p:spPr>
        <p:txBody>
          <a:bodyPr wrap="square" lIns="0" rIns="0" tIns="0" bIns="0">
            <a:spAutoFit/>
          </a:bodyPr>
          <a:lstStyle/>
          <a:p>
            <a:pPr algn="l">
              <a:spcBef>
                <a:spcPts val="0"/>
              </a:spcBef>
              <a:spcAft>
                <a:spcPts val="600"/>
              </a:spcAft>
              <a:defRPr sz="1300" b="0">
                <a:solidFill>
                  <a:srgbClr val="5B6B83"/>
                </a:solidFill>
                <a:latin typeface="Arial"/>
              </a:defRPr>
            </a:pPr>
            <a:r>
              <a:t>32 + 16 chiều</a:t>
            </a:r>
          </a:p>
        </p:txBody>
      </p:sp>
      <p:sp>
        <p:nvSpPr>
          <p:cNvPr id="13" name="Chevron 12"/>
          <p:cNvSpPr/>
          <p:nvPr/>
        </p:nvSpPr>
        <p:spPr>
          <a:xfrm>
            <a:off x="3159251" y="2706624"/>
            <a:ext cx="210312" cy="182880"/>
          </a:xfrm>
          <a:prstGeom prst="chevron">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410711" y="1993392"/>
            <a:ext cx="2523744" cy="1609344"/>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66159" y="2130552"/>
            <a:ext cx="2249424"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02</a:t>
            </a:r>
          </a:p>
        </p:txBody>
      </p:sp>
      <p:sp>
        <p:nvSpPr>
          <p:cNvPr id="16" name="TextBox 15"/>
          <p:cNvSpPr txBox="1"/>
          <p:nvPr/>
        </p:nvSpPr>
        <p:spPr>
          <a:xfrm>
            <a:off x="3566159" y="2441448"/>
            <a:ext cx="2212848" cy="475488"/>
          </a:xfrm>
          <a:prstGeom prst="rect">
            <a:avLst/>
          </a:prstGeom>
          <a:noFill/>
        </p:spPr>
        <p:txBody>
          <a:bodyPr wrap="square" lIns="0" rIns="0" tIns="0" bIns="0">
            <a:spAutoFit/>
          </a:bodyPr>
          <a:lstStyle/>
          <a:p>
            <a:pPr algn="l">
              <a:spcBef>
                <a:spcPts val="0"/>
              </a:spcBef>
              <a:spcAft>
                <a:spcPts val="600"/>
              </a:spcAft>
              <a:defRPr sz="1900" b="1">
                <a:solidFill>
                  <a:srgbClr val="172B49"/>
                </a:solidFill>
                <a:latin typeface="Arial"/>
              </a:defRPr>
            </a:pPr>
            <a:r>
              <a:t>GRU × 2</a:t>
            </a:r>
          </a:p>
        </p:txBody>
      </p:sp>
      <p:sp>
        <p:nvSpPr>
          <p:cNvPr id="17" name="TextBox 16"/>
          <p:cNvSpPr txBox="1"/>
          <p:nvPr/>
        </p:nvSpPr>
        <p:spPr>
          <a:xfrm>
            <a:off x="3566159" y="2944368"/>
            <a:ext cx="2212848" cy="603503"/>
          </a:xfrm>
          <a:prstGeom prst="rect">
            <a:avLst/>
          </a:prstGeom>
          <a:noFill/>
        </p:spPr>
        <p:txBody>
          <a:bodyPr wrap="square" lIns="0" rIns="0" tIns="0" bIns="0">
            <a:spAutoFit/>
          </a:bodyPr>
          <a:lstStyle/>
          <a:p>
            <a:pPr algn="l">
              <a:spcBef>
                <a:spcPts val="0"/>
              </a:spcBef>
              <a:spcAft>
                <a:spcPts val="600"/>
              </a:spcAft>
              <a:defRPr sz="1300" b="0">
                <a:solidFill>
                  <a:srgbClr val="5B6B83"/>
                </a:solidFill>
                <a:latin typeface="Arial"/>
              </a:defRPr>
            </a:pPr>
            <a:r>
              <a:t>Hidden = 128</a:t>
            </a:r>
          </a:p>
        </p:txBody>
      </p:sp>
      <p:sp>
        <p:nvSpPr>
          <p:cNvPr id="18" name="Chevron 17"/>
          <p:cNvSpPr/>
          <p:nvPr/>
        </p:nvSpPr>
        <p:spPr>
          <a:xfrm>
            <a:off x="5975603" y="2706624"/>
            <a:ext cx="210312" cy="182880"/>
          </a:xfrm>
          <a:prstGeom prst="chevron">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27064" y="1993392"/>
            <a:ext cx="2523744" cy="1609344"/>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82512" y="2130552"/>
            <a:ext cx="2249424"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03</a:t>
            </a:r>
          </a:p>
        </p:txBody>
      </p:sp>
      <p:sp>
        <p:nvSpPr>
          <p:cNvPr id="21" name="TextBox 20"/>
          <p:cNvSpPr txBox="1"/>
          <p:nvPr/>
        </p:nvSpPr>
        <p:spPr>
          <a:xfrm>
            <a:off x="6382512" y="2441448"/>
            <a:ext cx="2212848" cy="475488"/>
          </a:xfrm>
          <a:prstGeom prst="rect">
            <a:avLst/>
          </a:prstGeom>
          <a:noFill/>
        </p:spPr>
        <p:txBody>
          <a:bodyPr wrap="square" lIns="0" rIns="0" tIns="0" bIns="0">
            <a:spAutoFit/>
          </a:bodyPr>
          <a:lstStyle/>
          <a:p>
            <a:pPr algn="l">
              <a:spcBef>
                <a:spcPts val="0"/>
              </a:spcBef>
              <a:spcAft>
                <a:spcPts val="600"/>
              </a:spcAft>
              <a:defRPr sz="1900" b="1">
                <a:solidFill>
                  <a:srgbClr val="172B49"/>
                </a:solidFill>
                <a:latin typeface="Arial"/>
              </a:defRPr>
            </a:pPr>
            <a:r>
              <a:t>Ngữ cảnh</a:t>
            </a:r>
          </a:p>
        </p:txBody>
      </p:sp>
      <p:sp>
        <p:nvSpPr>
          <p:cNvPr id="22" name="TextBox 21"/>
          <p:cNvSpPr txBox="1"/>
          <p:nvPr/>
        </p:nvSpPr>
        <p:spPr>
          <a:xfrm>
            <a:off x="6382512" y="2944368"/>
            <a:ext cx="2212848" cy="603503"/>
          </a:xfrm>
          <a:prstGeom prst="rect">
            <a:avLst/>
          </a:prstGeom>
          <a:noFill/>
        </p:spPr>
        <p:txBody>
          <a:bodyPr wrap="square" lIns="0" rIns="0" tIns="0" bIns="0">
            <a:spAutoFit/>
          </a:bodyPr>
          <a:lstStyle/>
          <a:p>
            <a:pPr algn="l">
              <a:spcBef>
                <a:spcPts val="0"/>
              </a:spcBef>
              <a:spcAft>
                <a:spcPts val="600"/>
              </a:spcAft>
              <a:defRPr sz="1300" b="0">
                <a:solidFill>
                  <a:srgbClr val="5B6B83"/>
                </a:solidFill>
                <a:latin typeface="Arial"/>
              </a:defRPr>
            </a:pPr>
            <a:r>
              <a:t>Vector người dùng</a:t>
            </a:r>
          </a:p>
        </p:txBody>
      </p:sp>
      <p:sp>
        <p:nvSpPr>
          <p:cNvPr id="23" name="Chevron 22"/>
          <p:cNvSpPr/>
          <p:nvPr/>
        </p:nvSpPr>
        <p:spPr>
          <a:xfrm>
            <a:off x="8791956" y="2706624"/>
            <a:ext cx="210312" cy="182880"/>
          </a:xfrm>
          <a:prstGeom prst="chevron">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043415" y="1993392"/>
            <a:ext cx="2523744" cy="1609344"/>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98863" y="2130552"/>
            <a:ext cx="2249424"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04</a:t>
            </a:r>
          </a:p>
        </p:txBody>
      </p:sp>
      <p:sp>
        <p:nvSpPr>
          <p:cNvPr id="26" name="TextBox 25"/>
          <p:cNvSpPr txBox="1"/>
          <p:nvPr/>
        </p:nvSpPr>
        <p:spPr>
          <a:xfrm>
            <a:off x="9198863" y="2441448"/>
            <a:ext cx="2212848" cy="475488"/>
          </a:xfrm>
          <a:prstGeom prst="rect">
            <a:avLst/>
          </a:prstGeom>
          <a:noFill/>
        </p:spPr>
        <p:txBody>
          <a:bodyPr wrap="square" lIns="0" rIns="0" tIns="0" bIns="0">
            <a:spAutoFit/>
          </a:bodyPr>
          <a:lstStyle/>
          <a:p>
            <a:pPr algn="l">
              <a:spcBef>
                <a:spcPts val="0"/>
              </a:spcBef>
              <a:spcAft>
                <a:spcPts val="600"/>
              </a:spcAft>
              <a:defRPr sz="1900" b="1">
                <a:solidFill>
                  <a:srgbClr val="172B49"/>
                </a:solidFill>
                <a:latin typeface="Arial"/>
              </a:defRPr>
            </a:pPr>
            <a:r>
              <a:t>Next item</a:t>
            </a:r>
          </a:p>
        </p:txBody>
      </p:sp>
      <p:sp>
        <p:nvSpPr>
          <p:cNvPr id="27" name="TextBox 26"/>
          <p:cNvSpPr txBox="1"/>
          <p:nvPr/>
        </p:nvSpPr>
        <p:spPr>
          <a:xfrm>
            <a:off x="9198863" y="2944368"/>
            <a:ext cx="2212848" cy="603503"/>
          </a:xfrm>
          <a:prstGeom prst="rect">
            <a:avLst/>
          </a:prstGeom>
          <a:noFill/>
        </p:spPr>
        <p:txBody>
          <a:bodyPr wrap="square" lIns="0" rIns="0" tIns="0" bIns="0">
            <a:spAutoFit/>
          </a:bodyPr>
          <a:lstStyle/>
          <a:p>
            <a:pPr algn="l">
              <a:spcBef>
                <a:spcPts val="0"/>
              </a:spcBef>
              <a:spcAft>
                <a:spcPts val="600"/>
              </a:spcAft>
              <a:defRPr sz="1300" b="0">
                <a:solidFill>
                  <a:srgbClr val="5B6B83"/>
                </a:solidFill>
                <a:latin typeface="Arial"/>
              </a:defRPr>
            </a:pPr>
            <a:r>
              <a:t>Sampled softmax</a:t>
            </a:r>
          </a:p>
        </p:txBody>
      </p:sp>
      <p:sp>
        <p:nvSpPr>
          <p:cNvPr id="28" name="Oval 27"/>
          <p:cNvSpPr/>
          <p:nvPr/>
        </p:nvSpPr>
        <p:spPr>
          <a:xfrm>
            <a:off x="768096" y="4197096"/>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0120" y="4096512"/>
            <a:ext cx="10506455" cy="557784"/>
          </a:xfrm>
          <a:prstGeom prst="rect">
            <a:avLst/>
          </a:prstGeom>
          <a:noFill/>
        </p:spPr>
        <p:txBody>
          <a:bodyPr wrap="square" lIns="0" rIns="0" tIns="0" bIns="0">
            <a:spAutoFit/>
          </a:bodyPr>
          <a:lstStyle/>
          <a:p>
            <a:pPr algn="l">
              <a:spcBef>
                <a:spcPts val="0"/>
              </a:spcBef>
              <a:spcAft>
                <a:spcPts val="600"/>
              </a:spcAft>
              <a:defRPr sz="2000" b="0">
                <a:solidFill>
                  <a:srgbClr val="172B49"/>
                </a:solidFill>
                <a:latin typeface="Arial"/>
              </a:defRPr>
            </a:pPr>
            <a:r>
              <a:t>Item embedding trên CPU; GRU và dense được thiết kế chạy GPU.</a:t>
            </a:r>
          </a:p>
        </p:txBody>
      </p:sp>
      <p:sp>
        <p:nvSpPr>
          <p:cNvPr id="30" name="Oval 29"/>
          <p:cNvSpPr/>
          <p:nvPr/>
        </p:nvSpPr>
        <p:spPr>
          <a:xfrm>
            <a:off x="768096" y="4837176"/>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0120" y="4736592"/>
            <a:ext cx="10506455" cy="557784"/>
          </a:xfrm>
          <a:prstGeom prst="rect">
            <a:avLst/>
          </a:prstGeom>
          <a:noFill/>
        </p:spPr>
        <p:txBody>
          <a:bodyPr wrap="square" lIns="0" rIns="0" tIns="0" bIns="0">
            <a:spAutoFit/>
          </a:bodyPr>
          <a:lstStyle/>
          <a:p>
            <a:pPr algn="l">
              <a:spcBef>
                <a:spcPts val="0"/>
              </a:spcBef>
              <a:spcAft>
                <a:spcPts val="600"/>
              </a:spcAft>
              <a:defRPr sz="2000" b="0">
                <a:solidFill>
                  <a:srgbClr val="172B49"/>
                </a:solidFill>
                <a:latin typeface="Arial"/>
              </a:defRPr>
            </a:pPr>
            <a:r>
              <a:t>64 negatives khi train; catalog lớn được truy cập theo batch.</a:t>
            </a:r>
          </a:p>
        </p:txBody>
      </p:sp>
      <p:sp>
        <p:nvSpPr>
          <p:cNvPr id="32" name="Rounded Rectangle 31"/>
          <p:cNvSpPr/>
          <p:nvPr/>
        </p:nvSpPr>
        <p:spPr>
          <a:xfrm>
            <a:off x="795528" y="5559552"/>
            <a:ext cx="2907792" cy="329184"/>
          </a:xfrm>
          <a:prstGeom prst="roundRect">
            <a:avLst>
              <a:gd name="adj" fmla="val 9000"/>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86968" y="5623560"/>
            <a:ext cx="2724912" cy="182880"/>
          </a:xfrm>
          <a:prstGeom prst="rect">
            <a:avLst/>
          </a:prstGeom>
          <a:noFill/>
        </p:spPr>
        <p:txBody>
          <a:bodyPr wrap="square" lIns="0" rIns="0" tIns="0" bIns="0">
            <a:spAutoFit/>
          </a:bodyPr>
          <a:lstStyle/>
          <a:p>
            <a:pPr algn="l">
              <a:spcBef>
                <a:spcPts val="0"/>
              </a:spcBef>
              <a:spcAft>
                <a:spcPts val="600"/>
              </a:spcAft>
              <a:defRPr sz="1000" b="1">
                <a:solidFill>
                  <a:srgbClr val="FFFFFF"/>
                </a:solidFill>
                <a:latin typeface="Arial"/>
              </a:defRPr>
            </a:pPr>
            <a:r>
              <a:t>METRIC HIỆN CÓ: SAMPLED VAL</a:t>
            </a:r>
          </a:p>
        </p:txBody>
      </p:sp>
      <p:sp>
        <p:nvSpPr>
          <p:cNvPr id="34" name="TextBox 33"/>
          <p:cNvSpPr txBox="1"/>
          <p:nvPr/>
        </p:nvSpPr>
        <p:spPr>
          <a:xfrm>
            <a:off x="3931920" y="5614416"/>
            <a:ext cx="7424927" cy="393192"/>
          </a:xfrm>
          <a:prstGeom prst="rect">
            <a:avLst/>
          </a:prstGeom>
          <a:noFill/>
        </p:spPr>
        <p:txBody>
          <a:bodyPr wrap="square" lIns="0" rIns="0" tIns="0" bIns="0">
            <a:spAutoFit/>
          </a:bodyPr>
          <a:lstStyle/>
          <a:p>
            <a:pPr algn="l">
              <a:spcBef>
                <a:spcPts val="0"/>
              </a:spcBef>
              <a:spcAft>
                <a:spcPts val="600"/>
              </a:spcAft>
              <a:defRPr sz="2000" b="0">
                <a:solidFill>
                  <a:srgbClr val="5B6B83"/>
                </a:solidFill>
                <a:latin typeface="Arial"/>
              </a:defRPr>
            </a:pPr>
            <a:r>
              <a:t>Không gọi là full-catalog TEST.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07 MODELS</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Two-Tower: biểu diễn user và item</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34 / 52</a:t>
            </a:r>
          </a:p>
        </p:txBody>
      </p:sp>
      <p:sp>
        <p:nvSpPr>
          <p:cNvPr id="8" name="Rectangle 7"/>
          <p:cNvSpPr/>
          <p:nvPr/>
        </p:nvSpPr>
        <p:spPr>
          <a:xfrm>
            <a:off x="566928" y="6391656"/>
            <a:ext cx="7234310"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914400" y="1810512"/>
            <a:ext cx="4681728" cy="2395728"/>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33856" y="2048256"/>
            <a:ext cx="4114800" cy="256032"/>
          </a:xfrm>
          <a:prstGeom prst="rect">
            <a:avLst/>
          </a:prstGeom>
          <a:noFill/>
        </p:spPr>
        <p:txBody>
          <a:bodyPr wrap="square" lIns="0" rIns="0" tIns="0" bIns="0">
            <a:spAutoFit/>
          </a:bodyPr>
          <a:lstStyle/>
          <a:p>
            <a:pPr algn="l">
              <a:spcBef>
                <a:spcPts val="0"/>
              </a:spcBef>
              <a:spcAft>
                <a:spcPts val="600"/>
              </a:spcAft>
              <a:defRPr sz="1400" b="1">
                <a:solidFill>
                  <a:srgbClr val="244BFF"/>
                </a:solidFill>
                <a:latin typeface="Arial"/>
              </a:defRPr>
            </a:pPr>
            <a:r>
              <a:t>USER TOWER</a:t>
            </a:r>
          </a:p>
        </p:txBody>
      </p:sp>
      <p:sp>
        <p:nvSpPr>
          <p:cNvPr id="11" name="TextBox 10"/>
          <p:cNvSpPr txBox="1"/>
          <p:nvPr/>
        </p:nvSpPr>
        <p:spPr>
          <a:xfrm>
            <a:off x="1133856" y="2606040"/>
            <a:ext cx="4251960" cy="1371600"/>
          </a:xfrm>
          <a:prstGeom prst="rect">
            <a:avLst/>
          </a:prstGeom>
          <a:noFill/>
        </p:spPr>
        <p:txBody>
          <a:bodyPr wrap="square" lIns="0" rIns="0" tIns="0" bIns="0">
            <a:spAutoFit/>
          </a:bodyPr>
          <a:lstStyle/>
          <a:p>
            <a:pPr algn="ctr">
              <a:spcBef>
                <a:spcPts val="0"/>
              </a:spcBef>
              <a:spcAft>
                <a:spcPts val="600"/>
              </a:spcAft>
              <a:defRPr sz="2100" b="1">
                <a:solidFill>
                  <a:srgbClr val="172B49"/>
                </a:solidFill>
                <a:latin typeface="Arial"/>
              </a:defRPr>
            </a:pPr>
            <a:r>
              <a:t>User ID</a:t>
            </a:r>
          </a:p>
          <a:p>
            <a:pPr algn="ctr">
              <a:spcBef>
                <a:spcPts val="0"/>
              </a:spcBef>
              <a:spcAft>
                <a:spcPts val="600"/>
              </a:spcAft>
              <a:defRPr sz="2100" b="1">
                <a:solidFill>
                  <a:srgbClr val="172B49"/>
                </a:solidFill>
                <a:latin typeface="Arial"/>
              </a:defRPr>
            </a:pPr>
            <a:r>
              <a:t>↓</a:t>
            </a:r>
          </a:p>
          <a:p>
            <a:pPr algn="ctr">
              <a:spcBef>
                <a:spcPts val="0"/>
              </a:spcBef>
              <a:spcAft>
                <a:spcPts val="600"/>
              </a:spcAft>
              <a:defRPr sz="2100" b="1">
                <a:solidFill>
                  <a:srgbClr val="172B49"/>
                </a:solidFill>
                <a:latin typeface="Arial"/>
              </a:defRPr>
            </a:pPr>
            <a:r>
              <a:t>Embedding 64 chiều</a:t>
            </a:r>
          </a:p>
        </p:txBody>
      </p:sp>
      <p:sp>
        <p:nvSpPr>
          <p:cNvPr id="12" name="Rounded Rectangle 11"/>
          <p:cNvSpPr/>
          <p:nvPr/>
        </p:nvSpPr>
        <p:spPr>
          <a:xfrm>
            <a:off x="6565392" y="1810512"/>
            <a:ext cx="4681728" cy="2395728"/>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84848" y="2048256"/>
            <a:ext cx="4114800" cy="256032"/>
          </a:xfrm>
          <a:prstGeom prst="rect">
            <a:avLst/>
          </a:prstGeom>
          <a:noFill/>
        </p:spPr>
        <p:txBody>
          <a:bodyPr wrap="square" lIns="0" rIns="0" tIns="0" bIns="0">
            <a:spAutoFit/>
          </a:bodyPr>
          <a:lstStyle/>
          <a:p>
            <a:pPr algn="l">
              <a:spcBef>
                <a:spcPts val="0"/>
              </a:spcBef>
              <a:spcAft>
                <a:spcPts val="600"/>
              </a:spcAft>
              <a:defRPr sz="1400" b="1">
                <a:solidFill>
                  <a:srgbClr val="244BFF"/>
                </a:solidFill>
                <a:latin typeface="Arial"/>
              </a:defRPr>
            </a:pPr>
            <a:r>
              <a:t>ITEM TOWER</a:t>
            </a:r>
          </a:p>
        </p:txBody>
      </p:sp>
      <p:sp>
        <p:nvSpPr>
          <p:cNvPr id="14" name="TextBox 13"/>
          <p:cNvSpPr txBox="1"/>
          <p:nvPr/>
        </p:nvSpPr>
        <p:spPr>
          <a:xfrm>
            <a:off x="6784848" y="2606040"/>
            <a:ext cx="4251960" cy="1371600"/>
          </a:xfrm>
          <a:prstGeom prst="rect">
            <a:avLst/>
          </a:prstGeom>
          <a:noFill/>
        </p:spPr>
        <p:txBody>
          <a:bodyPr wrap="square" lIns="0" rIns="0" tIns="0" bIns="0">
            <a:spAutoFit/>
          </a:bodyPr>
          <a:lstStyle/>
          <a:p>
            <a:pPr algn="ctr">
              <a:spcBef>
                <a:spcPts val="0"/>
              </a:spcBef>
              <a:spcAft>
                <a:spcPts val="600"/>
              </a:spcAft>
              <a:defRPr sz="2100" b="1">
                <a:solidFill>
                  <a:srgbClr val="172B49"/>
                </a:solidFill>
                <a:latin typeface="Arial"/>
              </a:defRPr>
            </a:pPr>
            <a:r>
              <a:t>7 metadata × 16 + price_z</a:t>
            </a:r>
          </a:p>
          <a:p>
            <a:pPr algn="ctr">
              <a:spcBef>
                <a:spcPts val="0"/>
              </a:spcBef>
              <a:spcAft>
                <a:spcPts val="600"/>
              </a:spcAft>
              <a:defRPr sz="2100" b="1">
                <a:solidFill>
                  <a:srgbClr val="172B49"/>
                </a:solidFill>
                <a:latin typeface="Arial"/>
              </a:defRPr>
            </a:pPr>
            <a:r>
              <a:t>↓</a:t>
            </a:r>
          </a:p>
          <a:p>
            <a:pPr algn="ctr">
              <a:spcBef>
                <a:spcPts val="0"/>
              </a:spcBef>
              <a:spcAft>
                <a:spcPts val="600"/>
              </a:spcAft>
              <a:defRPr sz="2100" b="1">
                <a:solidFill>
                  <a:srgbClr val="172B49"/>
                </a:solidFill>
                <a:latin typeface="Arial"/>
              </a:defRPr>
            </a:pPr>
            <a:r>
              <a:t>MLP 256 → 64 chiều</a:t>
            </a:r>
          </a:p>
        </p:txBody>
      </p:sp>
      <p:cxnSp>
        <p:nvCxnSpPr>
          <p:cNvPr id="15" name="Connector 14"/>
          <p:cNvCxnSpPr/>
          <p:nvPr/>
        </p:nvCxnSpPr>
        <p:spPr>
          <a:xfrm>
            <a:off x="3255264" y="4242816"/>
            <a:ext cx="2852928" cy="411480"/>
          </a:xfrm>
          <a:prstGeom prst="line">
            <a:avLst/>
          </a:prstGeom>
          <a:ln w="25400">
            <a:solidFill>
              <a:srgbClr val="244BFF"/>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6108192" y="4242816"/>
            <a:ext cx="2788920" cy="411480"/>
          </a:xfrm>
          <a:prstGeom prst="line">
            <a:avLst/>
          </a:prstGeom>
          <a:ln w="25400">
            <a:solidFill>
              <a:srgbClr val="244BFF"/>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054096" y="4645152"/>
            <a:ext cx="6099048" cy="630936"/>
          </a:xfrm>
          <a:prstGeom prst="roundRect">
            <a:avLst>
              <a:gd name="adj" fmla="val 9000"/>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55264" y="4818888"/>
            <a:ext cx="5669280" cy="329184"/>
          </a:xfrm>
          <a:prstGeom prst="rect">
            <a:avLst/>
          </a:prstGeom>
          <a:noFill/>
        </p:spPr>
        <p:txBody>
          <a:bodyPr wrap="square" lIns="0" rIns="0" tIns="0" bIns="0">
            <a:spAutoFit/>
          </a:bodyPr>
          <a:lstStyle/>
          <a:p>
            <a:pPr algn="ctr">
              <a:spcBef>
                <a:spcPts val="0"/>
              </a:spcBef>
              <a:spcAft>
                <a:spcPts val="600"/>
              </a:spcAft>
              <a:defRPr sz="2200" b="1">
                <a:solidFill>
                  <a:srgbClr val="FFFFFF"/>
                </a:solidFill>
                <a:latin typeface="Arial"/>
              </a:defRPr>
            </a:pPr>
            <a:r>
              <a:t>Chuẩn hóa vector → tích vô hướng</a:t>
            </a:r>
          </a:p>
        </p:txBody>
      </p:sp>
      <p:sp>
        <p:nvSpPr>
          <p:cNvPr id="19" name="Rounded Rectangle 18"/>
          <p:cNvSpPr/>
          <p:nvPr/>
        </p:nvSpPr>
        <p:spPr>
          <a:xfrm>
            <a:off x="566928" y="5769864"/>
            <a:ext cx="11064240" cy="448056"/>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5852159"/>
            <a:ext cx="10698480" cy="338328"/>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Symmetric InfoNCE + in-batch negatives · FAISS chứa 27.328.461 TRAIN item.</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07 MODELS</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DCN: học tương tác chéo giữa các đặc trưng</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35 / 52</a:t>
            </a:r>
          </a:p>
        </p:txBody>
      </p:sp>
      <p:sp>
        <p:nvSpPr>
          <p:cNvPr id="8" name="Rectangle 7"/>
          <p:cNvSpPr/>
          <p:nvPr/>
        </p:nvSpPr>
        <p:spPr>
          <a:xfrm>
            <a:off x="566928" y="6391656"/>
            <a:ext cx="7447084"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31520" y="1828800"/>
            <a:ext cx="2926080" cy="2468880"/>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41832" y="2194560"/>
            <a:ext cx="2496312" cy="1737360"/>
          </a:xfrm>
          <a:prstGeom prst="rect">
            <a:avLst/>
          </a:prstGeom>
          <a:noFill/>
        </p:spPr>
        <p:txBody>
          <a:bodyPr wrap="square" lIns="0" rIns="0" tIns="0" bIns="0">
            <a:spAutoFit/>
          </a:bodyPr>
          <a:lstStyle/>
          <a:p>
            <a:pPr algn="ctr">
              <a:spcBef>
                <a:spcPts val="0"/>
              </a:spcBef>
              <a:spcAft>
                <a:spcPts val="600"/>
              </a:spcAft>
              <a:defRPr sz="1900" b="1">
                <a:solidFill>
                  <a:srgbClr val="172B49"/>
                </a:solidFill>
                <a:latin typeface="Arial"/>
              </a:defRPr>
            </a:pPr>
            <a:r>
              <a:t>Metadata embedding</a:t>
            </a:r>
          </a:p>
          <a:p>
            <a:pPr algn="ctr">
              <a:spcBef>
                <a:spcPts val="0"/>
              </a:spcBef>
              <a:spcAft>
                <a:spcPts val="600"/>
              </a:spcAft>
              <a:defRPr sz="1900" b="1">
                <a:solidFill>
                  <a:srgbClr val="172B49"/>
                </a:solidFill>
                <a:latin typeface="Arial"/>
              </a:defRPr>
            </a:pPr>
            <a:r>
              <a:t>+</a:t>
            </a:r>
          </a:p>
          <a:p>
            <a:pPr algn="ctr">
              <a:spcBef>
                <a:spcPts val="0"/>
              </a:spcBef>
              <a:spcAft>
                <a:spcPts val="600"/>
              </a:spcAft>
              <a:defRPr sz="1900" b="1">
                <a:solidFill>
                  <a:srgbClr val="172B49"/>
                </a:solidFill>
                <a:latin typeface="Arial"/>
              </a:defRPr>
            </a:pPr>
            <a:r>
              <a:t>Đặc trưng retrieval</a:t>
            </a:r>
          </a:p>
        </p:txBody>
      </p:sp>
      <p:sp>
        <p:nvSpPr>
          <p:cNvPr id="11" name="Rounded Rectangle 10"/>
          <p:cNvSpPr/>
          <p:nvPr/>
        </p:nvSpPr>
        <p:spPr>
          <a:xfrm>
            <a:off x="4251960" y="1783080"/>
            <a:ext cx="3502152" cy="1170432"/>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34840" y="1947672"/>
            <a:ext cx="3136392" cy="384048"/>
          </a:xfrm>
          <a:prstGeom prst="rect">
            <a:avLst/>
          </a:prstGeom>
          <a:noFill/>
        </p:spPr>
        <p:txBody>
          <a:bodyPr wrap="square" lIns="0" rIns="0" tIns="0" bIns="0">
            <a:spAutoFit/>
          </a:bodyPr>
          <a:lstStyle/>
          <a:p>
            <a:pPr algn="l">
              <a:spcBef>
                <a:spcPts val="0"/>
              </a:spcBef>
              <a:spcAft>
                <a:spcPts val="600"/>
              </a:spcAft>
              <a:defRPr sz="2200" b="1">
                <a:solidFill>
                  <a:srgbClr val="244BFF"/>
                </a:solidFill>
                <a:latin typeface="Arial"/>
              </a:defRPr>
            </a:pPr>
            <a:r>
              <a:t>Cross Network</a:t>
            </a:r>
          </a:p>
        </p:txBody>
      </p:sp>
      <p:sp>
        <p:nvSpPr>
          <p:cNvPr id="13" name="TextBox 12"/>
          <p:cNvSpPr txBox="1"/>
          <p:nvPr/>
        </p:nvSpPr>
        <p:spPr>
          <a:xfrm>
            <a:off x="4434840" y="2505456"/>
            <a:ext cx="3136392" cy="274320"/>
          </a:xfrm>
          <a:prstGeom prst="rect">
            <a:avLst/>
          </a:prstGeom>
          <a:noFill/>
        </p:spPr>
        <p:txBody>
          <a:bodyPr wrap="square" lIns="0" rIns="0" tIns="0" bIns="0">
            <a:spAutoFit/>
          </a:bodyPr>
          <a:lstStyle/>
          <a:p>
            <a:pPr algn="l">
              <a:spcBef>
                <a:spcPts val="0"/>
              </a:spcBef>
              <a:spcAft>
                <a:spcPts val="600"/>
              </a:spcAft>
              <a:defRPr sz="1700" b="0">
                <a:solidFill>
                  <a:srgbClr val="172B49"/>
                </a:solidFill>
                <a:latin typeface="Arial"/>
              </a:defRPr>
            </a:pPr>
            <a:r>
              <a:t>3 lớp tương tác chéo</a:t>
            </a:r>
          </a:p>
        </p:txBody>
      </p:sp>
      <p:sp>
        <p:nvSpPr>
          <p:cNvPr id="14" name="Rounded Rectangle 13"/>
          <p:cNvSpPr/>
          <p:nvPr/>
        </p:nvSpPr>
        <p:spPr>
          <a:xfrm>
            <a:off x="4251960" y="3200400"/>
            <a:ext cx="3502152" cy="1170432"/>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34840" y="3364992"/>
            <a:ext cx="3136392" cy="384048"/>
          </a:xfrm>
          <a:prstGeom prst="rect">
            <a:avLst/>
          </a:prstGeom>
          <a:noFill/>
        </p:spPr>
        <p:txBody>
          <a:bodyPr wrap="square" lIns="0" rIns="0" tIns="0" bIns="0">
            <a:spAutoFit/>
          </a:bodyPr>
          <a:lstStyle/>
          <a:p>
            <a:pPr algn="l">
              <a:spcBef>
                <a:spcPts val="0"/>
              </a:spcBef>
              <a:spcAft>
                <a:spcPts val="600"/>
              </a:spcAft>
              <a:defRPr sz="2200" b="1">
                <a:solidFill>
                  <a:srgbClr val="244BFF"/>
                </a:solidFill>
                <a:latin typeface="Arial"/>
              </a:defRPr>
            </a:pPr>
            <a:r>
              <a:t>Deep Network</a:t>
            </a:r>
          </a:p>
        </p:txBody>
      </p:sp>
      <p:sp>
        <p:nvSpPr>
          <p:cNvPr id="16" name="TextBox 15"/>
          <p:cNvSpPr txBox="1"/>
          <p:nvPr/>
        </p:nvSpPr>
        <p:spPr>
          <a:xfrm>
            <a:off x="4434840" y="3922776"/>
            <a:ext cx="3136392" cy="274320"/>
          </a:xfrm>
          <a:prstGeom prst="rect">
            <a:avLst/>
          </a:prstGeom>
          <a:noFill/>
        </p:spPr>
        <p:txBody>
          <a:bodyPr wrap="square" lIns="0" rIns="0" tIns="0" bIns="0">
            <a:spAutoFit/>
          </a:bodyPr>
          <a:lstStyle/>
          <a:p>
            <a:pPr algn="l">
              <a:spcBef>
                <a:spcPts val="0"/>
              </a:spcBef>
              <a:spcAft>
                <a:spcPts val="600"/>
              </a:spcAft>
              <a:defRPr sz="1700" b="0">
                <a:solidFill>
                  <a:srgbClr val="172B49"/>
                </a:solidFill>
                <a:latin typeface="Arial"/>
              </a:defRPr>
            </a:pPr>
            <a:r>
              <a:t>256 → 128 → 64</a:t>
            </a:r>
          </a:p>
        </p:txBody>
      </p:sp>
      <p:sp>
        <p:nvSpPr>
          <p:cNvPr id="17" name="Chevron 16"/>
          <p:cNvSpPr/>
          <p:nvPr/>
        </p:nvSpPr>
        <p:spPr>
          <a:xfrm>
            <a:off x="3767328" y="2944368"/>
            <a:ext cx="320040" cy="274320"/>
          </a:xfrm>
          <a:prstGeom prst="chevron">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Chevron 17"/>
          <p:cNvSpPr/>
          <p:nvPr/>
        </p:nvSpPr>
        <p:spPr>
          <a:xfrm>
            <a:off x="7936992" y="2944368"/>
            <a:ext cx="320040" cy="274320"/>
          </a:xfrm>
          <a:prstGeom prst="chevron">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503920" y="2212848"/>
            <a:ext cx="2880360" cy="1737360"/>
          </a:xfrm>
          <a:prstGeom prst="roundRect">
            <a:avLst>
              <a:gd name="adj" fmla="val 9000"/>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23376" y="2560320"/>
            <a:ext cx="2441448" cy="1005840"/>
          </a:xfrm>
          <a:prstGeom prst="rect">
            <a:avLst/>
          </a:prstGeom>
          <a:noFill/>
        </p:spPr>
        <p:txBody>
          <a:bodyPr wrap="square" lIns="0" rIns="0" tIns="0" bIns="0">
            <a:spAutoFit/>
          </a:bodyPr>
          <a:lstStyle/>
          <a:p>
            <a:pPr algn="ctr">
              <a:spcBef>
                <a:spcPts val="0"/>
              </a:spcBef>
              <a:spcAft>
                <a:spcPts val="600"/>
              </a:spcAft>
              <a:defRPr sz="2300" b="1">
                <a:solidFill>
                  <a:srgbClr val="FFFFFF"/>
                </a:solidFill>
                <a:latin typeface="Arial"/>
              </a:defRPr>
            </a:pPr>
            <a:r>
              <a:t>Ghép hai nhánh</a:t>
            </a:r>
          </a:p>
          <a:p>
            <a:pPr algn="ctr">
              <a:spcBef>
                <a:spcPts val="0"/>
              </a:spcBef>
              <a:spcAft>
                <a:spcPts val="600"/>
              </a:spcAft>
              <a:defRPr sz="2300" b="1">
                <a:solidFill>
                  <a:srgbClr val="FFFFFF"/>
                </a:solidFill>
                <a:latin typeface="Arial"/>
              </a:defRPr>
            </a:pPr>
            <a:r>
              <a:t>→ điểm ứng viên</a:t>
            </a:r>
          </a:p>
        </p:txBody>
      </p:sp>
      <p:sp>
        <p:nvSpPr>
          <p:cNvPr id="21" name="Oval 20"/>
          <p:cNvSpPr/>
          <p:nvPr/>
        </p:nvSpPr>
        <p:spPr>
          <a:xfrm>
            <a:off x="786384" y="4846320"/>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8408" y="4745736"/>
            <a:ext cx="10460736" cy="539496"/>
          </a:xfrm>
          <a:prstGeom prst="rect">
            <a:avLst/>
          </a:prstGeom>
          <a:noFill/>
        </p:spPr>
        <p:txBody>
          <a:bodyPr wrap="square" lIns="0" rIns="0" tIns="0" bIns="0">
            <a:spAutoFit/>
          </a:bodyPr>
          <a:lstStyle/>
          <a:p>
            <a:pPr algn="l">
              <a:spcBef>
                <a:spcPts val="0"/>
              </a:spcBef>
              <a:spcAft>
                <a:spcPts val="600"/>
              </a:spcAft>
              <a:defRPr sz="2000" b="0">
                <a:solidFill>
                  <a:srgbClr val="172B49"/>
                </a:solidFill>
                <a:latin typeface="Arial"/>
              </a:defRPr>
            </a:pPr>
            <a:r>
              <a:t>Embedding 8 chiều; dropout=0,15; tối ưu BCEWithLogitsLoss có trọng số.</a:t>
            </a:r>
          </a:p>
        </p:txBody>
      </p:sp>
      <p:sp>
        <p:nvSpPr>
          <p:cNvPr id="23" name="Oval 22"/>
          <p:cNvSpPr/>
          <p:nvPr/>
        </p:nvSpPr>
        <p:spPr>
          <a:xfrm>
            <a:off x="786384" y="5468112"/>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78408" y="5367528"/>
            <a:ext cx="10460736" cy="539496"/>
          </a:xfrm>
          <a:prstGeom prst="rect">
            <a:avLst/>
          </a:prstGeom>
          <a:noFill/>
        </p:spPr>
        <p:txBody>
          <a:bodyPr wrap="square" lIns="0" rIns="0" tIns="0" bIns="0">
            <a:spAutoFit/>
          </a:bodyPr>
          <a:lstStyle/>
          <a:p>
            <a:pPr algn="l">
              <a:spcBef>
                <a:spcPts val="0"/>
              </a:spcBef>
              <a:spcAft>
                <a:spcPts val="600"/>
              </a:spcAft>
              <a:defRPr sz="2000" b="0">
                <a:solidFill>
                  <a:srgbClr val="172B49"/>
                </a:solidFill>
                <a:latin typeface="Arial"/>
              </a:defRPr>
            </a:pPr>
            <a:r>
              <a:t>Ghép hai nhánh → logit ứng viên → sắp xếp Top-K trong từng case.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07 MODELS</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LightGBM Ranker: học thứ tự trong từng yêu cầu</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36 / 52</a:t>
            </a:r>
          </a:p>
        </p:txBody>
      </p:sp>
      <p:sp>
        <p:nvSpPr>
          <p:cNvPr id="8" name="Rectangle 7"/>
          <p:cNvSpPr/>
          <p:nvPr/>
        </p:nvSpPr>
        <p:spPr>
          <a:xfrm>
            <a:off x="566928" y="6391656"/>
            <a:ext cx="7659858"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94360" y="1783080"/>
            <a:ext cx="1960473" cy="1481328"/>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920240"/>
            <a:ext cx="1686153"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01</a:t>
            </a:r>
          </a:p>
        </p:txBody>
      </p:sp>
      <p:sp>
        <p:nvSpPr>
          <p:cNvPr id="11" name="TextBox 10"/>
          <p:cNvSpPr txBox="1"/>
          <p:nvPr/>
        </p:nvSpPr>
        <p:spPr>
          <a:xfrm>
            <a:off x="749808" y="2231136"/>
            <a:ext cx="1649577" cy="475488"/>
          </a:xfrm>
          <a:prstGeom prst="rect">
            <a:avLst/>
          </a:prstGeom>
          <a:noFill/>
        </p:spPr>
        <p:txBody>
          <a:bodyPr wrap="square" lIns="0" rIns="0" tIns="0" bIns="0">
            <a:spAutoFit/>
          </a:bodyPr>
          <a:lstStyle/>
          <a:p>
            <a:pPr algn="l">
              <a:spcBef>
                <a:spcPts val="0"/>
              </a:spcBef>
              <a:spcAft>
                <a:spcPts val="600"/>
              </a:spcAft>
              <a:defRPr sz="1900" b="1">
                <a:solidFill>
                  <a:srgbClr val="172B49"/>
                </a:solidFill>
                <a:latin typeface="Arial"/>
              </a:defRPr>
            </a:pPr>
            <a:r>
              <a:t>Ứng viên</a:t>
            </a:r>
          </a:p>
        </p:txBody>
      </p:sp>
      <p:sp>
        <p:nvSpPr>
          <p:cNvPr id="12" name="TextBox 11"/>
          <p:cNvSpPr txBox="1"/>
          <p:nvPr/>
        </p:nvSpPr>
        <p:spPr>
          <a:xfrm>
            <a:off x="749808" y="2734056"/>
            <a:ext cx="1649577" cy="475488"/>
          </a:xfrm>
          <a:prstGeom prst="rect">
            <a:avLst/>
          </a:prstGeom>
          <a:noFill/>
        </p:spPr>
        <p:txBody>
          <a:bodyPr wrap="square" lIns="0" rIns="0" tIns="0" bIns="0">
            <a:spAutoFit/>
          </a:bodyPr>
          <a:lstStyle/>
          <a:p>
            <a:pPr algn="l">
              <a:spcBef>
                <a:spcPts val="0"/>
              </a:spcBef>
              <a:spcAft>
                <a:spcPts val="600"/>
              </a:spcAft>
              <a:defRPr sz="1300" b="0">
                <a:solidFill>
                  <a:srgbClr val="5B6B83"/>
                </a:solidFill>
                <a:latin typeface="Arial"/>
              </a:defRPr>
            </a:pPr>
            <a:r>
              <a:t>Nhóm theo case_id</a:t>
            </a:r>
          </a:p>
        </p:txBody>
      </p:sp>
      <p:sp>
        <p:nvSpPr>
          <p:cNvPr id="13" name="Chevron 12"/>
          <p:cNvSpPr/>
          <p:nvPr/>
        </p:nvSpPr>
        <p:spPr>
          <a:xfrm>
            <a:off x="2595981" y="2432303"/>
            <a:ext cx="210312" cy="182880"/>
          </a:xfrm>
          <a:prstGeom prst="chevron">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847441" y="1783080"/>
            <a:ext cx="1960473" cy="1481328"/>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02889" y="1920240"/>
            <a:ext cx="1686153"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02</a:t>
            </a:r>
          </a:p>
        </p:txBody>
      </p:sp>
      <p:sp>
        <p:nvSpPr>
          <p:cNvPr id="16" name="TextBox 15"/>
          <p:cNvSpPr txBox="1"/>
          <p:nvPr/>
        </p:nvSpPr>
        <p:spPr>
          <a:xfrm>
            <a:off x="3002889" y="2231136"/>
            <a:ext cx="1649577" cy="475488"/>
          </a:xfrm>
          <a:prstGeom prst="rect">
            <a:avLst/>
          </a:prstGeom>
          <a:noFill/>
        </p:spPr>
        <p:txBody>
          <a:bodyPr wrap="square" lIns="0" rIns="0" tIns="0" bIns="0">
            <a:spAutoFit/>
          </a:bodyPr>
          <a:lstStyle/>
          <a:p>
            <a:pPr algn="l">
              <a:spcBef>
                <a:spcPts val="0"/>
              </a:spcBef>
              <a:spcAft>
                <a:spcPts val="600"/>
              </a:spcAft>
              <a:defRPr sz="1900" b="1">
                <a:solidFill>
                  <a:srgbClr val="172B49"/>
                </a:solidFill>
                <a:latin typeface="Arial"/>
              </a:defRPr>
            </a:pPr>
            <a:r>
              <a:t>30 features</a:t>
            </a:r>
          </a:p>
        </p:txBody>
      </p:sp>
      <p:sp>
        <p:nvSpPr>
          <p:cNvPr id="17" name="TextBox 16"/>
          <p:cNvSpPr txBox="1"/>
          <p:nvPr/>
        </p:nvSpPr>
        <p:spPr>
          <a:xfrm>
            <a:off x="3002889" y="2734056"/>
            <a:ext cx="1649577" cy="475488"/>
          </a:xfrm>
          <a:prstGeom prst="rect">
            <a:avLst/>
          </a:prstGeom>
          <a:noFill/>
        </p:spPr>
        <p:txBody>
          <a:bodyPr wrap="square" lIns="0" rIns="0" tIns="0" bIns="0">
            <a:spAutoFit/>
          </a:bodyPr>
          <a:lstStyle/>
          <a:p>
            <a:pPr algn="l">
              <a:spcBef>
                <a:spcPts val="0"/>
              </a:spcBef>
              <a:spcAft>
                <a:spcPts val="600"/>
              </a:spcAft>
              <a:defRPr sz="1300" b="0">
                <a:solidFill>
                  <a:srgbClr val="5B6B83"/>
                </a:solidFill>
                <a:latin typeface="Arial"/>
              </a:defRPr>
            </a:pPr>
            <a:r>
              <a:t>Metadata + retrieval</a:t>
            </a:r>
          </a:p>
        </p:txBody>
      </p:sp>
      <p:sp>
        <p:nvSpPr>
          <p:cNvPr id="18" name="Chevron 17"/>
          <p:cNvSpPr/>
          <p:nvPr/>
        </p:nvSpPr>
        <p:spPr>
          <a:xfrm>
            <a:off x="4849063" y="2432303"/>
            <a:ext cx="210312" cy="182880"/>
          </a:xfrm>
          <a:prstGeom prst="chevron">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00523" y="1783080"/>
            <a:ext cx="1960473" cy="1481328"/>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55971" y="1920240"/>
            <a:ext cx="1686153"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03</a:t>
            </a:r>
          </a:p>
        </p:txBody>
      </p:sp>
      <p:sp>
        <p:nvSpPr>
          <p:cNvPr id="21" name="TextBox 20"/>
          <p:cNvSpPr txBox="1"/>
          <p:nvPr/>
        </p:nvSpPr>
        <p:spPr>
          <a:xfrm>
            <a:off x="5255971" y="2231136"/>
            <a:ext cx="1649577" cy="475488"/>
          </a:xfrm>
          <a:prstGeom prst="rect">
            <a:avLst/>
          </a:prstGeom>
          <a:noFill/>
        </p:spPr>
        <p:txBody>
          <a:bodyPr wrap="square" lIns="0" rIns="0" tIns="0" bIns="0">
            <a:spAutoFit/>
          </a:bodyPr>
          <a:lstStyle/>
          <a:p>
            <a:pPr algn="l">
              <a:spcBef>
                <a:spcPts val="0"/>
              </a:spcBef>
              <a:spcAft>
                <a:spcPts val="600"/>
              </a:spcAft>
              <a:defRPr sz="1900" b="1">
                <a:solidFill>
                  <a:srgbClr val="172B49"/>
                </a:solidFill>
                <a:latin typeface="Arial"/>
              </a:defRPr>
            </a:pPr>
            <a:r>
              <a:t>LambdaRank</a:t>
            </a:r>
          </a:p>
        </p:txBody>
      </p:sp>
      <p:sp>
        <p:nvSpPr>
          <p:cNvPr id="22" name="TextBox 21"/>
          <p:cNvSpPr txBox="1"/>
          <p:nvPr/>
        </p:nvSpPr>
        <p:spPr>
          <a:xfrm>
            <a:off x="5255971" y="2734056"/>
            <a:ext cx="1649577" cy="475488"/>
          </a:xfrm>
          <a:prstGeom prst="rect">
            <a:avLst/>
          </a:prstGeom>
          <a:noFill/>
        </p:spPr>
        <p:txBody>
          <a:bodyPr wrap="square" lIns="0" rIns="0" tIns="0" bIns="0">
            <a:spAutoFit/>
          </a:bodyPr>
          <a:lstStyle/>
          <a:p>
            <a:pPr algn="l">
              <a:spcBef>
                <a:spcPts val="0"/>
              </a:spcBef>
              <a:spcAft>
                <a:spcPts val="600"/>
              </a:spcAft>
              <a:defRPr sz="1300" b="0">
                <a:solidFill>
                  <a:srgbClr val="5B6B83"/>
                </a:solidFill>
                <a:latin typeface="Arial"/>
              </a:defRPr>
            </a:pPr>
            <a:r>
              <a:t>Tối ưu thứ tự</a:t>
            </a:r>
          </a:p>
        </p:txBody>
      </p:sp>
      <p:sp>
        <p:nvSpPr>
          <p:cNvPr id="23" name="Chevron 22"/>
          <p:cNvSpPr/>
          <p:nvPr/>
        </p:nvSpPr>
        <p:spPr>
          <a:xfrm>
            <a:off x="7102144" y="2432303"/>
            <a:ext cx="210312" cy="182880"/>
          </a:xfrm>
          <a:prstGeom prst="chevron">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353604" y="1783080"/>
            <a:ext cx="1960473" cy="1481328"/>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09052" y="1920240"/>
            <a:ext cx="1686153"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04</a:t>
            </a:r>
          </a:p>
        </p:txBody>
      </p:sp>
      <p:sp>
        <p:nvSpPr>
          <p:cNvPr id="26" name="TextBox 25"/>
          <p:cNvSpPr txBox="1"/>
          <p:nvPr/>
        </p:nvSpPr>
        <p:spPr>
          <a:xfrm>
            <a:off x="7509052" y="2231136"/>
            <a:ext cx="1649577" cy="475488"/>
          </a:xfrm>
          <a:prstGeom prst="rect">
            <a:avLst/>
          </a:prstGeom>
          <a:noFill/>
        </p:spPr>
        <p:txBody>
          <a:bodyPr wrap="square" lIns="0" rIns="0" tIns="0" bIns="0">
            <a:spAutoFit/>
          </a:bodyPr>
          <a:lstStyle/>
          <a:p>
            <a:pPr algn="l">
              <a:spcBef>
                <a:spcPts val="0"/>
              </a:spcBef>
              <a:spcAft>
                <a:spcPts val="600"/>
              </a:spcAft>
              <a:defRPr sz="1900" b="1">
                <a:solidFill>
                  <a:srgbClr val="172B49"/>
                </a:solidFill>
                <a:latin typeface="Arial"/>
              </a:defRPr>
            </a:pPr>
            <a:r>
              <a:t>Blend</a:t>
            </a:r>
          </a:p>
        </p:txBody>
      </p:sp>
      <p:sp>
        <p:nvSpPr>
          <p:cNvPr id="27" name="TextBox 26"/>
          <p:cNvSpPr txBox="1"/>
          <p:nvPr/>
        </p:nvSpPr>
        <p:spPr>
          <a:xfrm>
            <a:off x="7509052" y="2734056"/>
            <a:ext cx="1649577" cy="475488"/>
          </a:xfrm>
          <a:prstGeom prst="rect">
            <a:avLst/>
          </a:prstGeom>
          <a:noFill/>
        </p:spPr>
        <p:txBody>
          <a:bodyPr wrap="square" lIns="0" rIns="0" tIns="0" bIns="0">
            <a:spAutoFit/>
          </a:bodyPr>
          <a:lstStyle/>
          <a:p>
            <a:pPr algn="l">
              <a:spcBef>
                <a:spcPts val="0"/>
              </a:spcBef>
              <a:spcAft>
                <a:spcPts val="600"/>
              </a:spcAft>
              <a:defRPr sz="1300" b="0">
                <a:solidFill>
                  <a:srgbClr val="5B6B83"/>
                </a:solidFill>
                <a:latin typeface="Arial"/>
              </a:defRPr>
            </a:pPr>
            <a:r>
              <a:t>70% + 30%</a:t>
            </a:r>
          </a:p>
        </p:txBody>
      </p:sp>
      <p:sp>
        <p:nvSpPr>
          <p:cNvPr id="28" name="Chevron 27"/>
          <p:cNvSpPr/>
          <p:nvPr/>
        </p:nvSpPr>
        <p:spPr>
          <a:xfrm>
            <a:off x="9355226" y="2432303"/>
            <a:ext cx="210312" cy="182880"/>
          </a:xfrm>
          <a:prstGeom prst="chevron">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606686" y="1783080"/>
            <a:ext cx="1960473" cy="1481328"/>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62134" y="1920240"/>
            <a:ext cx="1686153"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05</a:t>
            </a:r>
          </a:p>
        </p:txBody>
      </p:sp>
      <p:sp>
        <p:nvSpPr>
          <p:cNvPr id="31" name="TextBox 30"/>
          <p:cNvSpPr txBox="1"/>
          <p:nvPr/>
        </p:nvSpPr>
        <p:spPr>
          <a:xfrm>
            <a:off x="9762134" y="2231136"/>
            <a:ext cx="1649577" cy="475488"/>
          </a:xfrm>
          <a:prstGeom prst="rect">
            <a:avLst/>
          </a:prstGeom>
          <a:noFill/>
        </p:spPr>
        <p:txBody>
          <a:bodyPr wrap="square" lIns="0" rIns="0" tIns="0" bIns="0">
            <a:spAutoFit/>
          </a:bodyPr>
          <a:lstStyle/>
          <a:p>
            <a:pPr algn="l">
              <a:spcBef>
                <a:spcPts val="0"/>
              </a:spcBef>
              <a:spcAft>
                <a:spcPts val="600"/>
              </a:spcAft>
              <a:defRPr sz="1900" b="1">
                <a:solidFill>
                  <a:srgbClr val="172B49"/>
                </a:solidFill>
                <a:latin typeface="Arial"/>
              </a:defRPr>
            </a:pPr>
            <a:r>
              <a:t>Top-K</a:t>
            </a:r>
          </a:p>
        </p:txBody>
      </p:sp>
      <p:sp>
        <p:nvSpPr>
          <p:cNvPr id="32" name="TextBox 31"/>
          <p:cNvSpPr txBox="1"/>
          <p:nvPr/>
        </p:nvSpPr>
        <p:spPr>
          <a:xfrm>
            <a:off x="9762134" y="2734056"/>
            <a:ext cx="1649577" cy="475488"/>
          </a:xfrm>
          <a:prstGeom prst="rect">
            <a:avLst/>
          </a:prstGeom>
          <a:noFill/>
        </p:spPr>
        <p:txBody>
          <a:bodyPr wrap="square" lIns="0" rIns="0" tIns="0" bIns="0">
            <a:spAutoFit/>
          </a:bodyPr>
          <a:lstStyle/>
          <a:p>
            <a:pPr algn="l">
              <a:spcBef>
                <a:spcPts val="0"/>
              </a:spcBef>
              <a:spcAft>
                <a:spcPts val="600"/>
              </a:spcAft>
              <a:defRPr sz="1300" b="0">
                <a:solidFill>
                  <a:srgbClr val="5B6B83"/>
                </a:solidFill>
                <a:latin typeface="Arial"/>
              </a:defRPr>
            </a:pPr>
            <a:r>
              <a:t>Xếp hạng mỗi case</a:t>
            </a:r>
          </a:p>
        </p:txBody>
      </p:sp>
      <p:sp>
        <p:nvSpPr>
          <p:cNvPr id="33" name="Oval 32"/>
          <p:cNvSpPr/>
          <p:nvPr/>
        </p:nvSpPr>
        <p:spPr>
          <a:xfrm>
            <a:off x="749808" y="3712464"/>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41832" y="3611880"/>
            <a:ext cx="10506455" cy="374904"/>
          </a:xfrm>
          <a:prstGeom prst="rect">
            <a:avLst/>
          </a:prstGeom>
          <a:noFill/>
        </p:spPr>
        <p:txBody>
          <a:bodyPr wrap="square" lIns="0" rIns="0" tIns="0" bIns="0">
            <a:spAutoFit/>
          </a:bodyPr>
          <a:lstStyle/>
          <a:p>
            <a:pPr algn="l">
              <a:spcBef>
                <a:spcPts val="0"/>
              </a:spcBef>
              <a:spcAft>
                <a:spcPts val="600"/>
              </a:spcAft>
              <a:defRPr sz="1800" b="0">
                <a:solidFill>
                  <a:srgbClr val="172B49"/>
                </a:solidFill>
                <a:latin typeface="Arial"/>
              </a:defRPr>
            </a:pPr>
            <a:r>
              <a:t>LambdaRank; 30 features; nhóm dữ liệu theo case_id.</a:t>
            </a:r>
          </a:p>
        </p:txBody>
      </p:sp>
      <p:sp>
        <p:nvSpPr>
          <p:cNvPr id="35" name="Oval 34"/>
          <p:cNvSpPr/>
          <p:nvPr/>
        </p:nvSpPr>
        <p:spPr>
          <a:xfrm>
            <a:off x="749808" y="4169664"/>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41832" y="4069080"/>
            <a:ext cx="10506455" cy="374904"/>
          </a:xfrm>
          <a:prstGeom prst="rect">
            <a:avLst/>
          </a:prstGeom>
          <a:noFill/>
        </p:spPr>
        <p:txBody>
          <a:bodyPr wrap="square" lIns="0" rIns="0" tIns="0" bIns="0">
            <a:spAutoFit/>
          </a:bodyPr>
          <a:lstStyle/>
          <a:p>
            <a:pPr algn="l">
              <a:spcBef>
                <a:spcPts val="0"/>
              </a:spcBef>
              <a:spcAft>
                <a:spcPts val="600"/>
              </a:spcAft>
              <a:defRPr sz="1800" b="0">
                <a:solidFill>
                  <a:srgbClr val="172B49"/>
                </a:solidFill>
                <a:latin typeface="Arial"/>
              </a:defRPr>
            </a:pPr>
            <a:r>
              <a:t>6 metadata categorical + 20 score/rank nguồn + 4 đặc trưng tổng hợp.</a:t>
            </a:r>
          </a:p>
        </p:txBody>
      </p:sp>
      <p:sp>
        <p:nvSpPr>
          <p:cNvPr id="37" name="Oval 36"/>
          <p:cNvSpPr/>
          <p:nvPr/>
        </p:nvSpPr>
        <p:spPr>
          <a:xfrm>
            <a:off x="749808" y="4626864"/>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1832" y="4526280"/>
            <a:ext cx="10506455" cy="374904"/>
          </a:xfrm>
          <a:prstGeom prst="rect">
            <a:avLst/>
          </a:prstGeom>
          <a:noFill/>
        </p:spPr>
        <p:txBody>
          <a:bodyPr wrap="square" lIns="0" rIns="0" tIns="0" bIns="0">
            <a:spAutoFit/>
          </a:bodyPr>
          <a:lstStyle/>
          <a:p>
            <a:pPr algn="l">
              <a:spcBef>
                <a:spcPts val="0"/>
              </a:spcBef>
              <a:spcAft>
                <a:spcPts val="600"/>
              </a:spcAft>
              <a:defRPr sz="1800" b="0">
                <a:solidFill>
                  <a:srgbClr val="172B49"/>
                </a:solidFill>
                <a:latin typeface="Arial"/>
              </a:defRPr>
            </a:pPr>
            <a:r>
              <a:t>Learning rate=0,03; num_leaves=15; max_depth=6; regularization λ=5.</a:t>
            </a:r>
          </a:p>
        </p:txBody>
      </p:sp>
      <p:sp>
        <p:nvSpPr>
          <p:cNvPr id="39" name="Oval 38"/>
          <p:cNvSpPr/>
          <p:nvPr/>
        </p:nvSpPr>
        <p:spPr>
          <a:xfrm>
            <a:off x="749808" y="5084064"/>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41832" y="4983480"/>
            <a:ext cx="10506455" cy="374904"/>
          </a:xfrm>
          <a:prstGeom prst="rect">
            <a:avLst/>
          </a:prstGeom>
          <a:noFill/>
        </p:spPr>
        <p:txBody>
          <a:bodyPr wrap="square" lIns="0" rIns="0" tIns="0" bIns="0">
            <a:spAutoFit/>
          </a:bodyPr>
          <a:lstStyle/>
          <a:p>
            <a:pPr algn="l">
              <a:spcBef>
                <a:spcPts val="0"/>
              </a:spcBef>
              <a:spcAft>
                <a:spcPts val="600"/>
              </a:spcAft>
              <a:defRPr sz="1800" b="0">
                <a:solidFill>
                  <a:srgbClr val="172B49"/>
                </a:solidFill>
                <a:latin typeface="Arial"/>
              </a:defRPr>
            </a:pPr>
            <a:r>
              <a:t>Best iteration=6; blend chọn trên VAL: 70% model + 30% baseline.</a:t>
            </a:r>
          </a:p>
        </p:txBody>
      </p:sp>
      <p:sp>
        <p:nvSpPr>
          <p:cNvPr id="41" name="Rounded Rectangle 40"/>
          <p:cNvSpPr/>
          <p:nvPr/>
        </p:nvSpPr>
        <p:spPr>
          <a:xfrm>
            <a:off x="566928" y="5852160"/>
            <a:ext cx="11064240" cy="384048"/>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49808" y="5934456"/>
            <a:ext cx="10698480" cy="274320"/>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VAL chọn iteration và trọng số blend; TEST được báo cáo sau bước lựa chọn</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08 MODEL TRAINING</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Thiết lập huấn luyện</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37 / 52</a:t>
            </a:r>
          </a:p>
        </p:txBody>
      </p:sp>
      <p:sp>
        <p:nvSpPr>
          <p:cNvPr id="8" name="Rectangle 7"/>
          <p:cNvSpPr/>
          <p:nvPr/>
        </p:nvSpPr>
        <p:spPr>
          <a:xfrm>
            <a:off x="566928" y="6391656"/>
            <a:ext cx="7872632"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Table 8"/>
          <p:cNvGraphicFramePr>
            <a:graphicFrameLocks noGrp="1"/>
          </p:cNvGraphicFramePr>
          <p:nvPr/>
        </p:nvGraphicFramePr>
        <p:xfrm>
          <a:off x="649224" y="1810512"/>
          <a:ext cx="10899647" cy="3392424"/>
        </p:xfrm>
        <a:graphic>
          <a:graphicData uri="http://schemas.openxmlformats.org/drawingml/2006/table">
            <a:tbl>
              <a:tblPr firstRow="1" bandRow="1">
                <a:tableStyleId>{5C22544A-7EE6-4342-B048-85BDC9FD1C3A}</a:tableStyleId>
              </a:tblPr>
              <a:tblGrid>
                <a:gridCol w="1828800"/>
                <a:gridCol w="3310128"/>
                <a:gridCol w="1874519"/>
                <a:gridCol w="3886200"/>
              </a:tblGrid>
              <a:tr h="848106">
                <a:tc>
                  <a:txBody>
                    <a:bodyPr/>
                    <a:lstStyle/>
                    <a:p>
                      <a:pPr>
                        <a:defRPr sz="1700" b="1">
                          <a:solidFill>
                            <a:srgbClr val="FFFFFF"/>
                          </a:solidFill>
                          <a:latin typeface="Arial"/>
                        </a:defRPr>
                      </a:pPr>
                      <a:r>
                        <a:t>Mô hình</a:t>
                      </a:r>
                    </a:p>
                  </a:txBody>
                  <a:tcPr marL="128016" marR="91440" marT="91440" marB="64008" anchor="ctr">
                    <a:solidFill>
                      <a:srgbClr val="244BFF"/>
                    </a:solidFill>
                  </a:tcPr>
                </a:tc>
                <a:tc>
                  <a:txBody>
                    <a:bodyPr/>
                    <a:lstStyle/>
                    <a:p>
                      <a:pPr>
                        <a:defRPr sz="1700" b="1">
                          <a:solidFill>
                            <a:srgbClr val="FFFFFF"/>
                          </a:solidFill>
                          <a:latin typeface="Arial"/>
                        </a:defRPr>
                      </a:pPr>
                      <a:r>
                        <a:t>Quy mô / batch</a:t>
                      </a:r>
                    </a:p>
                  </a:txBody>
                  <a:tcPr marL="128016" marR="91440" marT="91440" marB="64008" anchor="ctr">
                    <a:solidFill>
                      <a:srgbClr val="244BFF"/>
                    </a:solidFill>
                  </a:tcPr>
                </a:tc>
                <a:tc>
                  <a:txBody>
                    <a:bodyPr/>
                    <a:lstStyle/>
                    <a:p>
                      <a:pPr>
                        <a:defRPr sz="1700" b="1">
                          <a:solidFill>
                            <a:srgbClr val="FFFFFF"/>
                          </a:solidFill>
                          <a:latin typeface="Arial"/>
                        </a:defRPr>
                      </a:pPr>
                      <a:r>
                        <a:t>Vòng đã lưu</a:t>
                      </a:r>
                    </a:p>
                  </a:txBody>
                  <a:tcPr marL="128016" marR="91440" marT="91440" marB="64008" anchor="ctr">
                    <a:solidFill>
                      <a:srgbClr val="244BFF"/>
                    </a:solidFill>
                  </a:tcPr>
                </a:tc>
                <a:tc>
                  <a:txBody>
                    <a:bodyPr/>
                    <a:lstStyle/>
                    <a:p>
                      <a:pPr>
                        <a:defRPr sz="1700" b="1">
                          <a:solidFill>
                            <a:srgbClr val="FFFFFF"/>
                          </a:solidFill>
                          <a:latin typeface="Arial"/>
                        </a:defRPr>
                      </a:pPr>
                      <a:r>
                        <a:t>Chọn checkpoint</a:t>
                      </a:r>
                    </a:p>
                  </a:txBody>
                  <a:tcPr marL="128016" marR="91440" marT="91440" marB="64008" anchor="ctr">
                    <a:solidFill>
                      <a:srgbClr val="244BFF"/>
                    </a:solidFill>
                  </a:tcPr>
                </a:tc>
              </a:tr>
              <a:tr h="848106">
                <a:tc>
                  <a:txBody>
                    <a:bodyPr/>
                    <a:lstStyle/>
                    <a:p>
                      <a:pPr>
                        <a:defRPr sz="1700" b="0">
                          <a:solidFill>
                            <a:srgbClr val="172B49"/>
                          </a:solidFill>
                          <a:latin typeface="Arial"/>
                        </a:defRPr>
                      </a:pPr>
                      <a:r>
                        <a:t>ALS</a:t>
                      </a:r>
                    </a:p>
                  </a:txBody>
                  <a:tcPr marL="128016" marR="91440" marT="91440" marB="64008" anchor="ctr">
                    <a:solidFill>
                      <a:srgbClr val="F0F4FC"/>
                    </a:solidFill>
                  </a:tcPr>
                </a:tc>
                <a:tc>
                  <a:txBody>
                    <a:bodyPr/>
                    <a:lstStyle/>
                    <a:p>
                      <a:pPr>
                        <a:defRPr sz="1700" b="0">
                          <a:solidFill>
                            <a:srgbClr val="172B49"/>
                          </a:solidFill>
                          <a:latin typeface="Arial"/>
                        </a:defRPr>
                      </a:pPr>
                      <a:r>
                        <a:t>32 factors</a:t>
                      </a:r>
                    </a:p>
                  </a:txBody>
                  <a:tcPr marL="128016" marR="91440" marT="91440" marB="64008" anchor="ctr">
                    <a:solidFill>
                      <a:srgbClr val="F0F4FC"/>
                    </a:solidFill>
                  </a:tcPr>
                </a:tc>
                <a:tc>
                  <a:txBody>
                    <a:bodyPr/>
                    <a:lstStyle/>
                    <a:p>
                      <a:pPr>
                        <a:defRPr sz="1700" b="0">
                          <a:solidFill>
                            <a:srgbClr val="172B49"/>
                          </a:solidFill>
                          <a:latin typeface="Arial"/>
                        </a:defRPr>
                      </a:pPr>
                      <a:r>
                        <a:t>12 iterations</a:t>
                      </a:r>
                    </a:p>
                  </a:txBody>
                  <a:tcPr marL="128016" marR="91440" marT="91440" marB="64008" anchor="ctr">
                    <a:solidFill>
                      <a:srgbClr val="F0F4FC"/>
                    </a:solidFill>
                  </a:tcPr>
                </a:tc>
                <a:tc>
                  <a:txBody>
                    <a:bodyPr/>
                    <a:lstStyle/>
                    <a:p>
                      <a:pPr>
                        <a:defRPr sz="1700" b="0">
                          <a:solidFill>
                            <a:srgbClr val="172B49"/>
                          </a:solidFill>
                          <a:latin typeface="Arial"/>
                        </a:defRPr>
                      </a:pPr>
                      <a:r>
                        <a:t>POSITIVE NDCG@20</a:t>
                      </a:r>
                    </a:p>
                  </a:txBody>
                  <a:tcPr marL="128016" marR="91440" marT="91440" marB="64008" anchor="ctr">
                    <a:solidFill>
                      <a:srgbClr val="F0F4FC"/>
                    </a:solidFill>
                  </a:tcPr>
                </a:tc>
              </a:tr>
              <a:tr h="848106">
                <a:tc>
                  <a:txBody>
                    <a:bodyPr/>
                    <a:lstStyle/>
                    <a:p>
                      <a:pPr>
                        <a:defRPr sz="1700" b="0">
                          <a:solidFill>
                            <a:srgbClr val="172B49"/>
                          </a:solidFill>
                          <a:latin typeface="Arial"/>
                        </a:defRPr>
                      </a:pPr>
                      <a:r>
                        <a:t>GRU4Rec</a:t>
                      </a:r>
                    </a:p>
                  </a:txBody>
                  <a:tcPr marL="128016" marR="91440" marT="91440" marB="64008" anchor="ctr">
                    <a:solidFill>
                      <a:srgbClr val="FFFFFF"/>
                    </a:solidFill>
                  </a:tcPr>
                </a:tc>
                <a:tc>
                  <a:txBody>
                    <a:bodyPr/>
                    <a:lstStyle/>
                    <a:p>
                      <a:pPr>
                        <a:defRPr sz="1700" b="0">
                          <a:solidFill>
                            <a:srgbClr val="172B49"/>
                          </a:solidFill>
                          <a:latin typeface="Arial"/>
                        </a:defRPr>
                      </a:pPr>
                      <a:r>
                        <a:t>Batch 128; ≤1M windows/epoch</a:t>
                      </a:r>
                    </a:p>
                  </a:txBody>
                  <a:tcPr marL="128016" marR="91440" marT="91440" marB="64008" anchor="ctr">
                    <a:solidFill>
                      <a:srgbClr val="FFFFFF"/>
                    </a:solidFill>
                  </a:tcPr>
                </a:tc>
                <a:tc>
                  <a:txBody>
                    <a:bodyPr/>
                    <a:lstStyle/>
                    <a:p>
                      <a:pPr>
                        <a:defRPr sz="1700" b="0">
                          <a:solidFill>
                            <a:srgbClr val="172B49"/>
                          </a:solidFill>
                          <a:latin typeface="Arial"/>
                        </a:defRPr>
                      </a:pPr>
                      <a:r>
                        <a:t>8 epoch</a:t>
                      </a:r>
                    </a:p>
                  </a:txBody>
                  <a:tcPr marL="128016" marR="91440" marT="91440" marB="64008" anchor="ctr">
                    <a:solidFill>
                      <a:srgbClr val="FFFFFF"/>
                    </a:solidFill>
                  </a:tcPr>
                </a:tc>
                <a:tc>
                  <a:txBody>
                    <a:bodyPr/>
                    <a:lstStyle/>
                    <a:p>
                      <a:pPr>
                        <a:defRPr sz="1700" b="0">
                          <a:solidFill>
                            <a:srgbClr val="172B49"/>
                          </a:solidFill>
                          <a:latin typeface="Arial"/>
                        </a:defRPr>
                      </a:pPr>
                      <a:r>
                        <a:t>Sampled VAL Recall@20</a:t>
                      </a:r>
                    </a:p>
                  </a:txBody>
                  <a:tcPr marL="128016" marR="91440" marT="91440" marB="64008" anchor="ctr">
                    <a:solidFill>
                      <a:srgbClr val="FFFFFF"/>
                    </a:solidFill>
                  </a:tcPr>
                </a:tc>
              </a:tr>
              <a:tr h="848106">
                <a:tc>
                  <a:txBody>
                    <a:bodyPr/>
                    <a:lstStyle/>
                    <a:p>
                      <a:pPr>
                        <a:defRPr sz="1700" b="0">
                          <a:solidFill>
                            <a:srgbClr val="172B49"/>
                          </a:solidFill>
                          <a:latin typeface="Arial"/>
                        </a:defRPr>
                      </a:pPr>
                      <a:r>
                        <a:t>Two-Tower</a:t>
                      </a:r>
                    </a:p>
                  </a:txBody>
                  <a:tcPr marL="128016" marR="91440" marT="91440" marB="64008" anchor="ctr">
                    <a:solidFill>
                      <a:srgbClr val="F0F4FC"/>
                    </a:solidFill>
                  </a:tcPr>
                </a:tc>
                <a:tc>
                  <a:txBody>
                    <a:bodyPr/>
                    <a:lstStyle/>
                    <a:p>
                      <a:pPr>
                        <a:defRPr sz="1700" b="0">
                          <a:solidFill>
                            <a:srgbClr val="172B49"/>
                          </a:solidFill>
                          <a:latin typeface="Arial"/>
                        </a:defRPr>
                      </a:pPr>
                      <a:r>
                        <a:t>Batch 2.048</a:t>
                      </a:r>
                    </a:p>
                  </a:txBody>
                  <a:tcPr marL="128016" marR="91440" marT="91440" marB="64008" anchor="ctr">
                    <a:solidFill>
                      <a:srgbClr val="F0F4FC"/>
                    </a:solidFill>
                  </a:tcPr>
                </a:tc>
                <a:tc>
                  <a:txBody>
                    <a:bodyPr/>
                    <a:lstStyle/>
                    <a:p>
                      <a:pPr>
                        <a:defRPr sz="1700" b="0">
                          <a:solidFill>
                            <a:srgbClr val="172B49"/>
                          </a:solidFill>
                          <a:latin typeface="Arial"/>
                        </a:defRPr>
                      </a:pPr>
                      <a:r>
                        <a:t>15 epoch</a:t>
                      </a:r>
                    </a:p>
                  </a:txBody>
                  <a:tcPr marL="128016" marR="91440" marT="91440" marB="64008" anchor="ctr">
                    <a:solidFill>
                      <a:srgbClr val="F0F4FC"/>
                    </a:solidFill>
                  </a:tcPr>
                </a:tc>
                <a:tc>
                  <a:txBody>
                    <a:bodyPr/>
                    <a:lstStyle/>
                    <a:p>
                      <a:pPr>
                        <a:defRPr sz="1700" b="0">
                          <a:solidFill>
                            <a:srgbClr val="172B49"/>
                          </a:solidFill>
                          <a:latin typeface="Arial"/>
                        </a:defRPr>
                      </a:pPr>
                      <a:r>
                        <a:t>VAL POSITIVE NDCG@20</a:t>
                      </a:r>
                    </a:p>
                  </a:txBody>
                  <a:tcPr marL="128016" marR="91440" marT="91440" marB="64008" anchor="ctr">
                    <a:solidFill>
                      <a:srgbClr val="F0F4FC"/>
                    </a:solidFill>
                  </a:tcPr>
                </a:tc>
              </a:tr>
            </a:tbl>
          </a:graphicData>
        </a:graphic>
      </p:graphicFrame>
      <p:sp>
        <p:nvSpPr>
          <p:cNvPr id="10" name="Rounded Rectangle 9"/>
          <p:cNvSpPr/>
          <p:nvPr/>
        </p:nvSpPr>
        <p:spPr>
          <a:xfrm>
            <a:off x="566928" y="5513832"/>
            <a:ext cx="11064240" cy="649224"/>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5596128"/>
            <a:ext cx="10698480" cy="539496"/>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Đọc batch/row-group · Lưu checkpoint · Resume khi phiên chạy bị gián đoạn.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08 MODEL TRAINING</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Huấn luyện ranker: lưu đúng phiên bản thực nghiệm</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38 / 52</a:t>
            </a:r>
          </a:p>
        </p:txBody>
      </p:sp>
      <p:sp>
        <p:nvSpPr>
          <p:cNvPr id="8" name="Rectangle 7"/>
          <p:cNvSpPr/>
          <p:nvPr/>
        </p:nvSpPr>
        <p:spPr>
          <a:xfrm>
            <a:off x="566928" y="6391656"/>
            <a:ext cx="8085406"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Table 8"/>
          <p:cNvGraphicFramePr>
            <a:graphicFrameLocks noGrp="1"/>
          </p:cNvGraphicFramePr>
          <p:nvPr/>
        </p:nvGraphicFramePr>
        <p:xfrm>
          <a:off x="658368" y="1737360"/>
          <a:ext cx="10881360" cy="2423160"/>
        </p:xfrm>
        <a:graphic>
          <a:graphicData uri="http://schemas.openxmlformats.org/drawingml/2006/table">
            <a:tbl>
              <a:tblPr firstRow="1" bandRow="1">
                <a:tableStyleId>{5C22544A-7EE6-4342-B048-85BDC9FD1C3A}</a:tableStyleId>
              </a:tblPr>
              <a:tblGrid>
                <a:gridCol w="3627120"/>
                <a:gridCol w="3627120"/>
                <a:gridCol w="3627120"/>
              </a:tblGrid>
              <a:tr h="605790">
                <a:tc>
                  <a:txBody>
                    <a:bodyPr/>
                    <a:lstStyle/>
                    <a:p>
                      <a:pPr>
                        <a:defRPr sz="1700" b="1">
                          <a:solidFill>
                            <a:srgbClr val="FFFFFF"/>
                          </a:solidFill>
                          <a:latin typeface="Arial"/>
                        </a:defRPr>
                      </a:pPr>
                      <a:r>
                        <a:t>Mô hình</a:t>
                      </a:r>
                    </a:p>
                  </a:txBody>
                  <a:tcPr marL="128016" marR="91440" marT="91440" marB="64008" anchor="ctr">
                    <a:solidFill>
                      <a:srgbClr val="244BFF"/>
                    </a:solidFill>
                  </a:tcPr>
                </a:tc>
                <a:tc>
                  <a:txBody>
                    <a:bodyPr/>
                    <a:lstStyle/>
                    <a:p>
                      <a:pPr>
                        <a:defRPr sz="1700" b="1">
                          <a:solidFill>
                            <a:srgbClr val="FFFFFF"/>
                          </a:solidFill>
                          <a:latin typeface="Arial"/>
                        </a:defRPr>
                      </a:pPr>
                      <a:r>
                        <a:t>Chọn checkpoint</a:t>
                      </a:r>
                    </a:p>
                  </a:txBody>
                  <a:tcPr marL="128016" marR="91440" marT="91440" marB="64008" anchor="ctr">
                    <a:solidFill>
                      <a:srgbClr val="244BFF"/>
                    </a:solidFill>
                  </a:tcPr>
                </a:tc>
                <a:tc>
                  <a:txBody>
                    <a:bodyPr/>
                    <a:lstStyle/>
                    <a:p>
                      <a:pPr>
                        <a:defRPr sz="1700" b="1">
                          <a:solidFill>
                            <a:srgbClr val="FFFFFF"/>
                          </a:solidFill>
                          <a:latin typeface="Arial"/>
                        </a:defRPr>
                      </a:pPr>
                      <a:r>
                        <a:t>Kết quả đã lưu</a:t>
                      </a:r>
                    </a:p>
                  </a:txBody>
                  <a:tcPr marL="128016" marR="91440" marT="91440" marB="64008" anchor="ctr">
                    <a:solidFill>
                      <a:srgbClr val="244BFF"/>
                    </a:solidFill>
                  </a:tcPr>
                </a:tc>
              </a:tr>
              <a:tr h="605790">
                <a:tc>
                  <a:txBody>
                    <a:bodyPr/>
                    <a:lstStyle/>
                    <a:p>
                      <a:pPr>
                        <a:defRPr sz="1700" b="0">
                          <a:solidFill>
                            <a:srgbClr val="172B49"/>
                          </a:solidFill>
                          <a:latin typeface="Arial"/>
                        </a:defRPr>
                      </a:pPr>
                      <a:r>
                        <a:t>DCN</a:t>
                      </a:r>
                    </a:p>
                  </a:txBody>
                  <a:tcPr marL="128016" marR="91440" marT="91440" marB="64008" anchor="ctr">
                    <a:solidFill>
                      <a:srgbClr val="F0F4FC"/>
                    </a:solidFill>
                  </a:tcPr>
                </a:tc>
                <a:tc>
                  <a:txBody>
                    <a:bodyPr/>
                    <a:lstStyle/>
                    <a:p>
                      <a:pPr>
                        <a:defRPr sz="1700" b="0">
                          <a:solidFill>
                            <a:srgbClr val="172B49"/>
                          </a:solidFill>
                          <a:latin typeface="Arial"/>
                        </a:defRPr>
                      </a:pPr>
                      <a:r>
                        <a:t>VAL conditional NDCG@20</a:t>
                      </a:r>
                    </a:p>
                  </a:txBody>
                  <a:tcPr marL="128016" marR="91440" marT="91440" marB="64008" anchor="ctr">
                    <a:solidFill>
                      <a:srgbClr val="F0F4FC"/>
                    </a:solidFill>
                  </a:tcPr>
                </a:tc>
                <a:tc>
                  <a:txBody>
                    <a:bodyPr/>
                    <a:lstStyle/>
                    <a:p>
                      <a:pPr>
                        <a:defRPr sz="1700" b="0">
                          <a:solidFill>
                            <a:srgbClr val="172B49"/>
                          </a:solidFill>
                          <a:latin typeface="Arial"/>
                        </a:defRPr>
                      </a:pPr>
                      <a:r>
                        <a:t>Epoch 1 / 10</a:t>
                      </a:r>
                    </a:p>
                  </a:txBody>
                  <a:tcPr marL="128016" marR="91440" marT="91440" marB="64008" anchor="ctr">
                    <a:solidFill>
                      <a:srgbClr val="F0F4FC"/>
                    </a:solidFill>
                  </a:tcPr>
                </a:tc>
              </a:tr>
              <a:tr h="605790">
                <a:tc>
                  <a:txBody>
                    <a:bodyPr/>
                    <a:lstStyle/>
                    <a:p>
                      <a:pPr>
                        <a:defRPr sz="1700" b="0">
                          <a:solidFill>
                            <a:srgbClr val="172B49"/>
                          </a:solidFill>
                          <a:latin typeface="Arial"/>
                        </a:defRPr>
                      </a:pPr>
                      <a:r>
                        <a:t>LightGBM</a:t>
                      </a:r>
                    </a:p>
                  </a:txBody>
                  <a:tcPr marL="128016" marR="91440" marT="91440" marB="64008" anchor="ctr">
                    <a:solidFill>
                      <a:srgbClr val="FFFFFF"/>
                    </a:solidFill>
                  </a:tcPr>
                </a:tc>
                <a:tc>
                  <a:txBody>
                    <a:bodyPr/>
                    <a:lstStyle/>
                    <a:p>
                      <a:pPr>
                        <a:defRPr sz="1700" b="0">
                          <a:solidFill>
                            <a:srgbClr val="172B49"/>
                          </a:solidFill>
                          <a:latin typeface="Arial"/>
                        </a:defRPr>
                      </a:pPr>
                      <a:r>
                        <a:t>VAL NDCG@20</a:t>
                      </a:r>
                    </a:p>
                  </a:txBody>
                  <a:tcPr marL="128016" marR="91440" marT="91440" marB="64008" anchor="ctr">
                    <a:solidFill>
                      <a:srgbClr val="FFFFFF"/>
                    </a:solidFill>
                  </a:tcPr>
                </a:tc>
                <a:tc>
                  <a:txBody>
                    <a:bodyPr/>
                    <a:lstStyle/>
                    <a:p>
                      <a:pPr>
                        <a:defRPr sz="1700" b="0">
                          <a:solidFill>
                            <a:srgbClr val="172B49"/>
                          </a:solidFill>
                          <a:latin typeface="Arial"/>
                        </a:defRPr>
                      </a:pPr>
                      <a:r>
                        <a:t>Iteration 6</a:t>
                      </a:r>
                    </a:p>
                  </a:txBody>
                  <a:tcPr marL="128016" marR="91440" marT="91440" marB="64008" anchor="ctr">
                    <a:solidFill>
                      <a:srgbClr val="FFFFFF"/>
                    </a:solidFill>
                  </a:tcPr>
                </a:tc>
              </a:tr>
              <a:tr h="605790">
                <a:tc>
                  <a:txBody>
                    <a:bodyPr/>
                    <a:lstStyle/>
                    <a:p>
                      <a:pPr>
                        <a:defRPr sz="1700" b="0">
                          <a:solidFill>
                            <a:srgbClr val="172B49"/>
                          </a:solidFill>
                          <a:latin typeface="Arial"/>
                        </a:defRPr>
                      </a:pPr>
                      <a:r>
                        <a:t>LightGBM blend</a:t>
                      </a:r>
                    </a:p>
                  </a:txBody>
                  <a:tcPr marL="128016" marR="91440" marT="91440" marB="64008" anchor="ctr">
                    <a:solidFill>
                      <a:srgbClr val="F0F4FC"/>
                    </a:solidFill>
                  </a:tcPr>
                </a:tc>
                <a:tc>
                  <a:txBody>
                    <a:bodyPr/>
                    <a:lstStyle/>
                    <a:p>
                      <a:pPr>
                        <a:defRPr sz="1700" b="0">
                          <a:solidFill>
                            <a:srgbClr val="172B49"/>
                          </a:solidFill>
                          <a:latin typeface="Arial"/>
                        </a:defRPr>
                      </a:pPr>
                      <a:r>
                        <a:t>VAL NDCG@20, rồi @10</a:t>
                      </a:r>
                    </a:p>
                  </a:txBody>
                  <a:tcPr marL="128016" marR="91440" marT="91440" marB="64008" anchor="ctr">
                    <a:solidFill>
                      <a:srgbClr val="F0F4FC"/>
                    </a:solidFill>
                  </a:tcPr>
                </a:tc>
                <a:tc>
                  <a:txBody>
                    <a:bodyPr/>
                    <a:lstStyle/>
                    <a:p>
                      <a:pPr>
                        <a:defRPr sz="1700" b="0">
                          <a:solidFill>
                            <a:srgbClr val="172B49"/>
                          </a:solidFill>
                          <a:latin typeface="Arial"/>
                        </a:defRPr>
                      </a:pPr>
                      <a:r>
                        <a:t>Model weight = 0,70</a:t>
                      </a:r>
                    </a:p>
                  </a:txBody>
                  <a:tcPr marL="128016" marR="91440" marT="91440" marB="64008" anchor="ctr">
                    <a:solidFill>
                      <a:srgbClr val="F0F4FC"/>
                    </a:solidFill>
                  </a:tcPr>
                </a:tc>
              </a:tr>
            </a:tbl>
          </a:graphicData>
        </a:graphic>
      </p:graphicFrame>
      <p:sp>
        <p:nvSpPr>
          <p:cNvPr id="10" name="Oval 9"/>
          <p:cNvSpPr/>
          <p:nvPr/>
        </p:nvSpPr>
        <p:spPr>
          <a:xfrm>
            <a:off x="768096" y="4489704"/>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4389120"/>
            <a:ext cx="10460736" cy="301751"/>
          </a:xfrm>
          <a:prstGeom prst="rect">
            <a:avLst/>
          </a:prstGeom>
          <a:noFill/>
        </p:spPr>
        <p:txBody>
          <a:bodyPr wrap="square" lIns="0" rIns="0" tIns="0" bIns="0">
            <a:spAutoFit/>
          </a:bodyPr>
          <a:lstStyle/>
          <a:p>
            <a:pPr algn="l">
              <a:spcBef>
                <a:spcPts val="0"/>
              </a:spcBef>
              <a:spcAft>
                <a:spcPts val="600"/>
              </a:spcAft>
              <a:defRPr sz="1700" b="0">
                <a:solidFill>
                  <a:srgbClr val="172B49"/>
                </a:solidFill>
                <a:latin typeface="Arial"/>
              </a:defRPr>
            </a:pPr>
            <a:r>
              <a:t>DCN: history có 10 epoch; best epoch=1 theo VAL NDCG@20.</a:t>
            </a:r>
          </a:p>
        </p:txBody>
      </p:sp>
      <p:sp>
        <p:nvSpPr>
          <p:cNvPr id="12" name="Oval 11"/>
          <p:cNvSpPr/>
          <p:nvPr/>
        </p:nvSpPr>
        <p:spPr>
          <a:xfrm>
            <a:off x="768096" y="4873752"/>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4773168"/>
            <a:ext cx="10460736" cy="301751"/>
          </a:xfrm>
          <a:prstGeom prst="rect">
            <a:avLst/>
          </a:prstGeom>
          <a:noFill/>
        </p:spPr>
        <p:txBody>
          <a:bodyPr wrap="square" lIns="0" rIns="0" tIns="0" bIns="0">
            <a:spAutoFit/>
          </a:bodyPr>
          <a:lstStyle/>
          <a:p>
            <a:pPr algn="l">
              <a:spcBef>
                <a:spcPts val="0"/>
              </a:spcBef>
              <a:spcAft>
                <a:spcPts val="600"/>
              </a:spcAft>
              <a:defRPr sz="1700" b="0">
                <a:solidFill>
                  <a:srgbClr val="172B49"/>
                </a:solidFill>
                <a:latin typeface="Arial"/>
              </a:defRPr>
            </a:pPr>
            <a:r>
              <a:t>DCN lượt đã lưu: 1,990,345 dòng TRAIN sau xử lý cho ranker.</a:t>
            </a:r>
          </a:p>
        </p:txBody>
      </p:sp>
      <p:sp>
        <p:nvSpPr>
          <p:cNvPr id="14" name="Oval 13"/>
          <p:cNvSpPr/>
          <p:nvPr/>
        </p:nvSpPr>
        <p:spPr>
          <a:xfrm>
            <a:off x="768096" y="5257800"/>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5157216"/>
            <a:ext cx="10460736" cy="301751"/>
          </a:xfrm>
          <a:prstGeom prst="rect">
            <a:avLst/>
          </a:prstGeom>
          <a:noFill/>
        </p:spPr>
        <p:txBody>
          <a:bodyPr wrap="square" lIns="0" rIns="0" tIns="0" bIns="0">
            <a:spAutoFit/>
          </a:bodyPr>
          <a:lstStyle/>
          <a:p>
            <a:pPr algn="l">
              <a:spcBef>
                <a:spcPts val="0"/>
              </a:spcBef>
              <a:spcAft>
                <a:spcPts val="600"/>
              </a:spcAft>
              <a:defRPr sz="1700" b="0">
                <a:solidFill>
                  <a:srgbClr val="172B49"/>
                </a:solidFill>
                <a:latin typeface="Arial"/>
              </a:defRPr>
            </a:pPr>
            <a:r>
              <a:t>LightGBM mới: 3,159/9,997 case TRAIN có positive trong ứng viên.</a:t>
            </a:r>
          </a:p>
        </p:txBody>
      </p:sp>
      <p:sp>
        <p:nvSpPr>
          <p:cNvPr id="16" name="Oval 15"/>
          <p:cNvSpPr/>
          <p:nvPr/>
        </p:nvSpPr>
        <p:spPr>
          <a:xfrm>
            <a:off x="768096" y="5641848"/>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5541264"/>
            <a:ext cx="10460736" cy="301751"/>
          </a:xfrm>
          <a:prstGeom prst="rect">
            <a:avLst/>
          </a:prstGeom>
          <a:noFill/>
        </p:spPr>
        <p:txBody>
          <a:bodyPr wrap="square" lIns="0" rIns="0" tIns="0" bIns="0">
            <a:spAutoFit/>
          </a:bodyPr>
          <a:lstStyle/>
          <a:p>
            <a:pPr algn="l">
              <a:spcBef>
                <a:spcPts val="0"/>
              </a:spcBef>
              <a:spcAft>
                <a:spcPts val="600"/>
              </a:spcAft>
              <a:defRPr sz="1700" b="0">
                <a:solidFill>
                  <a:srgbClr val="172B49"/>
                </a:solidFill>
                <a:latin typeface="Arial"/>
              </a:defRPr>
            </a:pPr>
            <a:r>
              <a:t>Checkpoint, feature schema, candidate policy và metric phải thuộc cùng một lượt.</a:t>
            </a:r>
          </a:p>
        </p:txBody>
      </p:sp>
      <p:sp>
        <p:nvSpPr>
          <p:cNvPr id="18" name="Rounded Rectangle 17"/>
          <p:cNvSpPr/>
          <p:nvPr/>
        </p:nvSpPr>
        <p:spPr>
          <a:xfrm>
            <a:off x="566928" y="5897880"/>
            <a:ext cx="11064240" cy="384048"/>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5980176"/>
            <a:ext cx="10698480" cy="274320"/>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Nguồn và phạm vi đánh giá được ghi đầy đủ trong speaker notes.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08 MODEL TRAINING</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Theo dõi loss và chọn checkpoint</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39 / 52</a:t>
            </a:r>
          </a:p>
        </p:txBody>
      </p:sp>
      <p:sp>
        <p:nvSpPr>
          <p:cNvPr id="8" name="Rectangle 7"/>
          <p:cNvSpPr/>
          <p:nvPr/>
        </p:nvSpPr>
        <p:spPr>
          <a:xfrm>
            <a:off x="566928" y="6391656"/>
            <a:ext cx="8298179"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34_training_loss.png"/>
          <p:cNvPicPr>
            <a:picLocks noChangeAspect="1"/>
          </p:cNvPicPr>
          <p:nvPr/>
        </p:nvPicPr>
        <p:blipFill>
          <a:blip r:embed="rId2"/>
          <a:stretch>
            <a:fillRect/>
          </a:stretch>
        </p:blipFill>
        <p:spPr>
          <a:xfrm>
            <a:off x="1575716" y="1700784"/>
            <a:ext cx="9019231" cy="3447288"/>
          </a:xfrm>
          <a:prstGeom prst="rect">
            <a:avLst/>
          </a:prstGeom>
        </p:spPr>
      </p:pic>
      <p:sp>
        <p:nvSpPr>
          <p:cNvPr id="10" name="TextBox 9"/>
          <p:cNvSpPr txBox="1"/>
          <p:nvPr/>
        </p:nvSpPr>
        <p:spPr>
          <a:xfrm>
            <a:off x="804672" y="5385816"/>
            <a:ext cx="5166360" cy="347472"/>
          </a:xfrm>
          <a:prstGeom prst="rect">
            <a:avLst/>
          </a:prstGeom>
          <a:noFill/>
        </p:spPr>
        <p:txBody>
          <a:bodyPr wrap="square" lIns="0" rIns="0" tIns="0" bIns="0">
            <a:spAutoFit/>
          </a:bodyPr>
          <a:lstStyle/>
          <a:p>
            <a:pPr algn="l">
              <a:spcBef>
                <a:spcPts val="0"/>
              </a:spcBef>
              <a:spcAft>
                <a:spcPts val="600"/>
              </a:spcAft>
              <a:defRPr sz="1900" b="1">
                <a:solidFill>
                  <a:srgbClr val="244BFF"/>
                </a:solidFill>
                <a:latin typeface="Arial"/>
              </a:defRPr>
            </a:pPr>
            <a:r>
              <a:t>GRU4Rec: best checkpoint tại epoch 6</a:t>
            </a:r>
          </a:p>
        </p:txBody>
      </p:sp>
      <p:sp>
        <p:nvSpPr>
          <p:cNvPr id="11" name="TextBox 10"/>
          <p:cNvSpPr txBox="1"/>
          <p:nvPr/>
        </p:nvSpPr>
        <p:spPr>
          <a:xfrm>
            <a:off x="6345936" y="5385816"/>
            <a:ext cx="4992624" cy="347472"/>
          </a:xfrm>
          <a:prstGeom prst="rect">
            <a:avLst/>
          </a:prstGeom>
          <a:noFill/>
        </p:spPr>
        <p:txBody>
          <a:bodyPr wrap="square" lIns="0" rIns="0" tIns="0" bIns="0">
            <a:spAutoFit/>
          </a:bodyPr>
          <a:lstStyle/>
          <a:p>
            <a:pPr algn="l">
              <a:spcBef>
                <a:spcPts val="0"/>
              </a:spcBef>
              <a:spcAft>
                <a:spcPts val="600"/>
              </a:spcAft>
              <a:defRPr sz="1900" b="1">
                <a:solidFill>
                  <a:srgbClr val="008E89"/>
                </a:solidFill>
                <a:latin typeface="Arial"/>
              </a:defRPr>
            </a:pPr>
            <a:r>
              <a:t>Two-Tower: best tại epoch 15</a:t>
            </a:r>
          </a:p>
        </p:txBody>
      </p:sp>
      <p:sp>
        <p:nvSpPr>
          <p:cNvPr id="12" name="Rounded Rectangle 11"/>
          <p:cNvSpPr/>
          <p:nvPr/>
        </p:nvSpPr>
        <p:spPr>
          <a:xfrm>
            <a:off x="566928" y="5907024"/>
            <a:ext cx="11064240" cy="347472"/>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49808" y="5989320"/>
            <a:ext cx="10698480" cy="237744"/>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Hai hàm mục tiêu khác nhau: chỉ đọc xu hướng loss riêng từng mô hình.</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09 RESULTS</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Đọc đúng giao thức đánh giá</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40 / 52</a:t>
            </a:r>
          </a:p>
        </p:txBody>
      </p:sp>
      <p:sp>
        <p:nvSpPr>
          <p:cNvPr id="8" name="Rectangle 7"/>
          <p:cNvSpPr/>
          <p:nvPr/>
        </p:nvSpPr>
        <p:spPr>
          <a:xfrm>
            <a:off x="566928" y="6391656"/>
            <a:ext cx="8510953"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35_twotower_protocols.png"/>
          <p:cNvPicPr>
            <a:picLocks noChangeAspect="1"/>
          </p:cNvPicPr>
          <p:nvPr/>
        </p:nvPicPr>
        <p:blipFill>
          <a:blip r:embed="rId2"/>
          <a:stretch>
            <a:fillRect/>
          </a:stretch>
        </p:blipFill>
        <p:spPr>
          <a:xfrm>
            <a:off x="658368" y="1973565"/>
            <a:ext cx="6537960" cy="3404645"/>
          </a:xfrm>
          <a:prstGeom prst="rect">
            <a:avLst/>
          </a:prstGeom>
        </p:spPr>
      </p:pic>
      <p:sp>
        <p:nvSpPr>
          <p:cNvPr id="10" name="Oval 9"/>
          <p:cNvSpPr/>
          <p:nvPr/>
        </p:nvSpPr>
        <p:spPr>
          <a:xfrm>
            <a:off x="7589520" y="2084831"/>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81544" y="1984248"/>
            <a:ext cx="3611880" cy="722376"/>
          </a:xfrm>
          <a:prstGeom prst="rect">
            <a:avLst/>
          </a:prstGeom>
          <a:noFill/>
        </p:spPr>
        <p:txBody>
          <a:bodyPr wrap="square" lIns="0" rIns="0" tIns="0" bIns="0">
            <a:spAutoFit/>
          </a:bodyPr>
          <a:lstStyle/>
          <a:p>
            <a:pPr algn="l">
              <a:spcBef>
                <a:spcPts val="0"/>
              </a:spcBef>
              <a:spcAft>
                <a:spcPts val="600"/>
              </a:spcAft>
              <a:defRPr sz="1900" b="0">
                <a:solidFill>
                  <a:srgbClr val="172B49"/>
                </a:solidFill>
                <a:latin typeface="Arial"/>
              </a:defRPr>
            </a:pPr>
            <a:r>
              <a:t>Recall: tỷ lệ target tìm thấy.</a:t>
            </a:r>
          </a:p>
        </p:txBody>
      </p:sp>
      <p:sp>
        <p:nvSpPr>
          <p:cNvPr id="12" name="Oval 11"/>
          <p:cNvSpPr/>
          <p:nvPr/>
        </p:nvSpPr>
        <p:spPr>
          <a:xfrm>
            <a:off x="7589520" y="2889503"/>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81544" y="2788920"/>
            <a:ext cx="3611880" cy="722376"/>
          </a:xfrm>
          <a:prstGeom prst="rect">
            <a:avLst/>
          </a:prstGeom>
          <a:noFill/>
        </p:spPr>
        <p:txBody>
          <a:bodyPr wrap="square" lIns="0" rIns="0" tIns="0" bIns="0">
            <a:spAutoFit/>
          </a:bodyPr>
          <a:lstStyle/>
          <a:p>
            <a:pPr algn="l">
              <a:spcBef>
                <a:spcPts val="0"/>
              </a:spcBef>
              <a:spcAft>
                <a:spcPts val="600"/>
              </a:spcAft>
              <a:defRPr sz="1900" b="0">
                <a:solidFill>
                  <a:srgbClr val="172B49"/>
                </a:solidFill>
                <a:latin typeface="Arial"/>
              </a:defRPr>
            </a:pPr>
            <a:r>
              <a:t>HitRate: user có ít nhất một hit.</a:t>
            </a:r>
          </a:p>
        </p:txBody>
      </p:sp>
      <p:sp>
        <p:nvSpPr>
          <p:cNvPr id="14" name="Oval 13"/>
          <p:cNvSpPr/>
          <p:nvPr/>
        </p:nvSpPr>
        <p:spPr>
          <a:xfrm>
            <a:off x="7589520" y="3694176"/>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81544" y="3593591"/>
            <a:ext cx="3611880" cy="722376"/>
          </a:xfrm>
          <a:prstGeom prst="rect">
            <a:avLst/>
          </a:prstGeom>
          <a:noFill/>
        </p:spPr>
        <p:txBody>
          <a:bodyPr wrap="square" lIns="0" rIns="0" tIns="0" bIns="0">
            <a:spAutoFit/>
          </a:bodyPr>
          <a:lstStyle/>
          <a:p>
            <a:pPr algn="l">
              <a:spcBef>
                <a:spcPts val="0"/>
              </a:spcBef>
              <a:spcAft>
                <a:spcPts val="600"/>
              </a:spcAft>
              <a:defRPr sz="1900" b="0">
                <a:solidFill>
                  <a:srgbClr val="172B49"/>
                </a:solidFill>
                <a:latin typeface="Arial"/>
              </a:defRPr>
            </a:pPr>
            <a:r>
              <a:t>NDCG: tính thêm vị trí của hit.</a:t>
            </a:r>
          </a:p>
        </p:txBody>
      </p:sp>
      <p:sp>
        <p:nvSpPr>
          <p:cNvPr id="16" name="Oval 15"/>
          <p:cNvSpPr/>
          <p:nvPr/>
        </p:nvSpPr>
        <p:spPr>
          <a:xfrm>
            <a:off x="7589520" y="4498848"/>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81544" y="4398264"/>
            <a:ext cx="3611880" cy="722376"/>
          </a:xfrm>
          <a:prstGeom prst="rect">
            <a:avLst/>
          </a:prstGeom>
          <a:noFill/>
        </p:spPr>
        <p:txBody>
          <a:bodyPr wrap="square" lIns="0" rIns="0" tIns="0" bIns="0">
            <a:spAutoFit/>
          </a:bodyPr>
          <a:lstStyle/>
          <a:p>
            <a:pPr algn="l">
              <a:spcBef>
                <a:spcPts val="0"/>
              </a:spcBef>
              <a:spcAft>
                <a:spcPts val="600"/>
              </a:spcAft>
              <a:defRPr sz="1900" b="0">
                <a:solidFill>
                  <a:srgbClr val="172B49"/>
                </a:solidFill>
                <a:latin typeface="Arial"/>
              </a:defRPr>
            </a:pPr>
            <a:r>
              <a:t>Luôn ghi split, user, candidates và cách lọc.</a:t>
            </a:r>
          </a:p>
        </p:txBody>
      </p:sp>
      <p:sp>
        <p:nvSpPr>
          <p:cNvPr id="18" name="Rounded Rectangle 17"/>
          <p:cNvSpPr/>
          <p:nvPr/>
        </p:nvSpPr>
        <p:spPr>
          <a:xfrm>
            <a:off x="566928" y="5852160"/>
            <a:ext cx="11064240" cy="402336"/>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5934456"/>
            <a:ext cx="10698480" cy="292608"/>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Sampled VAL, candidate pool và full-index là các giao thức khác nhau.</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09 RESULTS</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Kết quả TEST hiện có — từng thực nghiệm riêng</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41 / 52</a:t>
            </a:r>
          </a:p>
        </p:txBody>
      </p:sp>
      <p:sp>
        <p:nvSpPr>
          <p:cNvPr id="8" name="Rectangle 7"/>
          <p:cNvSpPr/>
          <p:nvPr/>
        </p:nvSpPr>
        <p:spPr>
          <a:xfrm>
            <a:off x="566928" y="6391656"/>
            <a:ext cx="8723727"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Table 8"/>
          <p:cNvGraphicFramePr>
            <a:graphicFrameLocks noGrp="1"/>
          </p:cNvGraphicFramePr>
          <p:nvPr/>
        </p:nvGraphicFramePr>
        <p:xfrm>
          <a:off x="649224" y="1837943"/>
          <a:ext cx="10899648" cy="2898648"/>
        </p:xfrm>
        <a:graphic>
          <a:graphicData uri="http://schemas.openxmlformats.org/drawingml/2006/table">
            <a:tbl>
              <a:tblPr firstRow="1" bandRow="1">
                <a:tableStyleId>{5C22544A-7EE6-4342-B048-85BDC9FD1C3A}</a:tableStyleId>
              </a:tblPr>
              <a:tblGrid>
                <a:gridCol w="3493008"/>
                <a:gridCol w="2468880"/>
                <a:gridCol w="2468880"/>
                <a:gridCol w="2468880"/>
              </a:tblGrid>
              <a:tr h="579729">
                <a:tc>
                  <a:txBody>
                    <a:bodyPr/>
                    <a:lstStyle/>
                    <a:p>
                      <a:pPr>
                        <a:defRPr sz="2000" b="1">
                          <a:solidFill>
                            <a:srgbClr val="FFFFFF"/>
                          </a:solidFill>
                          <a:latin typeface="Arial"/>
                        </a:defRPr>
                      </a:pPr>
                      <a:r>
                        <a:t>Mô hình</a:t>
                      </a:r>
                    </a:p>
                  </a:txBody>
                  <a:tcPr marL="128016" marR="91440" marT="91440" marB="64008" anchor="ctr">
                    <a:solidFill>
                      <a:srgbClr val="244BFF"/>
                    </a:solidFill>
                  </a:tcPr>
                </a:tc>
                <a:tc>
                  <a:txBody>
                    <a:bodyPr/>
                    <a:lstStyle/>
                    <a:p>
                      <a:pPr>
                        <a:defRPr sz="2000" b="1">
                          <a:solidFill>
                            <a:srgbClr val="FFFFFF"/>
                          </a:solidFill>
                          <a:latin typeface="Arial"/>
                        </a:defRPr>
                      </a:pPr>
                      <a:r>
                        <a:t>Recall@20</a:t>
                      </a:r>
                    </a:p>
                  </a:txBody>
                  <a:tcPr marL="128016" marR="91440" marT="91440" marB="64008" anchor="ctr">
                    <a:solidFill>
                      <a:srgbClr val="244BFF"/>
                    </a:solidFill>
                  </a:tcPr>
                </a:tc>
                <a:tc>
                  <a:txBody>
                    <a:bodyPr/>
                    <a:lstStyle/>
                    <a:p>
                      <a:pPr>
                        <a:defRPr sz="2000" b="1">
                          <a:solidFill>
                            <a:srgbClr val="FFFFFF"/>
                          </a:solidFill>
                          <a:latin typeface="Arial"/>
                        </a:defRPr>
                      </a:pPr>
                      <a:r>
                        <a:t>NDCG@20</a:t>
                      </a:r>
                    </a:p>
                  </a:txBody>
                  <a:tcPr marL="128016" marR="91440" marT="91440" marB="64008" anchor="ctr">
                    <a:solidFill>
                      <a:srgbClr val="244BFF"/>
                    </a:solidFill>
                  </a:tcPr>
                </a:tc>
                <a:tc>
                  <a:txBody>
                    <a:bodyPr/>
                    <a:lstStyle/>
                    <a:p>
                      <a:pPr>
                        <a:defRPr sz="2000" b="1">
                          <a:solidFill>
                            <a:srgbClr val="FFFFFF"/>
                          </a:solidFill>
                          <a:latin typeface="Arial"/>
                        </a:defRPr>
                      </a:pPr>
                      <a:r>
                        <a:t>HitRate@20</a:t>
                      </a:r>
                    </a:p>
                  </a:txBody>
                  <a:tcPr marL="128016" marR="91440" marT="91440" marB="64008" anchor="ctr">
                    <a:solidFill>
                      <a:srgbClr val="244BFF"/>
                    </a:solidFill>
                  </a:tcPr>
                </a:tc>
              </a:tr>
              <a:tr h="579729">
                <a:tc>
                  <a:txBody>
                    <a:bodyPr/>
                    <a:lstStyle/>
                    <a:p>
                      <a:pPr>
                        <a:defRPr sz="2000" b="0">
                          <a:solidFill>
                            <a:srgbClr val="172B49"/>
                          </a:solidFill>
                          <a:latin typeface="Arial"/>
                        </a:defRPr>
                      </a:pPr>
                      <a:r>
                        <a:t>Content-Based</a:t>
                      </a:r>
                    </a:p>
                  </a:txBody>
                  <a:tcPr marL="128016" marR="91440" marT="91440" marB="64008" anchor="ctr">
                    <a:solidFill>
                      <a:srgbClr val="F0F4FC"/>
                    </a:solidFill>
                  </a:tcPr>
                </a:tc>
                <a:tc>
                  <a:txBody>
                    <a:bodyPr/>
                    <a:lstStyle/>
                    <a:p>
                      <a:pPr>
                        <a:defRPr sz="2000" b="0">
                          <a:solidFill>
                            <a:srgbClr val="172B49"/>
                          </a:solidFill>
                          <a:latin typeface="Arial"/>
                        </a:defRPr>
                      </a:pPr>
                      <a:r>
                        <a:t>1.2514%</a:t>
                      </a:r>
                    </a:p>
                  </a:txBody>
                  <a:tcPr marL="128016" marR="91440" marT="91440" marB="64008" anchor="ctr">
                    <a:solidFill>
                      <a:srgbClr val="F0F4FC"/>
                    </a:solidFill>
                  </a:tcPr>
                </a:tc>
                <a:tc>
                  <a:txBody>
                    <a:bodyPr/>
                    <a:lstStyle/>
                    <a:p>
                      <a:pPr>
                        <a:defRPr sz="2000" b="0">
                          <a:solidFill>
                            <a:srgbClr val="172B49"/>
                          </a:solidFill>
                          <a:latin typeface="Arial"/>
                        </a:defRPr>
                      </a:pPr>
                      <a:r>
                        <a:t>0.004429</a:t>
                      </a:r>
                    </a:p>
                  </a:txBody>
                  <a:tcPr marL="128016" marR="91440" marT="91440" marB="64008" anchor="ctr">
                    <a:solidFill>
                      <a:srgbClr val="F0F4FC"/>
                    </a:solidFill>
                  </a:tcPr>
                </a:tc>
                <a:tc>
                  <a:txBody>
                    <a:bodyPr/>
                    <a:lstStyle/>
                    <a:p>
                      <a:pPr>
                        <a:defRPr sz="2000" b="0">
                          <a:solidFill>
                            <a:srgbClr val="172B49"/>
                          </a:solidFill>
                          <a:latin typeface="Arial"/>
                        </a:defRPr>
                      </a:pPr>
                      <a:r>
                        <a:t>2.6042%</a:t>
                      </a:r>
                    </a:p>
                  </a:txBody>
                  <a:tcPr marL="128016" marR="91440" marT="91440" marB="64008" anchor="ctr">
                    <a:solidFill>
                      <a:srgbClr val="F0F4FC"/>
                    </a:solidFill>
                  </a:tcPr>
                </a:tc>
              </a:tr>
              <a:tr h="579729">
                <a:tc>
                  <a:txBody>
                    <a:bodyPr/>
                    <a:lstStyle/>
                    <a:p>
                      <a:pPr>
                        <a:defRPr sz="2000" b="0">
                          <a:solidFill>
                            <a:srgbClr val="172B49"/>
                          </a:solidFill>
                          <a:latin typeface="Arial"/>
                        </a:defRPr>
                      </a:pPr>
                      <a:r>
                        <a:t>Co-visitation</a:t>
                      </a:r>
                    </a:p>
                  </a:txBody>
                  <a:tcPr marL="128016" marR="91440" marT="91440" marB="64008" anchor="ctr">
                    <a:solidFill>
                      <a:srgbClr val="FFFFFF"/>
                    </a:solidFill>
                  </a:tcPr>
                </a:tc>
                <a:tc>
                  <a:txBody>
                    <a:bodyPr/>
                    <a:lstStyle/>
                    <a:p>
                      <a:pPr>
                        <a:defRPr sz="2000" b="0">
                          <a:solidFill>
                            <a:srgbClr val="172B49"/>
                          </a:solidFill>
                          <a:latin typeface="Arial"/>
                        </a:defRPr>
                      </a:pPr>
                      <a:r>
                        <a:t>1.2245%</a:t>
                      </a:r>
                    </a:p>
                  </a:txBody>
                  <a:tcPr marL="128016" marR="91440" marT="91440" marB="64008" anchor="ctr">
                    <a:solidFill>
                      <a:srgbClr val="FFFFFF"/>
                    </a:solidFill>
                  </a:tcPr>
                </a:tc>
                <a:tc>
                  <a:txBody>
                    <a:bodyPr/>
                    <a:lstStyle/>
                    <a:p>
                      <a:pPr>
                        <a:defRPr sz="2000" b="0">
                          <a:solidFill>
                            <a:srgbClr val="172B49"/>
                          </a:solidFill>
                          <a:latin typeface="Arial"/>
                        </a:defRPr>
                      </a:pPr>
                      <a:r>
                        <a:t>0.006931</a:t>
                      </a:r>
                    </a:p>
                  </a:txBody>
                  <a:tcPr marL="128016" marR="91440" marT="91440" marB="64008" anchor="ctr">
                    <a:solidFill>
                      <a:srgbClr val="FFFFFF"/>
                    </a:solidFill>
                  </a:tcPr>
                </a:tc>
                <a:tc>
                  <a:txBody>
                    <a:bodyPr/>
                    <a:lstStyle/>
                    <a:p>
                      <a:pPr>
                        <a:defRPr sz="2000" b="0">
                          <a:solidFill>
                            <a:srgbClr val="172B49"/>
                          </a:solidFill>
                          <a:latin typeface="Arial"/>
                        </a:defRPr>
                      </a:pPr>
                      <a:r>
                        <a:t>2.8298%</a:t>
                      </a:r>
                    </a:p>
                  </a:txBody>
                  <a:tcPr marL="128016" marR="91440" marT="91440" marB="64008" anchor="ctr">
                    <a:solidFill>
                      <a:srgbClr val="FFFFFF"/>
                    </a:solidFill>
                  </a:tcPr>
                </a:tc>
              </a:tr>
              <a:tr h="579729">
                <a:tc>
                  <a:txBody>
                    <a:bodyPr/>
                    <a:lstStyle/>
                    <a:p>
                      <a:pPr>
                        <a:defRPr sz="2000" b="0">
                          <a:solidFill>
                            <a:srgbClr val="172B49"/>
                          </a:solidFill>
                          <a:latin typeface="Arial"/>
                        </a:defRPr>
                      </a:pPr>
                      <a:r>
                        <a:t>ALS</a:t>
                      </a:r>
                    </a:p>
                  </a:txBody>
                  <a:tcPr marL="128016" marR="91440" marT="91440" marB="64008" anchor="ctr">
                    <a:solidFill>
                      <a:srgbClr val="F0F4FC"/>
                    </a:solidFill>
                  </a:tcPr>
                </a:tc>
                <a:tc>
                  <a:txBody>
                    <a:bodyPr/>
                    <a:lstStyle/>
                    <a:p>
                      <a:pPr>
                        <a:defRPr sz="2000" b="0">
                          <a:solidFill>
                            <a:srgbClr val="172B49"/>
                          </a:solidFill>
                          <a:latin typeface="Arial"/>
                        </a:defRPr>
                      </a:pPr>
                      <a:r>
                        <a:t>0.1122%</a:t>
                      </a:r>
                    </a:p>
                  </a:txBody>
                  <a:tcPr marL="128016" marR="91440" marT="91440" marB="64008" anchor="ctr">
                    <a:solidFill>
                      <a:srgbClr val="F0F4FC"/>
                    </a:solidFill>
                  </a:tcPr>
                </a:tc>
                <a:tc>
                  <a:txBody>
                    <a:bodyPr/>
                    <a:lstStyle/>
                    <a:p>
                      <a:pPr>
                        <a:defRPr sz="2000" b="0">
                          <a:solidFill>
                            <a:srgbClr val="172B49"/>
                          </a:solidFill>
                          <a:latin typeface="Arial"/>
                        </a:defRPr>
                      </a:pPr>
                      <a:r>
                        <a:t>0.000347</a:t>
                      </a:r>
                    </a:p>
                  </a:txBody>
                  <a:tcPr marL="128016" marR="91440" marT="91440" marB="64008" anchor="ctr">
                    <a:solidFill>
                      <a:srgbClr val="F0F4FC"/>
                    </a:solidFill>
                  </a:tcPr>
                </a:tc>
                <a:tc>
                  <a:txBody>
                    <a:bodyPr/>
                    <a:lstStyle/>
                    <a:p>
                      <a:pPr>
                        <a:defRPr sz="2000" b="0">
                          <a:solidFill>
                            <a:srgbClr val="172B49"/>
                          </a:solidFill>
                          <a:latin typeface="Arial"/>
                        </a:defRPr>
                      </a:pPr>
                      <a:r>
                        <a:t>0.2272%</a:t>
                      </a:r>
                    </a:p>
                  </a:txBody>
                  <a:tcPr marL="128016" marR="91440" marT="91440" marB="64008" anchor="ctr">
                    <a:solidFill>
                      <a:srgbClr val="F0F4FC"/>
                    </a:solidFill>
                  </a:tcPr>
                </a:tc>
              </a:tr>
              <a:tr h="579732">
                <a:tc>
                  <a:txBody>
                    <a:bodyPr/>
                    <a:lstStyle/>
                    <a:p>
                      <a:pPr>
                        <a:defRPr sz="2000" b="0">
                          <a:solidFill>
                            <a:srgbClr val="172B49"/>
                          </a:solidFill>
                          <a:latin typeface="Arial"/>
                        </a:defRPr>
                      </a:pPr>
                      <a:r>
                        <a:t>Two-Tower</a:t>
                      </a:r>
                    </a:p>
                  </a:txBody>
                  <a:tcPr marL="128016" marR="91440" marT="91440" marB="64008" anchor="ctr">
                    <a:solidFill>
                      <a:srgbClr val="FFFFFF"/>
                    </a:solidFill>
                  </a:tcPr>
                </a:tc>
                <a:tc>
                  <a:txBody>
                    <a:bodyPr/>
                    <a:lstStyle/>
                    <a:p>
                      <a:pPr>
                        <a:defRPr sz="2000" b="0">
                          <a:solidFill>
                            <a:srgbClr val="172B49"/>
                          </a:solidFill>
                          <a:latin typeface="Arial"/>
                        </a:defRPr>
                      </a:pPr>
                      <a:r>
                        <a:t>0.0729%</a:t>
                      </a:r>
                    </a:p>
                  </a:txBody>
                  <a:tcPr marL="128016" marR="91440" marT="91440" marB="64008" anchor="ctr">
                    <a:solidFill>
                      <a:srgbClr val="FFFFFF"/>
                    </a:solidFill>
                  </a:tcPr>
                </a:tc>
                <a:tc>
                  <a:txBody>
                    <a:bodyPr/>
                    <a:lstStyle/>
                    <a:p>
                      <a:pPr>
                        <a:defRPr sz="2000" b="0">
                          <a:solidFill>
                            <a:srgbClr val="172B49"/>
                          </a:solidFill>
                          <a:latin typeface="Arial"/>
                        </a:defRPr>
                      </a:pPr>
                      <a:r>
                        <a:t>0.000263</a:t>
                      </a:r>
                    </a:p>
                  </a:txBody>
                  <a:tcPr marL="128016" marR="91440" marT="91440" marB="64008" anchor="ctr">
                    <a:solidFill>
                      <a:srgbClr val="FFFFFF"/>
                    </a:solidFill>
                  </a:tcPr>
                </a:tc>
                <a:tc>
                  <a:txBody>
                    <a:bodyPr/>
                    <a:lstStyle/>
                    <a:p>
                      <a:pPr>
                        <a:defRPr sz="2000" b="0">
                          <a:solidFill>
                            <a:srgbClr val="172B49"/>
                          </a:solidFill>
                          <a:latin typeface="Arial"/>
                        </a:defRPr>
                      </a:pPr>
                      <a:r>
                        <a:t>0.1725%</a:t>
                      </a:r>
                    </a:p>
                  </a:txBody>
                  <a:tcPr marL="128016" marR="91440" marT="91440" marB="64008" anchor="ctr">
                    <a:solidFill>
                      <a:srgbClr val="FFFFFF"/>
                    </a:solidFill>
                  </a:tcPr>
                </a:tc>
              </a:tr>
            </a:tbl>
          </a:graphicData>
        </a:graphic>
      </p:graphicFrame>
      <p:sp>
        <p:nvSpPr>
          <p:cNvPr id="10" name="Rounded Rectangle 9"/>
          <p:cNvSpPr/>
          <p:nvPr/>
        </p:nvSpPr>
        <p:spPr>
          <a:xfrm>
            <a:off x="740664" y="5038344"/>
            <a:ext cx="2221992" cy="329184"/>
          </a:xfrm>
          <a:prstGeom prst="roundRect">
            <a:avLst>
              <a:gd name="adj" fmla="val 9000"/>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2104" y="5102352"/>
            <a:ext cx="2039112" cy="182880"/>
          </a:xfrm>
          <a:prstGeom prst="rect">
            <a:avLst/>
          </a:prstGeom>
          <a:noFill/>
        </p:spPr>
        <p:txBody>
          <a:bodyPr wrap="square" lIns="0" rIns="0" tIns="0" bIns="0">
            <a:spAutoFit/>
          </a:bodyPr>
          <a:lstStyle/>
          <a:p>
            <a:pPr algn="l">
              <a:spcBef>
                <a:spcPts val="0"/>
              </a:spcBef>
              <a:spcAft>
                <a:spcPts val="600"/>
              </a:spcAft>
              <a:defRPr sz="1000" b="1">
                <a:solidFill>
                  <a:srgbClr val="FFFFFF"/>
                </a:solidFill>
                <a:latin typeface="Arial"/>
              </a:defRPr>
            </a:pPr>
            <a:r>
              <a:t>TEST · TARGET POSITIVE</a:t>
            </a:r>
          </a:p>
        </p:txBody>
      </p:sp>
      <p:sp>
        <p:nvSpPr>
          <p:cNvPr id="12" name="TextBox 11"/>
          <p:cNvSpPr txBox="1"/>
          <p:nvPr/>
        </p:nvSpPr>
        <p:spPr>
          <a:xfrm>
            <a:off x="3209544" y="5010912"/>
            <a:ext cx="8238744" cy="612648"/>
          </a:xfrm>
          <a:prstGeom prst="rect">
            <a:avLst/>
          </a:prstGeom>
          <a:noFill/>
        </p:spPr>
        <p:txBody>
          <a:bodyPr wrap="square" lIns="0" rIns="0" tIns="0" bIns="0">
            <a:spAutoFit/>
          </a:bodyPr>
          <a:lstStyle/>
          <a:p>
            <a:pPr algn="l">
              <a:spcBef>
                <a:spcPts val="0"/>
              </a:spcBef>
              <a:spcAft>
                <a:spcPts val="600"/>
              </a:spcAft>
              <a:defRPr sz="1800" b="0">
                <a:solidFill>
                  <a:srgbClr val="172B49"/>
                </a:solidFill>
                <a:latin typeface="Arial"/>
              </a:defRPr>
            </a:pPr>
            <a:r>
              <a:t>Khác tập user, candidate universe và coverage; chưa dùng để xếp hạng mô hình.</a:t>
            </a:r>
          </a:p>
        </p:txBody>
      </p:sp>
      <p:sp>
        <p:nvSpPr>
          <p:cNvPr id="13" name="Rounded Rectangle 12"/>
          <p:cNvSpPr/>
          <p:nvPr/>
        </p:nvSpPr>
        <p:spPr>
          <a:xfrm>
            <a:off x="566928" y="5788152"/>
            <a:ext cx="11064240" cy="484632"/>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5870448"/>
            <a:ext cx="10698480" cy="374904"/>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DCN / LightGBM có kết quả reranking riêng; GRU4Rec là sampled VAL.</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09 RESULTS</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Kết quả GRU4Rec và bài học đánh giá</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42 / 52</a:t>
            </a:r>
          </a:p>
        </p:txBody>
      </p:sp>
      <p:sp>
        <p:nvSpPr>
          <p:cNvPr id="8" name="Rectangle 7"/>
          <p:cNvSpPr/>
          <p:nvPr/>
        </p:nvSpPr>
        <p:spPr>
          <a:xfrm>
            <a:off x="566928" y="6391656"/>
            <a:ext cx="8936501"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s37_gru_sampled_recall.png"/>
          <p:cNvPicPr>
            <a:picLocks noChangeAspect="1"/>
          </p:cNvPicPr>
          <p:nvPr/>
        </p:nvPicPr>
        <p:blipFill>
          <a:blip r:embed="rId2"/>
          <a:stretch>
            <a:fillRect/>
          </a:stretch>
        </p:blipFill>
        <p:spPr>
          <a:xfrm>
            <a:off x="640080" y="1858407"/>
            <a:ext cx="7360920" cy="3744688"/>
          </a:xfrm>
          <a:prstGeom prst="rect">
            <a:avLst/>
          </a:prstGeom>
        </p:spPr>
      </p:pic>
      <p:sp>
        <p:nvSpPr>
          <p:cNvPr id="10" name="Rounded Rectangle 9"/>
          <p:cNvSpPr/>
          <p:nvPr/>
        </p:nvSpPr>
        <p:spPr>
          <a:xfrm>
            <a:off x="8266175" y="1956816"/>
            <a:ext cx="3273552" cy="1938528"/>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67344" y="2139696"/>
            <a:ext cx="2871216" cy="621792"/>
          </a:xfrm>
          <a:prstGeom prst="rect">
            <a:avLst/>
          </a:prstGeom>
          <a:noFill/>
        </p:spPr>
        <p:txBody>
          <a:bodyPr wrap="square" lIns="0" rIns="0" tIns="0" bIns="0">
            <a:spAutoFit/>
          </a:bodyPr>
          <a:lstStyle/>
          <a:p>
            <a:pPr algn="l">
              <a:spcBef>
                <a:spcPts val="0"/>
              </a:spcBef>
              <a:spcAft>
                <a:spcPts val="600"/>
              </a:spcAft>
              <a:defRPr sz="3500" b="1">
                <a:solidFill>
                  <a:srgbClr val="244BFF"/>
                </a:solidFill>
                <a:latin typeface="Arial"/>
              </a:defRPr>
            </a:pPr>
            <a:r>
              <a:t>15,69%</a:t>
            </a:r>
          </a:p>
        </p:txBody>
      </p:sp>
      <p:sp>
        <p:nvSpPr>
          <p:cNvPr id="12" name="TextBox 11"/>
          <p:cNvSpPr txBox="1"/>
          <p:nvPr/>
        </p:nvSpPr>
        <p:spPr>
          <a:xfrm>
            <a:off x="8467344" y="2816352"/>
            <a:ext cx="2871216" cy="530352"/>
          </a:xfrm>
          <a:prstGeom prst="rect">
            <a:avLst/>
          </a:prstGeom>
          <a:noFill/>
        </p:spPr>
        <p:txBody>
          <a:bodyPr wrap="square" lIns="0" rIns="0" tIns="0" bIns="0">
            <a:spAutoFit/>
          </a:bodyPr>
          <a:lstStyle/>
          <a:p>
            <a:pPr algn="l">
              <a:spcBef>
                <a:spcPts val="0"/>
              </a:spcBef>
              <a:spcAft>
                <a:spcPts val="600"/>
              </a:spcAft>
              <a:defRPr sz="1800" b="1">
                <a:solidFill>
                  <a:srgbClr val="172B49"/>
                </a:solidFill>
                <a:latin typeface="Arial"/>
              </a:defRPr>
            </a:pPr>
            <a:r>
              <a:t>Recall@20 · epoch 6</a:t>
            </a:r>
          </a:p>
        </p:txBody>
      </p:sp>
      <p:sp>
        <p:nvSpPr>
          <p:cNvPr id="13" name="TextBox 12"/>
          <p:cNvSpPr txBox="1"/>
          <p:nvPr/>
        </p:nvSpPr>
        <p:spPr>
          <a:xfrm>
            <a:off x="8385048" y="4215384"/>
            <a:ext cx="2926080" cy="1188720"/>
          </a:xfrm>
          <a:prstGeom prst="rect">
            <a:avLst/>
          </a:prstGeom>
          <a:noFill/>
        </p:spPr>
        <p:txBody>
          <a:bodyPr wrap="square" lIns="0" rIns="0" tIns="0" bIns="0">
            <a:spAutoFit/>
          </a:bodyPr>
          <a:lstStyle/>
          <a:p>
            <a:pPr algn="l">
              <a:spcBef>
                <a:spcPts val="0"/>
              </a:spcBef>
              <a:spcAft>
                <a:spcPts val="600"/>
              </a:spcAft>
              <a:defRPr sz="1800" b="0">
                <a:solidFill>
                  <a:srgbClr val="5B6B83"/>
                </a:solidFill>
                <a:latin typeface="Arial"/>
              </a:defRPr>
            </a:pPr>
            <a:r>
              <a:t>1.810 user</a:t>
            </a:r>
          </a:p>
          <a:p>
            <a:pPr algn="l">
              <a:spcBef>
                <a:spcPts val="0"/>
              </a:spcBef>
              <a:spcAft>
                <a:spcPts val="600"/>
              </a:spcAft>
              <a:defRPr sz="1800" b="0">
                <a:solidFill>
                  <a:srgbClr val="5B6B83"/>
                </a:solidFill>
                <a:latin typeface="Arial"/>
              </a:defRPr>
            </a:pPr>
            <a:r>
              <a:t>1 target + 255 negatives</a:t>
            </a:r>
          </a:p>
          <a:p>
            <a:pPr algn="l">
              <a:spcBef>
                <a:spcPts val="0"/>
              </a:spcBef>
              <a:spcAft>
                <a:spcPts val="600"/>
              </a:spcAft>
              <a:defRPr sz="1800" b="0">
                <a:solidFill>
                  <a:srgbClr val="5B6B83"/>
                </a:solidFill>
                <a:latin typeface="Arial"/>
              </a:defRPr>
            </a:pPr>
            <a:r>
              <a:t>Sampled validation</a:t>
            </a:r>
          </a:p>
        </p:txBody>
      </p:sp>
      <p:sp>
        <p:nvSpPr>
          <p:cNvPr id="14" name="Rounded Rectangle 13"/>
          <p:cNvSpPr/>
          <p:nvPr/>
        </p:nvSpPr>
        <p:spPr>
          <a:xfrm>
            <a:off x="566928" y="5824728"/>
            <a:ext cx="11064240" cy="438912"/>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49808" y="5907024"/>
            <a:ext cx="10698480" cy="329184"/>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Bước tiếp theo: thống nhất cohort/candidates và đo full-index trước khi chọn model.</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09 RESULTS</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Đọc kết quả ranker: mẫu số quyết định ý nghĩa</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43 / 52</a:t>
            </a:r>
          </a:p>
        </p:txBody>
      </p:sp>
      <p:sp>
        <p:nvSpPr>
          <p:cNvPr id="8" name="Rectangle 7"/>
          <p:cNvSpPr/>
          <p:nvPr/>
        </p:nvSpPr>
        <p:spPr>
          <a:xfrm>
            <a:off x="566928" y="6391656"/>
            <a:ext cx="9149275"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94360" y="1783080"/>
            <a:ext cx="1960473" cy="1481328"/>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920240"/>
            <a:ext cx="1686153"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01</a:t>
            </a:r>
          </a:p>
        </p:txBody>
      </p:sp>
      <p:sp>
        <p:nvSpPr>
          <p:cNvPr id="11" name="TextBox 10"/>
          <p:cNvSpPr txBox="1"/>
          <p:nvPr/>
        </p:nvSpPr>
        <p:spPr>
          <a:xfrm>
            <a:off x="749808" y="2231136"/>
            <a:ext cx="1649577" cy="475488"/>
          </a:xfrm>
          <a:prstGeom prst="rect">
            <a:avLst/>
          </a:prstGeom>
          <a:noFill/>
        </p:spPr>
        <p:txBody>
          <a:bodyPr wrap="square" lIns="0" rIns="0" tIns="0" bIns="0">
            <a:spAutoFit/>
          </a:bodyPr>
          <a:lstStyle/>
          <a:p>
            <a:pPr algn="l">
              <a:spcBef>
                <a:spcPts val="0"/>
              </a:spcBef>
              <a:spcAft>
                <a:spcPts val="600"/>
              </a:spcAft>
              <a:defRPr sz="1900" b="1">
                <a:solidFill>
                  <a:srgbClr val="172B49"/>
                </a:solidFill>
                <a:latin typeface="Arial"/>
              </a:defRPr>
            </a:pPr>
            <a:r>
              <a:t>Tất cả case</a:t>
            </a:r>
          </a:p>
        </p:txBody>
      </p:sp>
      <p:sp>
        <p:nvSpPr>
          <p:cNvPr id="12" name="TextBox 11"/>
          <p:cNvSpPr txBox="1"/>
          <p:nvPr/>
        </p:nvSpPr>
        <p:spPr>
          <a:xfrm>
            <a:off x="749808" y="2734056"/>
            <a:ext cx="1649577" cy="475488"/>
          </a:xfrm>
          <a:prstGeom prst="rect">
            <a:avLst/>
          </a:prstGeom>
          <a:noFill/>
        </p:spPr>
        <p:txBody>
          <a:bodyPr wrap="square" lIns="0" rIns="0" tIns="0" bIns="0">
            <a:spAutoFit/>
          </a:bodyPr>
          <a:lstStyle/>
          <a:p>
            <a:pPr algn="l">
              <a:spcBef>
                <a:spcPts val="0"/>
              </a:spcBef>
              <a:spcAft>
                <a:spcPts val="600"/>
              </a:spcAft>
              <a:defRPr sz="1300" b="0">
                <a:solidFill>
                  <a:srgbClr val="5B6B83"/>
                </a:solidFill>
                <a:latin typeface="Arial"/>
              </a:defRPr>
            </a:pPr>
            <a:r>
              <a:t>N yêu cầu</a:t>
            </a:r>
          </a:p>
        </p:txBody>
      </p:sp>
      <p:sp>
        <p:nvSpPr>
          <p:cNvPr id="13" name="Chevron 12"/>
          <p:cNvSpPr/>
          <p:nvPr/>
        </p:nvSpPr>
        <p:spPr>
          <a:xfrm>
            <a:off x="2595981" y="2432303"/>
            <a:ext cx="210312" cy="182880"/>
          </a:xfrm>
          <a:prstGeom prst="chevron">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847441" y="1783080"/>
            <a:ext cx="1960473" cy="1481328"/>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02889" y="1920240"/>
            <a:ext cx="1686153"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02</a:t>
            </a:r>
          </a:p>
        </p:txBody>
      </p:sp>
      <p:sp>
        <p:nvSpPr>
          <p:cNvPr id="16" name="TextBox 15"/>
          <p:cNvSpPr txBox="1"/>
          <p:nvPr/>
        </p:nvSpPr>
        <p:spPr>
          <a:xfrm>
            <a:off x="3002889" y="2231136"/>
            <a:ext cx="1649577" cy="475488"/>
          </a:xfrm>
          <a:prstGeom prst="rect">
            <a:avLst/>
          </a:prstGeom>
          <a:noFill/>
        </p:spPr>
        <p:txBody>
          <a:bodyPr wrap="square" lIns="0" rIns="0" tIns="0" bIns="0">
            <a:spAutoFit/>
          </a:bodyPr>
          <a:lstStyle/>
          <a:p>
            <a:pPr algn="l">
              <a:spcBef>
                <a:spcPts val="0"/>
              </a:spcBef>
              <a:spcAft>
                <a:spcPts val="600"/>
              </a:spcAft>
              <a:defRPr sz="1900" b="1">
                <a:solidFill>
                  <a:srgbClr val="172B49"/>
                </a:solidFill>
                <a:latin typeface="Arial"/>
              </a:defRPr>
            </a:pPr>
            <a:r>
              <a:t>Truy hồi đúng</a:t>
            </a:r>
          </a:p>
        </p:txBody>
      </p:sp>
      <p:sp>
        <p:nvSpPr>
          <p:cNvPr id="17" name="TextBox 16"/>
          <p:cNvSpPr txBox="1"/>
          <p:nvPr/>
        </p:nvSpPr>
        <p:spPr>
          <a:xfrm>
            <a:off x="3002889" y="2734056"/>
            <a:ext cx="1649577" cy="475488"/>
          </a:xfrm>
          <a:prstGeom prst="rect">
            <a:avLst/>
          </a:prstGeom>
          <a:noFill/>
        </p:spPr>
        <p:txBody>
          <a:bodyPr wrap="square" lIns="0" rIns="0" tIns="0" bIns="0">
            <a:spAutoFit/>
          </a:bodyPr>
          <a:lstStyle/>
          <a:p>
            <a:pPr algn="l">
              <a:spcBef>
                <a:spcPts val="0"/>
              </a:spcBef>
              <a:spcAft>
                <a:spcPts val="600"/>
              </a:spcAft>
              <a:defRPr sz="1300" b="0">
                <a:solidFill>
                  <a:srgbClr val="5B6B83"/>
                </a:solidFill>
                <a:latin typeface="Arial"/>
              </a:defRPr>
            </a:pPr>
            <a:r>
              <a:t>M case có target</a:t>
            </a:r>
          </a:p>
        </p:txBody>
      </p:sp>
      <p:sp>
        <p:nvSpPr>
          <p:cNvPr id="18" name="Chevron 17"/>
          <p:cNvSpPr/>
          <p:nvPr/>
        </p:nvSpPr>
        <p:spPr>
          <a:xfrm>
            <a:off x="4849063" y="2432303"/>
            <a:ext cx="210312" cy="182880"/>
          </a:xfrm>
          <a:prstGeom prst="chevron">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00523" y="1783080"/>
            <a:ext cx="1960473" cy="1481328"/>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55971" y="1920240"/>
            <a:ext cx="1686153"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03</a:t>
            </a:r>
          </a:p>
        </p:txBody>
      </p:sp>
      <p:sp>
        <p:nvSpPr>
          <p:cNvPr id="21" name="TextBox 20"/>
          <p:cNvSpPr txBox="1"/>
          <p:nvPr/>
        </p:nvSpPr>
        <p:spPr>
          <a:xfrm>
            <a:off x="5255971" y="2231136"/>
            <a:ext cx="1649577" cy="475488"/>
          </a:xfrm>
          <a:prstGeom prst="rect">
            <a:avLst/>
          </a:prstGeom>
          <a:noFill/>
        </p:spPr>
        <p:txBody>
          <a:bodyPr wrap="square" lIns="0" rIns="0" tIns="0" bIns="0">
            <a:spAutoFit/>
          </a:bodyPr>
          <a:lstStyle/>
          <a:p>
            <a:pPr algn="l">
              <a:spcBef>
                <a:spcPts val="0"/>
              </a:spcBef>
              <a:spcAft>
                <a:spcPts val="600"/>
              </a:spcAft>
              <a:defRPr sz="1900" b="1">
                <a:solidFill>
                  <a:srgbClr val="172B49"/>
                </a:solidFill>
                <a:latin typeface="Arial"/>
              </a:defRPr>
            </a:pPr>
            <a:r>
              <a:t>Ranker Top-K</a:t>
            </a:r>
          </a:p>
        </p:txBody>
      </p:sp>
      <p:sp>
        <p:nvSpPr>
          <p:cNvPr id="22" name="TextBox 21"/>
          <p:cNvSpPr txBox="1"/>
          <p:nvPr/>
        </p:nvSpPr>
        <p:spPr>
          <a:xfrm>
            <a:off x="5255971" y="2734056"/>
            <a:ext cx="1649577" cy="475488"/>
          </a:xfrm>
          <a:prstGeom prst="rect">
            <a:avLst/>
          </a:prstGeom>
          <a:noFill/>
        </p:spPr>
        <p:txBody>
          <a:bodyPr wrap="square" lIns="0" rIns="0" tIns="0" bIns="0">
            <a:spAutoFit/>
          </a:bodyPr>
          <a:lstStyle/>
          <a:p>
            <a:pPr algn="l">
              <a:spcBef>
                <a:spcPts val="0"/>
              </a:spcBef>
              <a:spcAft>
                <a:spcPts val="600"/>
              </a:spcAft>
              <a:defRPr sz="1300" b="0">
                <a:solidFill>
                  <a:srgbClr val="5B6B83"/>
                </a:solidFill>
                <a:latin typeface="Arial"/>
              </a:defRPr>
            </a:pPr>
            <a:r>
              <a:t>H case hit</a:t>
            </a:r>
          </a:p>
        </p:txBody>
      </p:sp>
      <p:sp>
        <p:nvSpPr>
          <p:cNvPr id="23" name="Chevron 22"/>
          <p:cNvSpPr/>
          <p:nvPr/>
        </p:nvSpPr>
        <p:spPr>
          <a:xfrm>
            <a:off x="7102144" y="2432303"/>
            <a:ext cx="210312" cy="182880"/>
          </a:xfrm>
          <a:prstGeom prst="chevron">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353604" y="1783080"/>
            <a:ext cx="1960473" cy="1481328"/>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09052" y="1920240"/>
            <a:ext cx="1686153"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04</a:t>
            </a:r>
          </a:p>
        </p:txBody>
      </p:sp>
      <p:sp>
        <p:nvSpPr>
          <p:cNvPr id="26" name="TextBox 25"/>
          <p:cNvSpPr txBox="1"/>
          <p:nvPr/>
        </p:nvSpPr>
        <p:spPr>
          <a:xfrm>
            <a:off x="7509052" y="2231136"/>
            <a:ext cx="1649577" cy="475488"/>
          </a:xfrm>
          <a:prstGeom prst="rect">
            <a:avLst/>
          </a:prstGeom>
          <a:noFill/>
        </p:spPr>
        <p:txBody>
          <a:bodyPr wrap="square" lIns="0" rIns="0" tIns="0" bIns="0">
            <a:spAutoFit/>
          </a:bodyPr>
          <a:lstStyle/>
          <a:p>
            <a:pPr algn="l">
              <a:spcBef>
                <a:spcPts val="0"/>
              </a:spcBef>
              <a:spcAft>
                <a:spcPts val="600"/>
              </a:spcAft>
              <a:defRPr sz="1900" b="1">
                <a:solidFill>
                  <a:srgbClr val="172B49"/>
                </a:solidFill>
                <a:latin typeface="Arial"/>
              </a:defRPr>
            </a:pPr>
            <a:r>
              <a:t>All-case</a:t>
            </a:r>
          </a:p>
        </p:txBody>
      </p:sp>
      <p:sp>
        <p:nvSpPr>
          <p:cNvPr id="27" name="TextBox 26"/>
          <p:cNvSpPr txBox="1"/>
          <p:nvPr/>
        </p:nvSpPr>
        <p:spPr>
          <a:xfrm>
            <a:off x="7509052" y="2734056"/>
            <a:ext cx="1649577" cy="475488"/>
          </a:xfrm>
          <a:prstGeom prst="rect">
            <a:avLst/>
          </a:prstGeom>
          <a:noFill/>
        </p:spPr>
        <p:txBody>
          <a:bodyPr wrap="square" lIns="0" rIns="0" tIns="0" bIns="0">
            <a:spAutoFit/>
          </a:bodyPr>
          <a:lstStyle/>
          <a:p>
            <a:pPr algn="l">
              <a:spcBef>
                <a:spcPts val="0"/>
              </a:spcBef>
              <a:spcAft>
                <a:spcPts val="600"/>
              </a:spcAft>
              <a:defRPr sz="1300" b="0">
                <a:solidFill>
                  <a:srgbClr val="5B6B83"/>
                </a:solidFill>
                <a:latin typeface="Arial"/>
              </a:defRPr>
            </a:pPr>
            <a:r>
              <a:t>H / N</a:t>
            </a:r>
          </a:p>
        </p:txBody>
      </p:sp>
      <p:sp>
        <p:nvSpPr>
          <p:cNvPr id="28" name="Chevron 27"/>
          <p:cNvSpPr/>
          <p:nvPr/>
        </p:nvSpPr>
        <p:spPr>
          <a:xfrm>
            <a:off x="9355226" y="2432303"/>
            <a:ext cx="210312" cy="182880"/>
          </a:xfrm>
          <a:prstGeom prst="chevron">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606686" y="1783080"/>
            <a:ext cx="1960473" cy="1481328"/>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62134" y="1920240"/>
            <a:ext cx="1686153"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05</a:t>
            </a:r>
          </a:p>
        </p:txBody>
      </p:sp>
      <p:sp>
        <p:nvSpPr>
          <p:cNvPr id="31" name="TextBox 30"/>
          <p:cNvSpPr txBox="1"/>
          <p:nvPr/>
        </p:nvSpPr>
        <p:spPr>
          <a:xfrm>
            <a:off x="9762134" y="2231136"/>
            <a:ext cx="1649577" cy="475488"/>
          </a:xfrm>
          <a:prstGeom prst="rect">
            <a:avLst/>
          </a:prstGeom>
          <a:noFill/>
        </p:spPr>
        <p:txBody>
          <a:bodyPr wrap="square" lIns="0" rIns="0" tIns="0" bIns="0">
            <a:spAutoFit/>
          </a:bodyPr>
          <a:lstStyle/>
          <a:p>
            <a:pPr algn="l">
              <a:spcBef>
                <a:spcPts val="0"/>
              </a:spcBef>
              <a:spcAft>
                <a:spcPts val="600"/>
              </a:spcAft>
              <a:defRPr sz="1900" b="1">
                <a:solidFill>
                  <a:srgbClr val="172B49"/>
                </a:solidFill>
                <a:latin typeface="Arial"/>
              </a:defRPr>
            </a:pPr>
            <a:r>
              <a:t>Conditional</a:t>
            </a:r>
          </a:p>
        </p:txBody>
      </p:sp>
      <p:sp>
        <p:nvSpPr>
          <p:cNvPr id="32" name="TextBox 31"/>
          <p:cNvSpPr txBox="1"/>
          <p:nvPr/>
        </p:nvSpPr>
        <p:spPr>
          <a:xfrm>
            <a:off x="9762134" y="2734056"/>
            <a:ext cx="1649577" cy="475488"/>
          </a:xfrm>
          <a:prstGeom prst="rect">
            <a:avLst/>
          </a:prstGeom>
          <a:noFill/>
        </p:spPr>
        <p:txBody>
          <a:bodyPr wrap="square" lIns="0" rIns="0" tIns="0" bIns="0">
            <a:spAutoFit/>
          </a:bodyPr>
          <a:lstStyle/>
          <a:p>
            <a:pPr algn="l">
              <a:spcBef>
                <a:spcPts val="0"/>
              </a:spcBef>
              <a:spcAft>
                <a:spcPts val="600"/>
              </a:spcAft>
              <a:defRPr sz="1300" b="0">
                <a:solidFill>
                  <a:srgbClr val="5B6B83"/>
                </a:solidFill>
                <a:latin typeface="Arial"/>
              </a:defRPr>
            </a:pPr>
            <a:r>
              <a:t>H / M</a:t>
            </a:r>
          </a:p>
        </p:txBody>
      </p:sp>
      <p:sp>
        <p:nvSpPr>
          <p:cNvPr id="33" name="Oval 32"/>
          <p:cNvSpPr/>
          <p:nvPr/>
        </p:nvSpPr>
        <p:spPr>
          <a:xfrm>
            <a:off x="749808" y="3712464"/>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41832" y="3611880"/>
            <a:ext cx="10506455" cy="374904"/>
          </a:xfrm>
          <a:prstGeom prst="rect">
            <a:avLst/>
          </a:prstGeom>
          <a:noFill/>
        </p:spPr>
        <p:txBody>
          <a:bodyPr wrap="square" lIns="0" rIns="0" tIns="0" bIns="0">
            <a:spAutoFit/>
          </a:bodyPr>
          <a:lstStyle/>
          <a:p>
            <a:pPr algn="l">
              <a:spcBef>
                <a:spcPts val="0"/>
              </a:spcBef>
              <a:spcAft>
                <a:spcPts val="600"/>
              </a:spcAft>
              <a:defRPr sz="1800" b="0">
                <a:solidFill>
                  <a:srgbClr val="172B49"/>
                </a:solidFill>
                <a:latin typeface="Arial"/>
              </a:defRPr>
            </a:pPr>
            <a:r>
              <a:t>Candidate recall: tỷ lệ yêu cầu tìm được target trong tập ứng viên.</a:t>
            </a:r>
          </a:p>
        </p:txBody>
      </p:sp>
      <p:sp>
        <p:nvSpPr>
          <p:cNvPr id="35" name="Oval 34"/>
          <p:cNvSpPr/>
          <p:nvPr/>
        </p:nvSpPr>
        <p:spPr>
          <a:xfrm>
            <a:off x="749808" y="4169664"/>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41832" y="4069080"/>
            <a:ext cx="10506455" cy="374904"/>
          </a:xfrm>
          <a:prstGeom prst="rect">
            <a:avLst/>
          </a:prstGeom>
          <a:noFill/>
        </p:spPr>
        <p:txBody>
          <a:bodyPr wrap="square" lIns="0" rIns="0" tIns="0" bIns="0">
            <a:spAutoFit/>
          </a:bodyPr>
          <a:lstStyle/>
          <a:p>
            <a:pPr algn="l">
              <a:spcBef>
                <a:spcPts val="0"/>
              </a:spcBef>
              <a:spcAft>
                <a:spcPts val="600"/>
              </a:spcAft>
              <a:defRPr sz="1800" b="0">
                <a:solidFill>
                  <a:srgbClr val="172B49"/>
                </a:solidFill>
                <a:latin typeface="Arial"/>
              </a:defRPr>
            </a:pPr>
            <a:r>
              <a:t>Conditional Recall/NDCG: chỉ tính yêu cầu có target trong ứng viên.</a:t>
            </a:r>
          </a:p>
        </p:txBody>
      </p:sp>
      <p:sp>
        <p:nvSpPr>
          <p:cNvPr id="37" name="Oval 36"/>
          <p:cNvSpPr/>
          <p:nvPr/>
        </p:nvSpPr>
        <p:spPr>
          <a:xfrm>
            <a:off x="749808" y="4626864"/>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1832" y="4526280"/>
            <a:ext cx="10506455" cy="374904"/>
          </a:xfrm>
          <a:prstGeom prst="rect">
            <a:avLst/>
          </a:prstGeom>
          <a:noFill/>
        </p:spPr>
        <p:txBody>
          <a:bodyPr wrap="square" lIns="0" rIns="0" tIns="0" bIns="0">
            <a:spAutoFit/>
          </a:bodyPr>
          <a:lstStyle/>
          <a:p>
            <a:pPr algn="l">
              <a:spcBef>
                <a:spcPts val="0"/>
              </a:spcBef>
              <a:spcAft>
                <a:spcPts val="600"/>
              </a:spcAft>
              <a:defRPr sz="1800" b="0">
                <a:solidFill>
                  <a:srgbClr val="172B49"/>
                </a:solidFill>
                <a:latin typeface="Arial"/>
              </a:defRPr>
            </a:pPr>
            <a:r>
              <a:t>All-case Recall/NDCG: tính mọi yêu cầu; không có target nhận điểm 0.</a:t>
            </a:r>
          </a:p>
        </p:txBody>
      </p:sp>
      <p:sp>
        <p:nvSpPr>
          <p:cNvPr id="39" name="Oval 38"/>
          <p:cNvSpPr/>
          <p:nvPr/>
        </p:nvSpPr>
        <p:spPr>
          <a:xfrm>
            <a:off x="749808" y="5084064"/>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41832" y="4983480"/>
            <a:ext cx="10506455" cy="374904"/>
          </a:xfrm>
          <a:prstGeom prst="rect">
            <a:avLst/>
          </a:prstGeom>
          <a:noFill/>
        </p:spPr>
        <p:txBody>
          <a:bodyPr wrap="square" lIns="0" rIns="0" tIns="0" bIns="0">
            <a:spAutoFit/>
          </a:bodyPr>
          <a:lstStyle/>
          <a:p>
            <a:pPr algn="l">
              <a:spcBef>
                <a:spcPts val="0"/>
              </a:spcBef>
              <a:spcAft>
                <a:spcPts val="600"/>
              </a:spcAft>
              <a:defRPr sz="1800" b="0">
                <a:solidFill>
                  <a:srgbClr val="172B49"/>
                </a:solidFill>
                <a:latin typeface="Arial"/>
              </a:defRPr>
            </a:pPr>
            <a:r>
              <a:t>DCN đang báo conditional; LightGBM summary mới có cả hai cách tính.</a:t>
            </a:r>
          </a:p>
        </p:txBody>
      </p:sp>
      <p:sp>
        <p:nvSpPr>
          <p:cNvPr id="41" name="Rounded Rectangle 40"/>
          <p:cNvSpPr/>
          <p:nvPr/>
        </p:nvSpPr>
        <p:spPr>
          <a:xfrm>
            <a:off x="566928" y="5852160"/>
            <a:ext cx="11064240" cy="384048"/>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49808" y="5934456"/>
            <a:ext cx="10698480" cy="274320"/>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Candidate recall = M/N     •     All-case Recall@K = Candidate recall × Conditional Recall@K</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09 RESULTS</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DCN: kết quả TEST trên candidate pool đã lưu</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44 / 52</a:t>
            </a:r>
          </a:p>
        </p:txBody>
      </p:sp>
      <p:sp>
        <p:nvSpPr>
          <p:cNvPr id="8" name="Rectangle 7"/>
          <p:cNvSpPr/>
          <p:nvPr/>
        </p:nvSpPr>
        <p:spPr>
          <a:xfrm>
            <a:off x="566928" y="6391656"/>
            <a:ext cx="9362049"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Table 8"/>
          <p:cNvGraphicFramePr>
            <a:graphicFrameLocks noGrp="1"/>
          </p:cNvGraphicFramePr>
          <p:nvPr/>
        </p:nvGraphicFramePr>
        <p:xfrm>
          <a:off x="658368" y="1737360"/>
          <a:ext cx="10881360" cy="2423160"/>
        </p:xfrm>
        <a:graphic>
          <a:graphicData uri="http://schemas.openxmlformats.org/drawingml/2006/table">
            <a:tbl>
              <a:tblPr firstRow="1" bandRow="1">
                <a:tableStyleId>{5C22544A-7EE6-4342-B048-85BDC9FD1C3A}</a:tableStyleId>
              </a:tblPr>
              <a:tblGrid>
                <a:gridCol w="3627120"/>
                <a:gridCol w="3627120"/>
                <a:gridCol w="3627120"/>
              </a:tblGrid>
              <a:tr h="484632">
                <a:tc>
                  <a:txBody>
                    <a:bodyPr/>
                    <a:lstStyle/>
                    <a:p>
                      <a:pPr>
                        <a:defRPr sz="1700" b="1">
                          <a:solidFill>
                            <a:srgbClr val="FFFFFF"/>
                          </a:solidFill>
                          <a:latin typeface="Arial"/>
                        </a:defRPr>
                      </a:pPr>
                      <a:r>
                        <a:t>K</a:t>
                      </a:r>
                    </a:p>
                  </a:txBody>
                  <a:tcPr marL="128016" marR="91440" marT="91440" marB="64008" anchor="ctr">
                    <a:solidFill>
                      <a:srgbClr val="244BFF"/>
                    </a:solidFill>
                  </a:tcPr>
                </a:tc>
                <a:tc>
                  <a:txBody>
                    <a:bodyPr/>
                    <a:lstStyle/>
                    <a:p>
                      <a:pPr>
                        <a:defRPr sz="1700" b="1">
                          <a:solidFill>
                            <a:srgbClr val="FFFFFF"/>
                          </a:solidFill>
                          <a:latin typeface="Arial"/>
                        </a:defRPr>
                      </a:pPr>
                      <a:r>
                        <a:t>Conditional Recall@K</a:t>
                      </a:r>
                    </a:p>
                  </a:txBody>
                  <a:tcPr marL="128016" marR="91440" marT="91440" marB="64008" anchor="ctr">
                    <a:solidFill>
                      <a:srgbClr val="244BFF"/>
                    </a:solidFill>
                  </a:tcPr>
                </a:tc>
                <a:tc>
                  <a:txBody>
                    <a:bodyPr/>
                    <a:lstStyle/>
                    <a:p>
                      <a:pPr>
                        <a:defRPr sz="1700" b="1">
                          <a:solidFill>
                            <a:srgbClr val="FFFFFF"/>
                          </a:solidFill>
                          <a:latin typeface="Arial"/>
                        </a:defRPr>
                      </a:pPr>
                      <a:r>
                        <a:t>Conditional NDCG@K</a:t>
                      </a:r>
                    </a:p>
                  </a:txBody>
                  <a:tcPr marL="128016" marR="91440" marT="91440" marB="64008" anchor="ctr">
                    <a:solidFill>
                      <a:srgbClr val="244BFF"/>
                    </a:solidFill>
                  </a:tcPr>
                </a:tc>
              </a:tr>
              <a:tr h="484632">
                <a:tc>
                  <a:txBody>
                    <a:bodyPr/>
                    <a:lstStyle/>
                    <a:p>
                      <a:pPr>
                        <a:defRPr sz="1700" b="0">
                          <a:solidFill>
                            <a:srgbClr val="172B49"/>
                          </a:solidFill>
                          <a:latin typeface="Arial"/>
                        </a:defRPr>
                      </a:pPr>
                      <a:r>
                        <a:t>10</a:t>
                      </a:r>
                    </a:p>
                  </a:txBody>
                  <a:tcPr marL="128016" marR="91440" marT="91440" marB="64008" anchor="ctr">
                    <a:solidFill>
                      <a:srgbClr val="F0F4FC"/>
                    </a:solidFill>
                  </a:tcPr>
                </a:tc>
                <a:tc>
                  <a:txBody>
                    <a:bodyPr/>
                    <a:lstStyle/>
                    <a:p>
                      <a:pPr>
                        <a:defRPr sz="1700" b="0">
                          <a:solidFill>
                            <a:srgbClr val="172B49"/>
                          </a:solidFill>
                          <a:latin typeface="Arial"/>
                        </a:defRPr>
                      </a:pPr>
                      <a:r>
                        <a:t>1,83%</a:t>
                      </a:r>
                    </a:p>
                  </a:txBody>
                  <a:tcPr marL="128016" marR="91440" marT="91440" marB="64008" anchor="ctr">
                    <a:solidFill>
                      <a:srgbClr val="F0F4FC"/>
                    </a:solidFill>
                  </a:tcPr>
                </a:tc>
                <a:tc>
                  <a:txBody>
                    <a:bodyPr/>
                    <a:lstStyle/>
                    <a:p>
                      <a:pPr>
                        <a:defRPr sz="1700" b="0">
                          <a:solidFill>
                            <a:srgbClr val="172B49"/>
                          </a:solidFill>
                          <a:latin typeface="Arial"/>
                        </a:defRPr>
                      </a:pPr>
                      <a:r>
                        <a:t>0,007878</a:t>
                      </a:r>
                    </a:p>
                  </a:txBody>
                  <a:tcPr marL="128016" marR="91440" marT="91440" marB="64008" anchor="ctr">
                    <a:solidFill>
                      <a:srgbClr val="F0F4FC"/>
                    </a:solidFill>
                  </a:tcPr>
                </a:tc>
              </a:tr>
              <a:tr h="484632">
                <a:tc>
                  <a:txBody>
                    <a:bodyPr/>
                    <a:lstStyle/>
                    <a:p>
                      <a:pPr>
                        <a:defRPr sz="1700" b="0">
                          <a:solidFill>
                            <a:srgbClr val="172B49"/>
                          </a:solidFill>
                          <a:latin typeface="Arial"/>
                        </a:defRPr>
                      </a:pPr>
                      <a:r>
                        <a:t>20</a:t>
                      </a:r>
                    </a:p>
                  </a:txBody>
                  <a:tcPr marL="128016" marR="91440" marT="91440" marB="64008" anchor="ctr">
                    <a:solidFill>
                      <a:srgbClr val="FFFFFF"/>
                    </a:solidFill>
                  </a:tcPr>
                </a:tc>
                <a:tc>
                  <a:txBody>
                    <a:bodyPr/>
                    <a:lstStyle/>
                    <a:p>
                      <a:pPr>
                        <a:defRPr sz="1700" b="0">
                          <a:solidFill>
                            <a:srgbClr val="172B49"/>
                          </a:solidFill>
                          <a:latin typeface="Arial"/>
                        </a:defRPr>
                      </a:pPr>
                      <a:r>
                        <a:t>3,66%</a:t>
                      </a:r>
                    </a:p>
                  </a:txBody>
                  <a:tcPr marL="128016" marR="91440" marT="91440" marB="64008" anchor="ctr">
                    <a:solidFill>
                      <a:srgbClr val="FFFFFF"/>
                    </a:solidFill>
                  </a:tcPr>
                </a:tc>
                <a:tc>
                  <a:txBody>
                    <a:bodyPr/>
                    <a:lstStyle/>
                    <a:p>
                      <a:pPr>
                        <a:defRPr sz="1700" b="0">
                          <a:solidFill>
                            <a:srgbClr val="172B49"/>
                          </a:solidFill>
                          <a:latin typeface="Arial"/>
                        </a:defRPr>
                      </a:pPr>
                      <a:r>
                        <a:t>0,012566</a:t>
                      </a:r>
                    </a:p>
                  </a:txBody>
                  <a:tcPr marL="128016" marR="91440" marT="91440" marB="64008" anchor="ctr">
                    <a:solidFill>
                      <a:srgbClr val="FFFFFF"/>
                    </a:solidFill>
                  </a:tcPr>
                </a:tc>
              </a:tr>
              <a:tr h="484632">
                <a:tc>
                  <a:txBody>
                    <a:bodyPr/>
                    <a:lstStyle/>
                    <a:p>
                      <a:pPr>
                        <a:defRPr sz="1700" b="0">
                          <a:solidFill>
                            <a:srgbClr val="172B49"/>
                          </a:solidFill>
                          <a:latin typeface="Arial"/>
                        </a:defRPr>
                      </a:pPr>
                      <a:r>
                        <a:t>50</a:t>
                      </a:r>
                    </a:p>
                  </a:txBody>
                  <a:tcPr marL="128016" marR="91440" marT="91440" marB="64008" anchor="ctr">
                    <a:solidFill>
                      <a:srgbClr val="F0F4FC"/>
                    </a:solidFill>
                  </a:tcPr>
                </a:tc>
                <a:tc>
                  <a:txBody>
                    <a:bodyPr/>
                    <a:lstStyle/>
                    <a:p>
                      <a:pPr>
                        <a:defRPr sz="1700" b="0">
                          <a:solidFill>
                            <a:srgbClr val="172B49"/>
                          </a:solidFill>
                          <a:latin typeface="Arial"/>
                        </a:defRPr>
                      </a:pPr>
                      <a:r>
                        <a:t>5,49%</a:t>
                      </a:r>
                    </a:p>
                  </a:txBody>
                  <a:tcPr marL="128016" marR="91440" marT="91440" marB="64008" anchor="ctr">
                    <a:solidFill>
                      <a:srgbClr val="F0F4FC"/>
                    </a:solidFill>
                  </a:tcPr>
                </a:tc>
                <a:tc>
                  <a:txBody>
                    <a:bodyPr/>
                    <a:lstStyle/>
                    <a:p>
                      <a:pPr>
                        <a:defRPr sz="1700" b="0">
                          <a:solidFill>
                            <a:srgbClr val="172B49"/>
                          </a:solidFill>
                          <a:latin typeface="Arial"/>
                        </a:defRPr>
                      </a:pPr>
                      <a:r>
                        <a:t>0,015918</a:t>
                      </a:r>
                    </a:p>
                  </a:txBody>
                  <a:tcPr marL="128016" marR="91440" marT="91440" marB="64008" anchor="ctr">
                    <a:solidFill>
                      <a:srgbClr val="F0F4FC"/>
                    </a:solidFill>
                  </a:tcPr>
                </a:tc>
              </a:tr>
              <a:tr h="484632">
                <a:tc>
                  <a:txBody>
                    <a:bodyPr/>
                    <a:lstStyle/>
                    <a:p>
                      <a:pPr>
                        <a:defRPr sz="1700" b="0">
                          <a:solidFill>
                            <a:srgbClr val="172B49"/>
                          </a:solidFill>
                          <a:latin typeface="Arial"/>
                        </a:defRPr>
                      </a:pPr>
                      <a:r>
                        <a:t>100</a:t>
                      </a:r>
                    </a:p>
                  </a:txBody>
                  <a:tcPr marL="128016" marR="91440" marT="91440" marB="64008" anchor="ctr">
                    <a:solidFill>
                      <a:srgbClr val="FFFFFF"/>
                    </a:solidFill>
                  </a:tcPr>
                </a:tc>
                <a:tc>
                  <a:txBody>
                    <a:bodyPr/>
                    <a:lstStyle/>
                    <a:p>
                      <a:pPr>
                        <a:defRPr sz="1700" b="0">
                          <a:solidFill>
                            <a:srgbClr val="172B49"/>
                          </a:solidFill>
                          <a:latin typeface="Arial"/>
                        </a:defRPr>
                      </a:pPr>
                      <a:r>
                        <a:t>13,41%</a:t>
                      </a:r>
                    </a:p>
                  </a:txBody>
                  <a:tcPr marL="128016" marR="91440" marT="91440" marB="64008" anchor="ctr">
                    <a:solidFill>
                      <a:srgbClr val="FFFFFF"/>
                    </a:solidFill>
                  </a:tcPr>
                </a:tc>
                <a:tc>
                  <a:txBody>
                    <a:bodyPr/>
                    <a:lstStyle/>
                    <a:p>
                      <a:pPr>
                        <a:defRPr sz="1700" b="0">
                          <a:solidFill>
                            <a:srgbClr val="172B49"/>
                          </a:solidFill>
                          <a:latin typeface="Arial"/>
                        </a:defRPr>
                      </a:pPr>
                      <a:r>
                        <a:t>0,028571</a:t>
                      </a:r>
                    </a:p>
                  </a:txBody>
                  <a:tcPr marL="128016" marR="91440" marT="91440" marB="64008" anchor="ctr">
                    <a:solidFill>
                      <a:srgbClr val="FFFFFF"/>
                    </a:solidFill>
                  </a:tcPr>
                </a:tc>
              </a:tr>
            </a:tbl>
          </a:graphicData>
        </a:graphic>
      </p:graphicFrame>
      <p:sp>
        <p:nvSpPr>
          <p:cNvPr id="10" name="Oval 9"/>
          <p:cNvSpPr/>
          <p:nvPr/>
        </p:nvSpPr>
        <p:spPr>
          <a:xfrm>
            <a:off x="768096" y="4489704"/>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4389120"/>
            <a:ext cx="10460736" cy="301751"/>
          </a:xfrm>
          <a:prstGeom prst="rect">
            <a:avLst/>
          </a:prstGeom>
          <a:noFill/>
        </p:spPr>
        <p:txBody>
          <a:bodyPr wrap="square" lIns="0" rIns="0" tIns="0" bIns="0">
            <a:spAutoFit/>
          </a:bodyPr>
          <a:lstStyle/>
          <a:p>
            <a:pPr algn="l">
              <a:spcBef>
                <a:spcPts val="0"/>
              </a:spcBef>
              <a:spcAft>
                <a:spcPts val="600"/>
              </a:spcAft>
              <a:defRPr sz="1700" b="0">
                <a:solidFill>
                  <a:srgbClr val="172B49"/>
                </a:solidFill>
                <a:latin typeface="Arial"/>
              </a:defRPr>
            </a:pPr>
            <a:r>
              <a:t>Candidate recall của lượt DCN: 3,38%.</a:t>
            </a:r>
          </a:p>
        </p:txBody>
      </p:sp>
      <p:sp>
        <p:nvSpPr>
          <p:cNvPr id="12" name="Oval 11"/>
          <p:cNvSpPr/>
          <p:nvPr/>
        </p:nvSpPr>
        <p:spPr>
          <a:xfrm>
            <a:off x="768096" y="4873752"/>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4773168"/>
            <a:ext cx="10460736" cy="301751"/>
          </a:xfrm>
          <a:prstGeom prst="rect">
            <a:avLst/>
          </a:prstGeom>
          <a:noFill/>
        </p:spPr>
        <p:txBody>
          <a:bodyPr wrap="square" lIns="0" rIns="0" tIns="0" bIns="0">
            <a:spAutoFit/>
          </a:bodyPr>
          <a:lstStyle/>
          <a:p>
            <a:pPr algn="l">
              <a:spcBef>
                <a:spcPts val="0"/>
              </a:spcBef>
              <a:spcAft>
                <a:spcPts val="600"/>
              </a:spcAft>
              <a:defRPr sz="1700" b="0">
                <a:solidFill>
                  <a:srgbClr val="172B49"/>
                </a:solidFill>
                <a:latin typeface="Arial"/>
              </a:defRPr>
            </a:pPr>
            <a:r>
              <a:t>Conditional Recall@20=3,66%; NDCG@20=0,012566.</a:t>
            </a:r>
          </a:p>
        </p:txBody>
      </p:sp>
      <p:sp>
        <p:nvSpPr>
          <p:cNvPr id="14" name="Oval 13"/>
          <p:cNvSpPr/>
          <p:nvPr/>
        </p:nvSpPr>
        <p:spPr>
          <a:xfrm>
            <a:off x="768096" y="5257800"/>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5157216"/>
            <a:ext cx="10460736" cy="301751"/>
          </a:xfrm>
          <a:prstGeom prst="rect">
            <a:avLst/>
          </a:prstGeom>
          <a:noFill/>
        </p:spPr>
        <p:txBody>
          <a:bodyPr wrap="square" lIns="0" rIns="0" tIns="0" bIns="0">
            <a:spAutoFit/>
          </a:bodyPr>
          <a:lstStyle/>
          <a:p>
            <a:pPr algn="l">
              <a:spcBef>
                <a:spcPts val="0"/>
              </a:spcBef>
              <a:spcAft>
                <a:spcPts val="600"/>
              </a:spcAft>
              <a:defRPr sz="1700" b="0">
                <a:solidFill>
                  <a:srgbClr val="172B49"/>
                </a:solidFill>
                <a:latin typeface="Arial"/>
              </a:defRPr>
            </a:pPr>
            <a:r>
              <a:t>MRR@20=0,005893; AUC=0,506953.</a:t>
            </a:r>
          </a:p>
        </p:txBody>
      </p:sp>
      <p:sp>
        <p:nvSpPr>
          <p:cNvPr id="16" name="Oval 15"/>
          <p:cNvSpPr/>
          <p:nvPr/>
        </p:nvSpPr>
        <p:spPr>
          <a:xfrm>
            <a:off x="768096" y="5641848"/>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5541264"/>
            <a:ext cx="10460736" cy="301751"/>
          </a:xfrm>
          <a:prstGeom prst="rect">
            <a:avLst/>
          </a:prstGeom>
          <a:noFill/>
        </p:spPr>
        <p:txBody>
          <a:bodyPr wrap="square" lIns="0" rIns="0" tIns="0" bIns="0">
            <a:spAutoFit/>
          </a:bodyPr>
          <a:lstStyle/>
          <a:p>
            <a:pPr algn="l">
              <a:spcBef>
                <a:spcPts val="0"/>
              </a:spcBef>
              <a:spcAft>
                <a:spcPts val="600"/>
              </a:spcAft>
              <a:defRPr sz="1700" b="0">
                <a:solidFill>
                  <a:srgbClr val="172B49"/>
                </a:solidFill>
                <a:latin typeface="Arial"/>
              </a:defRPr>
            </a:pPr>
            <a:r>
              <a:t>Đã huấn luyện và đánh giá; kết quả cho thấy cần cải thiện tập ứng viên.</a:t>
            </a:r>
          </a:p>
        </p:txBody>
      </p:sp>
      <p:sp>
        <p:nvSpPr>
          <p:cNvPr id="18" name="Rounded Rectangle 17"/>
          <p:cNvSpPr/>
          <p:nvPr/>
        </p:nvSpPr>
        <p:spPr>
          <a:xfrm>
            <a:off x="566928" y="5897880"/>
            <a:ext cx="11064240" cy="384048"/>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5980176"/>
            <a:ext cx="10698480" cy="274320"/>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Nguồn và phạm vi đánh giá được ghi đầy đủ trong speaker notes.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09 RESULTS</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Candidate recall: giới hạn trên của bước xếp hạng</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45 / 52</a:t>
            </a:r>
          </a:p>
        </p:txBody>
      </p:sp>
      <p:sp>
        <p:nvSpPr>
          <p:cNvPr id="8" name="Rectangle 7"/>
          <p:cNvSpPr/>
          <p:nvPr/>
        </p:nvSpPr>
        <p:spPr>
          <a:xfrm>
            <a:off x="566928" y="6391656"/>
            <a:ext cx="9574823"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Table 8"/>
          <p:cNvGraphicFramePr>
            <a:graphicFrameLocks noGrp="1"/>
          </p:cNvGraphicFramePr>
          <p:nvPr/>
        </p:nvGraphicFramePr>
        <p:xfrm>
          <a:off x="658368" y="1737360"/>
          <a:ext cx="10881360" cy="2423160"/>
        </p:xfrm>
        <a:graphic>
          <a:graphicData uri="http://schemas.openxmlformats.org/drawingml/2006/table">
            <a:tbl>
              <a:tblPr firstRow="1" bandRow="1">
                <a:tableStyleId>{5C22544A-7EE6-4342-B048-85BDC9FD1C3A}</a:tableStyleId>
              </a:tblPr>
              <a:tblGrid>
                <a:gridCol w="2720340"/>
                <a:gridCol w="2720340"/>
                <a:gridCol w="2720340"/>
                <a:gridCol w="2720340"/>
              </a:tblGrid>
              <a:tr h="605790">
                <a:tc>
                  <a:txBody>
                    <a:bodyPr/>
                    <a:lstStyle/>
                    <a:p>
                      <a:pPr>
                        <a:defRPr sz="1700" b="1">
                          <a:solidFill>
                            <a:srgbClr val="FFFFFF"/>
                          </a:solidFill>
                          <a:latin typeface="Arial"/>
                        </a:defRPr>
                      </a:pPr>
                      <a:r>
                        <a:t>Split</a:t>
                      </a:r>
                    </a:p>
                  </a:txBody>
                  <a:tcPr marL="128016" marR="91440" marT="91440" marB="64008" anchor="ctr">
                    <a:solidFill>
                      <a:srgbClr val="244BFF"/>
                    </a:solidFill>
                  </a:tcPr>
                </a:tc>
                <a:tc>
                  <a:txBody>
                    <a:bodyPr/>
                    <a:lstStyle/>
                    <a:p>
                      <a:pPr>
                        <a:defRPr sz="1700" b="1">
                          <a:solidFill>
                            <a:srgbClr val="FFFFFF"/>
                          </a:solidFill>
                          <a:latin typeface="Arial"/>
                        </a:defRPr>
                      </a:pPr>
                      <a:r>
                        <a:t>Tổng case</a:t>
                      </a:r>
                    </a:p>
                  </a:txBody>
                  <a:tcPr marL="128016" marR="91440" marT="91440" marB="64008" anchor="ctr">
                    <a:solidFill>
                      <a:srgbClr val="244BFF"/>
                    </a:solidFill>
                  </a:tcPr>
                </a:tc>
                <a:tc>
                  <a:txBody>
                    <a:bodyPr/>
                    <a:lstStyle/>
                    <a:p>
                      <a:pPr>
                        <a:defRPr sz="1700" b="1">
                          <a:solidFill>
                            <a:srgbClr val="FFFFFF"/>
                          </a:solidFill>
                          <a:latin typeface="Arial"/>
                        </a:defRPr>
                      </a:pPr>
                      <a:r>
                        <a:t>Case có target</a:t>
                      </a:r>
                    </a:p>
                  </a:txBody>
                  <a:tcPr marL="128016" marR="91440" marT="91440" marB="64008" anchor="ctr">
                    <a:solidFill>
                      <a:srgbClr val="244BFF"/>
                    </a:solidFill>
                  </a:tcPr>
                </a:tc>
                <a:tc>
                  <a:txBody>
                    <a:bodyPr/>
                    <a:lstStyle/>
                    <a:p>
                      <a:pPr>
                        <a:defRPr sz="1700" b="1">
                          <a:solidFill>
                            <a:srgbClr val="FFFFFF"/>
                          </a:solidFill>
                          <a:latin typeface="Arial"/>
                        </a:defRPr>
                      </a:pPr>
                      <a:r>
                        <a:t>Candidate recall</a:t>
                      </a:r>
                    </a:p>
                  </a:txBody>
                  <a:tcPr marL="128016" marR="91440" marT="91440" marB="64008" anchor="ctr">
                    <a:solidFill>
                      <a:srgbClr val="244BFF"/>
                    </a:solidFill>
                  </a:tcPr>
                </a:tc>
              </a:tr>
              <a:tr h="605790">
                <a:tc>
                  <a:txBody>
                    <a:bodyPr/>
                    <a:lstStyle/>
                    <a:p>
                      <a:pPr>
                        <a:defRPr sz="1700" b="0">
                          <a:solidFill>
                            <a:srgbClr val="172B49"/>
                          </a:solidFill>
                          <a:latin typeface="Arial"/>
                        </a:defRPr>
                      </a:pPr>
                      <a:r>
                        <a:t>TRAIN</a:t>
                      </a:r>
                    </a:p>
                  </a:txBody>
                  <a:tcPr marL="128016" marR="91440" marT="91440" marB="64008" anchor="ctr">
                    <a:solidFill>
                      <a:srgbClr val="F0F4FC"/>
                    </a:solidFill>
                  </a:tcPr>
                </a:tc>
                <a:tc>
                  <a:txBody>
                    <a:bodyPr/>
                    <a:lstStyle/>
                    <a:p>
                      <a:pPr>
                        <a:defRPr sz="1700" b="0">
                          <a:solidFill>
                            <a:srgbClr val="172B49"/>
                          </a:solidFill>
                          <a:latin typeface="Arial"/>
                        </a:defRPr>
                      </a:pPr>
                      <a:r>
                        <a:t>9,997</a:t>
                      </a:r>
                    </a:p>
                  </a:txBody>
                  <a:tcPr marL="128016" marR="91440" marT="91440" marB="64008" anchor="ctr">
                    <a:solidFill>
                      <a:srgbClr val="F0F4FC"/>
                    </a:solidFill>
                  </a:tcPr>
                </a:tc>
                <a:tc>
                  <a:txBody>
                    <a:bodyPr/>
                    <a:lstStyle/>
                    <a:p>
                      <a:pPr>
                        <a:defRPr sz="1700" b="0">
                          <a:solidFill>
                            <a:srgbClr val="172B49"/>
                          </a:solidFill>
                          <a:latin typeface="Arial"/>
                        </a:defRPr>
                      </a:pPr>
                      <a:r>
                        <a:t>3,159</a:t>
                      </a:r>
                    </a:p>
                  </a:txBody>
                  <a:tcPr marL="128016" marR="91440" marT="91440" marB="64008" anchor="ctr">
                    <a:solidFill>
                      <a:srgbClr val="F0F4FC"/>
                    </a:solidFill>
                  </a:tcPr>
                </a:tc>
                <a:tc>
                  <a:txBody>
                    <a:bodyPr/>
                    <a:lstStyle/>
                    <a:p>
                      <a:pPr>
                        <a:defRPr sz="1700" b="0">
                          <a:solidFill>
                            <a:srgbClr val="172B49"/>
                          </a:solidFill>
                          <a:latin typeface="Arial"/>
                        </a:defRPr>
                      </a:pPr>
                      <a:r>
                        <a:t>31,60%</a:t>
                      </a:r>
                    </a:p>
                  </a:txBody>
                  <a:tcPr marL="128016" marR="91440" marT="91440" marB="64008" anchor="ctr">
                    <a:solidFill>
                      <a:srgbClr val="F0F4FC"/>
                    </a:solidFill>
                  </a:tcPr>
                </a:tc>
              </a:tr>
              <a:tr h="605790">
                <a:tc>
                  <a:txBody>
                    <a:bodyPr/>
                    <a:lstStyle/>
                    <a:p>
                      <a:pPr>
                        <a:defRPr sz="1700" b="0">
                          <a:solidFill>
                            <a:srgbClr val="172B49"/>
                          </a:solidFill>
                          <a:latin typeface="Arial"/>
                        </a:defRPr>
                      </a:pPr>
                      <a:r>
                        <a:t>VAL</a:t>
                      </a:r>
                    </a:p>
                  </a:txBody>
                  <a:tcPr marL="128016" marR="91440" marT="91440" marB="64008" anchor="ctr">
                    <a:solidFill>
                      <a:srgbClr val="FFFFFF"/>
                    </a:solidFill>
                  </a:tcPr>
                </a:tc>
                <a:tc>
                  <a:txBody>
                    <a:bodyPr/>
                    <a:lstStyle/>
                    <a:p>
                      <a:pPr>
                        <a:defRPr sz="1700" b="0">
                          <a:solidFill>
                            <a:srgbClr val="172B49"/>
                          </a:solidFill>
                          <a:latin typeface="Arial"/>
                        </a:defRPr>
                      </a:pPr>
                      <a:r>
                        <a:t>2,909</a:t>
                      </a:r>
                    </a:p>
                  </a:txBody>
                  <a:tcPr marL="128016" marR="91440" marT="91440" marB="64008" anchor="ctr">
                    <a:solidFill>
                      <a:srgbClr val="FFFFFF"/>
                    </a:solidFill>
                  </a:tcPr>
                </a:tc>
                <a:tc>
                  <a:txBody>
                    <a:bodyPr/>
                    <a:lstStyle/>
                    <a:p>
                      <a:pPr>
                        <a:defRPr sz="1700" b="0">
                          <a:solidFill>
                            <a:srgbClr val="172B49"/>
                          </a:solidFill>
                          <a:latin typeface="Arial"/>
                        </a:defRPr>
                      </a:pPr>
                      <a:r>
                        <a:t>934</a:t>
                      </a:r>
                    </a:p>
                  </a:txBody>
                  <a:tcPr marL="128016" marR="91440" marT="91440" marB="64008" anchor="ctr">
                    <a:solidFill>
                      <a:srgbClr val="FFFFFF"/>
                    </a:solidFill>
                  </a:tcPr>
                </a:tc>
                <a:tc>
                  <a:txBody>
                    <a:bodyPr/>
                    <a:lstStyle/>
                    <a:p>
                      <a:pPr>
                        <a:defRPr sz="1700" b="0">
                          <a:solidFill>
                            <a:srgbClr val="172B49"/>
                          </a:solidFill>
                          <a:latin typeface="Arial"/>
                        </a:defRPr>
                      </a:pPr>
                      <a:r>
                        <a:t>32,11%</a:t>
                      </a:r>
                    </a:p>
                  </a:txBody>
                  <a:tcPr marL="128016" marR="91440" marT="91440" marB="64008" anchor="ctr">
                    <a:solidFill>
                      <a:srgbClr val="FFFFFF"/>
                    </a:solidFill>
                  </a:tcPr>
                </a:tc>
              </a:tr>
              <a:tr h="605790">
                <a:tc>
                  <a:txBody>
                    <a:bodyPr/>
                    <a:lstStyle/>
                    <a:p>
                      <a:pPr>
                        <a:defRPr sz="1700" b="0">
                          <a:solidFill>
                            <a:srgbClr val="172B49"/>
                          </a:solidFill>
                          <a:latin typeface="Arial"/>
                        </a:defRPr>
                      </a:pPr>
                      <a:r>
                        <a:t>TEST</a:t>
                      </a:r>
                    </a:p>
                  </a:txBody>
                  <a:tcPr marL="128016" marR="91440" marT="91440" marB="64008" anchor="ctr">
                    <a:solidFill>
                      <a:srgbClr val="F0F4FC"/>
                    </a:solidFill>
                  </a:tcPr>
                </a:tc>
                <a:tc>
                  <a:txBody>
                    <a:bodyPr/>
                    <a:lstStyle/>
                    <a:p>
                      <a:pPr>
                        <a:defRPr sz="1700" b="0">
                          <a:solidFill>
                            <a:srgbClr val="172B49"/>
                          </a:solidFill>
                          <a:latin typeface="Arial"/>
                        </a:defRPr>
                      </a:pPr>
                      <a:r>
                        <a:t>4,854</a:t>
                      </a:r>
                    </a:p>
                  </a:txBody>
                  <a:tcPr marL="128016" marR="91440" marT="91440" marB="64008" anchor="ctr">
                    <a:solidFill>
                      <a:srgbClr val="F0F4FC"/>
                    </a:solidFill>
                  </a:tcPr>
                </a:tc>
                <a:tc>
                  <a:txBody>
                    <a:bodyPr/>
                    <a:lstStyle/>
                    <a:p>
                      <a:pPr>
                        <a:defRPr sz="1700" b="0">
                          <a:solidFill>
                            <a:srgbClr val="172B49"/>
                          </a:solidFill>
                          <a:latin typeface="Arial"/>
                        </a:defRPr>
                      </a:pPr>
                      <a:r>
                        <a:t>1,535</a:t>
                      </a:r>
                    </a:p>
                  </a:txBody>
                  <a:tcPr marL="128016" marR="91440" marT="91440" marB="64008" anchor="ctr">
                    <a:solidFill>
                      <a:srgbClr val="F0F4FC"/>
                    </a:solidFill>
                  </a:tcPr>
                </a:tc>
                <a:tc>
                  <a:txBody>
                    <a:bodyPr/>
                    <a:lstStyle/>
                    <a:p>
                      <a:pPr>
                        <a:defRPr sz="1700" b="0">
                          <a:solidFill>
                            <a:srgbClr val="172B49"/>
                          </a:solidFill>
                          <a:latin typeface="Arial"/>
                        </a:defRPr>
                      </a:pPr>
                      <a:r>
                        <a:t>31,62%</a:t>
                      </a:r>
                    </a:p>
                  </a:txBody>
                  <a:tcPr marL="128016" marR="91440" marT="91440" marB="64008" anchor="ctr">
                    <a:solidFill>
                      <a:srgbClr val="F0F4FC"/>
                    </a:solidFill>
                  </a:tcPr>
                </a:tc>
              </a:tr>
            </a:tbl>
          </a:graphicData>
        </a:graphic>
      </p:graphicFrame>
      <p:sp>
        <p:nvSpPr>
          <p:cNvPr id="10" name="Oval 9"/>
          <p:cNvSpPr/>
          <p:nvPr/>
        </p:nvSpPr>
        <p:spPr>
          <a:xfrm>
            <a:off x="768096" y="4489704"/>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4389120"/>
            <a:ext cx="10460736" cy="301751"/>
          </a:xfrm>
          <a:prstGeom prst="rect">
            <a:avLst/>
          </a:prstGeom>
          <a:noFill/>
        </p:spPr>
        <p:txBody>
          <a:bodyPr wrap="square" lIns="0" rIns="0" tIns="0" bIns="0">
            <a:spAutoFit/>
          </a:bodyPr>
          <a:lstStyle/>
          <a:p>
            <a:pPr algn="l">
              <a:spcBef>
                <a:spcPts val="0"/>
              </a:spcBef>
              <a:spcAft>
                <a:spcPts val="600"/>
              </a:spcAft>
              <a:defRPr sz="1700" b="0">
                <a:solidFill>
                  <a:srgbClr val="172B49"/>
                </a:solidFill>
                <a:latin typeface="Arial"/>
              </a:defRPr>
            </a:pPr>
            <a:r>
              <a:t>TRAIN: 3,159/9,997 case có target (31,60%).</a:t>
            </a:r>
          </a:p>
        </p:txBody>
      </p:sp>
      <p:sp>
        <p:nvSpPr>
          <p:cNvPr id="12" name="Oval 11"/>
          <p:cNvSpPr/>
          <p:nvPr/>
        </p:nvSpPr>
        <p:spPr>
          <a:xfrm>
            <a:off x="768096" y="4873752"/>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4773168"/>
            <a:ext cx="10460736" cy="301751"/>
          </a:xfrm>
          <a:prstGeom prst="rect">
            <a:avLst/>
          </a:prstGeom>
          <a:noFill/>
        </p:spPr>
        <p:txBody>
          <a:bodyPr wrap="square" lIns="0" rIns="0" tIns="0" bIns="0">
            <a:spAutoFit/>
          </a:bodyPr>
          <a:lstStyle/>
          <a:p>
            <a:pPr algn="l">
              <a:spcBef>
                <a:spcPts val="0"/>
              </a:spcBef>
              <a:spcAft>
                <a:spcPts val="600"/>
              </a:spcAft>
              <a:defRPr sz="1700" b="0">
                <a:solidFill>
                  <a:srgbClr val="172B49"/>
                </a:solidFill>
                <a:latin typeface="Arial"/>
              </a:defRPr>
            </a:pPr>
            <a:r>
              <a:t>VAL: 934/2,909 case (32,11%).</a:t>
            </a:r>
          </a:p>
        </p:txBody>
      </p:sp>
      <p:sp>
        <p:nvSpPr>
          <p:cNvPr id="14" name="Oval 13"/>
          <p:cNvSpPr/>
          <p:nvPr/>
        </p:nvSpPr>
        <p:spPr>
          <a:xfrm>
            <a:off x="768096" y="5257800"/>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5157216"/>
            <a:ext cx="10460736" cy="301751"/>
          </a:xfrm>
          <a:prstGeom prst="rect">
            <a:avLst/>
          </a:prstGeom>
          <a:noFill/>
        </p:spPr>
        <p:txBody>
          <a:bodyPr wrap="square" lIns="0" rIns="0" tIns="0" bIns="0">
            <a:spAutoFit/>
          </a:bodyPr>
          <a:lstStyle/>
          <a:p>
            <a:pPr algn="l">
              <a:spcBef>
                <a:spcPts val="0"/>
              </a:spcBef>
              <a:spcAft>
                <a:spcPts val="600"/>
              </a:spcAft>
              <a:defRPr sz="1700" b="0">
                <a:solidFill>
                  <a:srgbClr val="172B49"/>
                </a:solidFill>
                <a:latin typeface="Arial"/>
              </a:defRPr>
            </a:pPr>
            <a:r>
              <a:t>TEST: 1,535/4,854 case (31,62%).</a:t>
            </a:r>
          </a:p>
        </p:txBody>
      </p:sp>
      <p:sp>
        <p:nvSpPr>
          <p:cNvPr id="16" name="Oval 15"/>
          <p:cNvSpPr/>
          <p:nvPr/>
        </p:nvSpPr>
        <p:spPr>
          <a:xfrm>
            <a:off x="768096" y="5641848"/>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5541264"/>
            <a:ext cx="10460736" cy="301751"/>
          </a:xfrm>
          <a:prstGeom prst="rect">
            <a:avLst/>
          </a:prstGeom>
          <a:noFill/>
        </p:spPr>
        <p:txBody>
          <a:bodyPr wrap="square" lIns="0" rIns="0" tIns="0" bIns="0">
            <a:spAutoFit/>
          </a:bodyPr>
          <a:lstStyle/>
          <a:p>
            <a:pPr algn="l">
              <a:spcBef>
                <a:spcPts val="0"/>
              </a:spcBef>
              <a:spcAft>
                <a:spcPts val="600"/>
              </a:spcAft>
              <a:defRPr sz="1700" b="0">
                <a:solidFill>
                  <a:srgbClr val="172B49"/>
                </a:solidFill>
                <a:latin typeface="Arial"/>
              </a:defRPr>
            </a:pPr>
            <a:r>
              <a:t>Dataset hiện tại dùng exclude_history; ranker không thể phục hồi target ngoài candidates.</a:t>
            </a:r>
          </a:p>
        </p:txBody>
      </p:sp>
      <p:sp>
        <p:nvSpPr>
          <p:cNvPr id="18" name="Rounded Rectangle 17"/>
          <p:cNvSpPr/>
          <p:nvPr/>
        </p:nvSpPr>
        <p:spPr>
          <a:xfrm>
            <a:off x="566928" y="5897880"/>
            <a:ext cx="11064240" cy="384048"/>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5980176"/>
            <a:ext cx="10698480" cy="274320"/>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Nguồn và phạm vi đánh giá được ghi đầy đủ trong speaker notes.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09 RESULTS</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LightGBM: so sánh cùng candidate pool TEST</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46 / 52</a:t>
            </a:r>
          </a:p>
        </p:txBody>
      </p:sp>
      <p:sp>
        <p:nvSpPr>
          <p:cNvPr id="8" name="Rectangle 7"/>
          <p:cNvSpPr/>
          <p:nvPr/>
        </p:nvSpPr>
        <p:spPr>
          <a:xfrm>
            <a:off x="566928" y="6391656"/>
            <a:ext cx="9787596"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9" name="Table 8"/>
          <p:cNvGraphicFramePr>
            <a:graphicFrameLocks noGrp="1"/>
          </p:cNvGraphicFramePr>
          <p:nvPr/>
        </p:nvGraphicFramePr>
        <p:xfrm>
          <a:off x="658368" y="1737360"/>
          <a:ext cx="10881360" cy="2423160"/>
        </p:xfrm>
        <a:graphic>
          <a:graphicData uri="http://schemas.openxmlformats.org/drawingml/2006/table">
            <a:tbl>
              <a:tblPr firstRow="1" bandRow="1">
                <a:tableStyleId>{5C22544A-7EE6-4342-B048-85BDC9FD1C3A}</a:tableStyleId>
              </a:tblPr>
              <a:tblGrid>
                <a:gridCol w="3627120"/>
                <a:gridCol w="3627120"/>
                <a:gridCol w="3627120"/>
              </a:tblGrid>
              <a:tr h="605790">
                <a:tc>
                  <a:txBody>
                    <a:bodyPr/>
                    <a:lstStyle/>
                    <a:p>
                      <a:pPr>
                        <a:defRPr sz="1700" b="1">
                          <a:solidFill>
                            <a:srgbClr val="FFFFFF"/>
                          </a:solidFill>
                          <a:latin typeface="Arial"/>
                        </a:defRPr>
                      </a:pPr>
                      <a:r>
                        <a:t>Biến thể</a:t>
                      </a:r>
                    </a:p>
                  </a:txBody>
                  <a:tcPr marL="128016" marR="91440" marT="91440" marB="64008" anchor="ctr">
                    <a:solidFill>
                      <a:srgbClr val="244BFF"/>
                    </a:solidFill>
                  </a:tcPr>
                </a:tc>
                <a:tc>
                  <a:txBody>
                    <a:bodyPr/>
                    <a:lstStyle/>
                    <a:p>
                      <a:pPr>
                        <a:defRPr sz="1700" b="1">
                          <a:solidFill>
                            <a:srgbClr val="FFFFFF"/>
                          </a:solidFill>
                          <a:latin typeface="Arial"/>
                        </a:defRPr>
                      </a:pPr>
                      <a:r>
                        <a:t>Recall@20 toàn case</a:t>
                      </a:r>
                    </a:p>
                  </a:txBody>
                  <a:tcPr marL="128016" marR="91440" marT="91440" marB="64008" anchor="ctr">
                    <a:solidFill>
                      <a:srgbClr val="244BFF"/>
                    </a:solidFill>
                  </a:tcPr>
                </a:tc>
                <a:tc>
                  <a:txBody>
                    <a:bodyPr/>
                    <a:lstStyle/>
                    <a:p>
                      <a:pPr>
                        <a:defRPr sz="1700" b="1">
                          <a:solidFill>
                            <a:srgbClr val="FFFFFF"/>
                          </a:solidFill>
                          <a:latin typeface="Arial"/>
                        </a:defRPr>
                      </a:pPr>
                      <a:r>
                        <a:t>NDCG@20 toàn case</a:t>
                      </a:r>
                    </a:p>
                  </a:txBody>
                  <a:tcPr marL="128016" marR="91440" marT="91440" marB="64008" anchor="ctr">
                    <a:solidFill>
                      <a:srgbClr val="244BFF"/>
                    </a:solidFill>
                  </a:tcPr>
                </a:tc>
              </a:tr>
              <a:tr h="605790">
                <a:tc>
                  <a:txBody>
                    <a:bodyPr/>
                    <a:lstStyle/>
                    <a:p>
                      <a:pPr>
                        <a:defRPr sz="1700" b="0">
                          <a:solidFill>
                            <a:srgbClr val="172B49"/>
                          </a:solidFill>
                          <a:latin typeface="Arial"/>
                        </a:defRPr>
                      </a:pPr>
                      <a:r>
                        <a:t>RRF baseline</a:t>
                      </a:r>
                    </a:p>
                  </a:txBody>
                  <a:tcPr marL="128016" marR="91440" marT="91440" marB="64008" anchor="ctr">
                    <a:solidFill>
                      <a:srgbClr val="F0F4FC"/>
                    </a:solidFill>
                  </a:tcPr>
                </a:tc>
                <a:tc>
                  <a:txBody>
                    <a:bodyPr/>
                    <a:lstStyle/>
                    <a:p>
                      <a:pPr>
                        <a:defRPr sz="1700" b="0">
                          <a:solidFill>
                            <a:srgbClr val="172B49"/>
                          </a:solidFill>
                          <a:latin typeface="Arial"/>
                        </a:defRPr>
                      </a:pPr>
                      <a:r>
                        <a:t>7,54%</a:t>
                      </a:r>
                    </a:p>
                  </a:txBody>
                  <a:tcPr marL="128016" marR="91440" marT="91440" marB="64008" anchor="ctr">
                    <a:solidFill>
                      <a:srgbClr val="F0F4FC"/>
                    </a:solidFill>
                  </a:tcPr>
                </a:tc>
                <a:tc>
                  <a:txBody>
                    <a:bodyPr/>
                    <a:lstStyle/>
                    <a:p>
                      <a:pPr>
                        <a:defRPr sz="1700" b="0">
                          <a:solidFill>
                            <a:srgbClr val="172B49"/>
                          </a:solidFill>
                          <a:latin typeface="Arial"/>
                        </a:defRPr>
                      </a:pPr>
                      <a:r>
                        <a:t>0,031076</a:t>
                      </a:r>
                    </a:p>
                  </a:txBody>
                  <a:tcPr marL="128016" marR="91440" marT="91440" marB="64008" anchor="ctr">
                    <a:solidFill>
                      <a:srgbClr val="F0F4FC"/>
                    </a:solidFill>
                  </a:tcPr>
                </a:tc>
              </a:tr>
              <a:tr h="605790">
                <a:tc>
                  <a:txBody>
                    <a:bodyPr/>
                    <a:lstStyle/>
                    <a:p>
                      <a:pPr>
                        <a:defRPr sz="1700" b="0">
                          <a:solidFill>
                            <a:srgbClr val="172B49"/>
                          </a:solidFill>
                          <a:latin typeface="Arial"/>
                        </a:defRPr>
                      </a:pPr>
                      <a:r>
                        <a:t>LightGBM thuần</a:t>
                      </a:r>
                    </a:p>
                  </a:txBody>
                  <a:tcPr marL="128016" marR="91440" marT="91440" marB="64008" anchor="ctr">
                    <a:solidFill>
                      <a:srgbClr val="FFFFFF"/>
                    </a:solidFill>
                  </a:tcPr>
                </a:tc>
                <a:tc>
                  <a:txBody>
                    <a:bodyPr/>
                    <a:lstStyle/>
                    <a:p>
                      <a:pPr>
                        <a:defRPr sz="1700" b="0">
                          <a:solidFill>
                            <a:srgbClr val="172B49"/>
                          </a:solidFill>
                          <a:latin typeface="Arial"/>
                        </a:defRPr>
                      </a:pPr>
                      <a:r>
                        <a:t>13,19%</a:t>
                      </a:r>
                    </a:p>
                  </a:txBody>
                  <a:tcPr marL="128016" marR="91440" marT="91440" marB="64008" anchor="ctr">
                    <a:solidFill>
                      <a:srgbClr val="FFFFFF"/>
                    </a:solidFill>
                  </a:tcPr>
                </a:tc>
                <a:tc>
                  <a:txBody>
                    <a:bodyPr/>
                    <a:lstStyle/>
                    <a:p>
                      <a:pPr>
                        <a:defRPr sz="1700" b="0">
                          <a:solidFill>
                            <a:srgbClr val="172B49"/>
                          </a:solidFill>
                          <a:latin typeface="Arial"/>
                        </a:defRPr>
                      </a:pPr>
                      <a:r>
                        <a:t>0,118196</a:t>
                      </a:r>
                    </a:p>
                  </a:txBody>
                  <a:tcPr marL="128016" marR="91440" marT="91440" marB="64008" anchor="ctr">
                    <a:solidFill>
                      <a:srgbClr val="FFFFFF"/>
                    </a:solidFill>
                  </a:tcPr>
                </a:tc>
              </a:tr>
              <a:tr h="605790">
                <a:tc>
                  <a:txBody>
                    <a:bodyPr/>
                    <a:lstStyle/>
                    <a:p>
                      <a:pPr>
                        <a:defRPr sz="1700" b="0">
                          <a:solidFill>
                            <a:srgbClr val="172B49"/>
                          </a:solidFill>
                          <a:latin typeface="Arial"/>
                        </a:defRPr>
                      </a:pPr>
                      <a:r>
                        <a:t>LightGBM + baseline</a:t>
                      </a:r>
                    </a:p>
                  </a:txBody>
                  <a:tcPr marL="128016" marR="91440" marT="91440" marB="64008" anchor="ctr">
                    <a:solidFill>
                      <a:srgbClr val="F0F4FC"/>
                    </a:solidFill>
                  </a:tcPr>
                </a:tc>
                <a:tc>
                  <a:txBody>
                    <a:bodyPr/>
                    <a:lstStyle/>
                    <a:p>
                      <a:pPr>
                        <a:defRPr sz="1700" b="0">
                          <a:solidFill>
                            <a:srgbClr val="172B49"/>
                          </a:solidFill>
                          <a:latin typeface="Arial"/>
                        </a:defRPr>
                      </a:pPr>
                      <a:r>
                        <a:t>17,10%</a:t>
                      </a:r>
                    </a:p>
                  </a:txBody>
                  <a:tcPr marL="128016" marR="91440" marT="91440" marB="64008" anchor="ctr">
                    <a:solidFill>
                      <a:srgbClr val="F0F4FC"/>
                    </a:solidFill>
                  </a:tcPr>
                </a:tc>
                <a:tc>
                  <a:txBody>
                    <a:bodyPr/>
                    <a:lstStyle/>
                    <a:p>
                      <a:pPr>
                        <a:defRPr sz="1700" b="0">
                          <a:solidFill>
                            <a:srgbClr val="172B49"/>
                          </a:solidFill>
                          <a:latin typeface="Arial"/>
                        </a:defRPr>
                      </a:pPr>
                      <a:r>
                        <a:t>0,129527</a:t>
                      </a:r>
                    </a:p>
                  </a:txBody>
                  <a:tcPr marL="128016" marR="91440" marT="91440" marB="64008" anchor="ctr">
                    <a:solidFill>
                      <a:srgbClr val="F0F4FC"/>
                    </a:solidFill>
                  </a:tcPr>
                </a:tc>
              </a:tr>
            </a:tbl>
          </a:graphicData>
        </a:graphic>
      </p:graphicFrame>
      <p:sp>
        <p:nvSpPr>
          <p:cNvPr id="10" name="Oval 9"/>
          <p:cNvSpPr/>
          <p:nvPr/>
        </p:nvSpPr>
        <p:spPr>
          <a:xfrm>
            <a:off x="768096" y="4489704"/>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4389120"/>
            <a:ext cx="10460736" cy="301751"/>
          </a:xfrm>
          <a:prstGeom prst="rect">
            <a:avLst/>
          </a:prstGeom>
          <a:noFill/>
        </p:spPr>
        <p:txBody>
          <a:bodyPr wrap="square" lIns="0" rIns="0" tIns="0" bIns="0">
            <a:spAutoFit/>
          </a:bodyPr>
          <a:lstStyle/>
          <a:p>
            <a:pPr algn="l">
              <a:spcBef>
                <a:spcPts val="0"/>
              </a:spcBef>
              <a:spcAft>
                <a:spcPts val="600"/>
              </a:spcAft>
              <a:defRPr sz="1700" b="0">
                <a:solidFill>
                  <a:srgbClr val="172B49"/>
                </a:solidFill>
                <a:latin typeface="Arial"/>
              </a:defRPr>
            </a:pPr>
            <a:r>
              <a:t>Cùng 4,854 case; không tìm được target được tính 0.</a:t>
            </a:r>
          </a:p>
        </p:txBody>
      </p:sp>
      <p:sp>
        <p:nvSpPr>
          <p:cNvPr id="12" name="Oval 11"/>
          <p:cNvSpPr/>
          <p:nvPr/>
        </p:nvSpPr>
        <p:spPr>
          <a:xfrm>
            <a:off x="768096" y="4873752"/>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4773168"/>
            <a:ext cx="10460736" cy="301751"/>
          </a:xfrm>
          <a:prstGeom prst="rect">
            <a:avLst/>
          </a:prstGeom>
          <a:noFill/>
        </p:spPr>
        <p:txBody>
          <a:bodyPr wrap="square" lIns="0" rIns="0" tIns="0" bIns="0">
            <a:spAutoFit/>
          </a:bodyPr>
          <a:lstStyle/>
          <a:p>
            <a:pPr algn="l">
              <a:spcBef>
                <a:spcPts val="0"/>
              </a:spcBef>
              <a:spcAft>
                <a:spcPts val="600"/>
              </a:spcAft>
              <a:defRPr sz="1700" b="0">
                <a:solidFill>
                  <a:srgbClr val="172B49"/>
                </a:solidFill>
                <a:latin typeface="Arial"/>
              </a:defRPr>
            </a:pPr>
            <a:r>
              <a:t>RRF: Recall@20=7,54%; NDCG@20=0,031076.</a:t>
            </a:r>
          </a:p>
        </p:txBody>
      </p:sp>
      <p:sp>
        <p:nvSpPr>
          <p:cNvPr id="14" name="Oval 13"/>
          <p:cNvSpPr/>
          <p:nvPr/>
        </p:nvSpPr>
        <p:spPr>
          <a:xfrm>
            <a:off x="768096" y="5257800"/>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5157216"/>
            <a:ext cx="10460736" cy="301751"/>
          </a:xfrm>
          <a:prstGeom prst="rect">
            <a:avLst/>
          </a:prstGeom>
          <a:noFill/>
        </p:spPr>
        <p:txBody>
          <a:bodyPr wrap="square" lIns="0" rIns="0" tIns="0" bIns="0">
            <a:spAutoFit/>
          </a:bodyPr>
          <a:lstStyle/>
          <a:p>
            <a:pPr algn="l">
              <a:spcBef>
                <a:spcPts val="0"/>
              </a:spcBef>
              <a:spcAft>
                <a:spcPts val="600"/>
              </a:spcAft>
              <a:defRPr sz="1700" b="0">
                <a:solidFill>
                  <a:srgbClr val="172B49"/>
                </a:solidFill>
                <a:latin typeface="Arial"/>
              </a:defRPr>
            </a:pPr>
            <a:r>
              <a:t>LightGBM: Recall@20=13,19%; NDCG@20=0,118196.</a:t>
            </a:r>
          </a:p>
        </p:txBody>
      </p:sp>
      <p:sp>
        <p:nvSpPr>
          <p:cNvPr id="16" name="Oval 15"/>
          <p:cNvSpPr/>
          <p:nvPr/>
        </p:nvSpPr>
        <p:spPr>
          <a:xfrm>
            <a:off x="768096" y="5641848"/>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5541264"/>
            <a:ext cx="10460736" cy="301751"/>
          </a:xfrm>
          <a:prstGeom prst="rect">
            <a:avLst/>
          </a:prstGeom>
          <a:noFill/>
        </p:spPr>
        <p:txBody>
          <a:bodyPr wrap="square" lIns="0" rIns="0" tIns="0" bIns="0">
            <a:spAutoFit/>
          </a:bodyPr>
          <a:lstStyle/>
          <a:p>
            <a:pPr algn="l">
              <a:spcBef>
                <a:spcPts val="0"/>
              </a:spcBef>
              <a:spcAft>
                <a:spcPts val="600"/>
              </a:spcAft>
              <a:defRPr sz="1700" b="0">
                <a:solidFill>
                  <a:srgbClr val="172B49"/>
                </a:solidFill>
                <a:latin typeface="Arial"/>
              </a:defRPr>
            </a:pPr>
            <a:r>
              <a:t>Blend: Recall@20=17,10%; NDCG@20=0,129527.</a:t>
            </a:r>
          </a:p>
        </p:txBody>
      </p:sp>
      <p:sp>
        <p:nvSpPr>
          <p:cNvPr id="18" name="Rounded Rectangle 17"/>
          <p:cNvSpPr/>
          <p:nvPr/>
        </p:nvSpPr>
        <p:spPr>
          <a:xfrm>
            <a:off x="566928" y="5897880"/>
            <a:ext cx="11064240" cy="384048"/>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9808" y="5980176"/>
            <a:ext cx="10698480" cy="274320"/>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Nguồn và phạm vi đánh giá được ghi đầy đủ trong speaker notes.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09 RESULTS</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Thảo luận: kết quả tốt đến từ cả hai tầng</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47 / 52</a:t>
            </a:r>
          </a:p>
        </p:txBody>
      </p:sp>
      <p:sp>
        <p:nvSpPr>
          <p:cNvPr id="8" name="Rectangle 7"/>
          <p:cNvSpPr/>
          <p:nvPr/>
        </p:nvSpPr>
        <p:spPr>
          <a:xfrm>
            <a:off x="566928" y="6391656"/>
            <a:ext cx="10000370"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85800" y="1783080"/>
            <a:ext cx="3493008" cy="1463040"/>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993392"/>
            <a:ext cx="3127248" cy="384048"/>
          </a:xfrm>
          <a:prstGeom prst="rect">
            <a:avLst/>
          </a:prstGeom>
          <a:noFill/>
        </p:spPr>
        <p:txBody>
          <a:bodyPr wrap="square" lIns="0" rIns="0" tIns="0" bIns="0">
            <a:spAutoFit/>
          </a:bodyPr>
          <a:lstStyle/>
          <a:p>
            <a:pPr algn="l">
              <a:spcBef>
                <a:spcPts val="0"/>
              </a:spcBef>
              <a:spcAft>
                <a:spcPts val="600"/>
              </a:spcAft>
              <a:defRPr sz="2500" b="1">
                <a:solidFill>
                  <a:srgbClr val="244BFF"/>
                </a:solidFill>
                <a:latin typeface="Arial"/>
              </a:defRPr>
            </a:pPr>
            <a:r>
              <a:t>Truy hồi</a:t>
            </a:r>
          </a:p>
        </p:txBody>
      </p:sp>
      <p:sp>
        <p:nvSpPr>
          <p:cNvPr id="11" name="TextBox 10"/>
          <p:cNvSpPr txBox="1"/>
          <p:nvPr/>
        </p:nvSpPr>
        <p:spPr>
          <a:xfrm>
            <a:off x="868680" y="2624328"/>
            <a:ext cx="3127248" cy="457200"/>
          </a:xfrm>
          <a:prstGeom prst="rect">
            <a:avLst/>
          </a:prstGeom>
          <a:noFill/>
        </p:spPr>
        <p:txBody>
          <a:bodyPr wrap="square" lIns="0" rIns="0" tIns="0" bIns="0">
            <a:spAutoFit/>
          </a:bodyPr>
          <a:lstStyle/>
          <a:p>
            <a:pPr algn="l">
              <a:spcBef>
                <a:spcPts val="0"/>
              </a:spcBef>
              <a:spcAft>
                <a:spcPts val="600"/>
              </a:spcAft>
              <a:defRPr sz="1700" b="0">
                <a:solidFill>
                  <a:srgbClr val="172B49"/>
                </a:solidFill>
                <a:latin typeface="Arial"/>
              </a:defRPr>
            </a:pPr>
            <a:r>
              <a:t>Coverage và cold-start</a:t>
            </a:r>
          </a:p>
        </p:txBody>
      </p:sp>
      <p:sp>
        <p:nvSpPr>
          <p:cNvPr id="12" name="Rounded Rectangle 11"/>
          <p:cNvSpPr/>
          <p:nvPr/>
        </p:nvSpPr>
        <p:spPr>
          <a:xfrm>
            <a:off x="4434840" y="1783080"/>
            <a:ext cx="3493008" cy="1463040"/>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17720" y="1993392"/>
            <a:ext cx="3127248" cy="384048"/>
          </a:xfrm>
          <a:prstGeom prst="rect">
            <a:avLst/>
          </a:prstGeom>
          <a:noFill/>
        </p:spPr>
        <p:txBody>
          <a:bodyPr wrap="square" lIns="0" rIns="0" tIns="0" bIns="0">
            <a:spAutoFit/>
          </a:bodyPr>
          <a:lstStyle/>
          <a:p>
            <a:pPr algn="l">
              <a:spcBef>
                <a:spcPts val="0"/>
              </a:spcBef>
              <a:spcAft>
                <a:spcPts val="600"/>
              </a:spcAft>
              <a:defRPr sz="2500" b="1">
                <a:solidFill>
                  <a:srgbClr val="244BFF"/>
                </a:solidFill>
                <a:latin typeface="Arial"/>
              </a:defRPr>
            </a:pPr>
            <a:r>
              <a:t>Xếp hạng</a:t>
            </a:r>
          </a:p>
        </p:txBody>
      </p:sp>
      <p:sp>
        <p:nvSpPr>
          <p:cNvPr id="14" name="TextBox 13"/>
          <p:cNvSpPr txBox="1"/>
          <p:nvPr/>
        </p:nvSpPr>
        <p:spPr>
          <a:xfrm>
            <a:off x="4617720" y="2624328"/>
            <a:ext cx="3127248" cy="457200"/>
          </a:xfrm>
          <a:prstGeom prst="rect">
            <a:avLst/>
          </a:prstGeom>
          <a:noFill/>
        </p:spPr>
        <p:txBody>
          <a:bodyPr wrap="square" lIns="0" rIns="0" tIns="0" bIns="0">
            <a:spAutoFit/>
          </a:bodyPr>
          <a:lstStyle/>
          <a:p>
            <a:pPr algn="l">
              <a:spcBef>
                <a:spcPts val="0"/>
              </a:spcBef>
              <a:spcAft>
                <a:spcPts val="600"/>
              </a:spcAft>
              <a:defRPr sz="1700" b="0">
                <a:solidFill>
                  <a:srgbClr val="172B49"/>
                </a:solidFill>
                <a:latin typeface="Arial"/>
              </a:defRPr>
            </a:pPr>
            <a:r>
              <a:t>NDCG / Recall cùng pool</a:t>
            </a:r>
          </a:p>
        </p:txBody>
      </p:sp>
      <p:sp>
        <p:nvSpPr>
          <p:cNvPr id="15" name="Rounded Rectangle 14"/>
          <p:cNvSpPr/>
          <p:nvPr/>
        </p:nvSpPr>
        <p:spPr>
          <a:xfrm>
            <a:off x="8183879" y="1783080"/>
            <a:ext cx="3493008" cy="1463040"/>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66759" y="1993392"/>
            <a:ext cx="3127248" cy="384048"/>
          </a:xfrm>
          <a:prstGeom prst="rect">
            <a:avLst/>
          </a:prstGeom>
          <a:noFill/>
        </p:spPr>
        <p:txBody>
          <a:bodyPr wrap="square" lIns="0" rIns="0" tIns="0" bIns="0">
            <a:spAutoFit/>
          </a:bodyPr>
          <a:lstStyle/>
          <a:p>
            <a:pPr algn="l">
              <a:spcBef>
                <a:spcPts val="0"/>
              </a:spcBef>
              <a:spcAft>
                <a:spcPts val="600"/>
              </a:spcAft>
              <a:defRPr sz="2500" b="1">
                <a:solidFill>
                  <a:srgbClr val="244BFF"/>
                </a:solidFill>
                <a:latin typeface="Arial"/>
              </a:defRPr>
            </a:pPr>
            <a:r>
              <a:t>Phục vụ</a:t>
            </a:r>
          </a:p>
        </p:txBody>
      </p:sp>
      <p:sp>
        <p:nvSpPr>
          <p:cNvPr id="17" name="TextBox 16"/>
          <p:cNvSpPr txBox="1"/>
          <p:nvPr/>
        </p:nvSpPr>
        <p:spPr>
          <a:xfrm>
            <a:off x="8366759" y="2624328"/>
            <a:ext cx="3127248" cy="457200"/>
          </a:xfrm>
          <a:prstGeom prst="rect">
            <a:avLst/>
          </a:prstGeom>
          <a:noFill/>
        </p:spPr>
        <p:txBody>
          <a:bodyPr wrap="square" lIns="0" rIns="0" tIns="0" bIns="0">
            <a:spAutoFit/>
          </a:bodyPr>
          <a:lstStyle/>
          <a:p>
            <a:pPr algn="l">
              <a:spcBef>
                <a:spcPts val="0"/>
              </a:spcBef>
              <a:spcAft>
                <a:spcPts val="600"/>
              </a:spcAft>
              <a:defRPr sz="1700" b="0">
                <a:solidFill>
                  <a:srgbClr val="172B49"/>
                </a:solidFill>
                <a:latin typeface="Arial"/>
              </a:defRPr>
            </a:pPr>
            <a:r>
              <a:t>Latency và phản hồi thật</a:t>
            </a:r>
          </a:p>
        </p:txBody>
      </p:sp>
      <p:sp>
        <p:nvSpPr>
          <p:cNvPr id="18" name="Oval 17"/>
          <p:cNvSpPr/>
          <p:nvPr/>
        </p:nvSpPr>
        <p:spPr>
          <a:xfrm>
            <a:off x="768096" y="3776472"/>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3675887"/>
            <a:ext cx="10460736" cy="502920"/>
          </a:xfrm>
          <a:prstGeom prst="rect">
            <a:avLst/>
          </a:prstGeom>
          <a:noFill/>
        </p:spPr>
        <p:txBody>
          <a:bodyPr wrap="square" lIns="0" rIns="0" tIns="0" bIns="0">
            <a:spAutoFit/>
          </a:bodyPr>
          <a:lstStyle/>
          <a:p>
            <a:pPr algn="l">
              <a:spcBef>
                <a:spcPts val="0"/>
              </a:spcBef>
              <a:spcAft>
                <a:spcPts val="600"/>
              </a:spcAft>
              <a:defRPr sz="2000" b="0">
                <a:solidFill>
                  <a:srgbClr val="172B49"/>
                </a:solidFill>
                <a:latin typeface="Arial"/>
              </a:defRPr>
            </a:pPr>
            <a:r>
              <a:t>Retrieval quyết định target có xuất hiện trong candidate pool hay không.</a:t>
            </a:r>
          </a:p>
        </p:txBody>
      </p:sp>
      <p:sp>
        <p:nvSpPr>
          <p:cNvPr id="20" name="Oval 19"/>
          <p:cNvSpPr/>
          <p:nvPr/>
        </p:nvSpPr>
        <p:spPr>
          <a:xfrm>
            <a:off x="768096" y="4361688"/>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 y="4261103"/>
            <a:ext cx="10460736" cy="502920"/>
          </a:xfrm>
          <a:prstGeom prst="rect">
            <a:avLst/>
          </a:prstGeom>
          <a:noFill/>
        </p:spPr>
        <p:txBody>
          <a:bodyPr wrap="square" lIns="0" rIns="0" tIns="0" bIns="0">
            <a:spAutoFit/>
          </a:bodyPr>
          <a:lstStyle/>
          <a:p>
            <a:pPr algn="l">
              <a:spcBef>
                <a:spcPts val="0"/>
              </a:spcBef>
              <a:spcAft>
                <a:spcPts val="600"/>
              </a:spcAft>
              <a:defRPr sz="2000" b="0">
                <a:solidFill>
                  <a:srgbClr val="172B49"/>
                </a:solidFill>
                <a:latin typeface="Arial"/>
              </a:defRPr>
            </a:pPr>
            <a:r>
              <a:t>Ranker dùng đặc trưng đa nguồn để đưa target lên vị trí cao hơn.</a:t>
            </a:r>
          </a:p>
        </p:txBody>
      </p:sp>
      <p:sp>
        <p:nvSpPr>
          <p:cNvPr id="22" name="Oval 21"/>
          <p:cNvSpPr/>
          <p:nvPr/>
        </p:nvSpPr>
        <p:spPr>
          <a:xfrm>
            <a:off x="768096" y="4946904"/>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60120" y="4846320"/>
            <a:ext cx="10460736" cy="502920"/>
          </a:xfrm>
          <a:prstGeom prst="rect">
            <a:avLst/>
          </a:prstGeom>
          <a:noFill/>
        </p:spPr>
        <p:txBody>
          <a:bodyPr wrap="square" lIns="0" rIns="0" tIns="0" bIns="0">
            <a:spAutoFit/>
          </a:bodyPr>
          <a:lstStyle/>
          <a:p>
            <a:pPr algn="l">
              <a:spcBef>
                <a:spcPts val="0"/>
              </a:spcBef>
              <a:spcAft>
                <a:spcPts val="600"/>
              </a:spcAft>
              <a:defRPr sz="2000" b="0">
                <a:solidFill>
                  <a:srgbClr val="172B49"/>
                </a:solidFill>
                <a:latin typeface="Arial"/>
              </a:defRPr>
            </a:pPr>
            <a:r>
              <a:t>LightGBM mới tốt hơn RRF trong cùng TEST; chưa suy ra thắng mọi mô hình.</a:t>
            </a:r>
          </a:p>
        </p:txBody>
      </p:sp>
      <p:sp>
        <p:nvSpPr>
          <p:cNvPr id="24" name="Oval 23"/>
          <p:cNvSpPr/>
          <p:nvPr/>
        </p:nvSpPr>
        <p:spPr>
          <a:xfrm>
            <a:off x="768096" y="5532120"/>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0120" y="5431536"/>
            <a:ext cx="10460736" cy="502920"/>
          </a:xfrm>
          <a:prstGeom prst="rect">
            <a:avLst/>
          </a:prstGeom>
          <a:noFill/>
        </p:spPr>
        <p:txBody>
          <a:bodyPr wrap="square" lIns="0" rIns="0" tIns="0" bIns="0">
            <a:spAutoFit/>
          </a:bodyPr>
          <a:lstStyle/>
          <a:p>
            <a:pPr algn="l">
              <a:spcBef>
                <a:spcPts val="0"/>
              </a:spcBef>
              <a:spcAft>
                <a:spcPts val="600"/>
              </a:spcAft>
              <a:defRPr sz="2000" b="0">
                <a:solidFill>
                  <a:srgbClr val="172B49"/>
                </a:solidFill>
                <a:latin typeface="Arial"/>
              </a:defRPr>
            </a:pPr>
            <a:r>
              <a:t>Cần benchmark chung, phân tích cold-start, độ trễ và kiểm thử online.</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11 CONCLUSION</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Kết luận và hướng phát triển</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48 / 52</a:t>
            </a:r>
          </a:p>
        </p:txBody>
      </p:sp>
      <p:sp>
        <p:nvSpPr>
          <p:cNvPr id="8" name="Rectangle 7"/>
          <p:cNvSpPr/>
          <p:nvPr/>
        </p:nvSpPr>
        <p:spPr>
          <a:xfrm>
            <a:off x="566928" y="6391656"/>
            <a:ext cx="10213144"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777240" y="1975103"/>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9264" y="1874519"/>
            <a:ext cx="10460736" cy="850392"/>
          </a:xfrm>
          <a:prstGeom prst="rect">
            <a:avLst/>
          </a:prstGeom>
          <a:noFill/>
        </p:spPr>
        <p:txBody>
          <a:bodyPr wrap="square" lIns="0" rIns="0" tIns="0" bIns="0">
            <a:spAutoFit/>
          </a:bodyPr>
          <a:lstStyle/>
          <a:p>
            <a:pPr algn="l">
              <a:spcBef>
                <a:spcPts val="0"/>
              </a:spcBef>
              <a:spcAft>
                <a:spcPts val="600"/>
              </a:spcAft>
              <a:defRPr sz="2200" b="0">
                <a:solidFill>
                  <a:srgbClr val="172B49"/>
                </a:solidFill>
                <a:latin typeface="Arial"/>
              </a:defRPr>
            </a:pPr>
            <a:r>
              <a:t>Đã xử lý và phân tích 174,87 triệu sự kiện, xây dựng đặc trưng và các nhóm mô hình.</a:t>
            </a:r>
          </a:p>
        </p:txBody>
      </p:sp>
      <p:sp>
        <p:nvSpPr>
          <p:cNvPr id="11" name="Oval 10"/>
          <p:cNvSpPr/>
          <p:nvPr/>
        </p:nvSpPr>
        <p:spPr>
          <a:xfrm>
            <a:off x="777240" y="2907791"/>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9264" y="2807208"/>
            <a:ext cx="10460736" cy="850392"/>
          </a:xfrm>
          <a:prstGeom prst="rect">
            <a:avLst/>
          </a:prstGeom>
          <a:noFill/>
        </p:spPr>
        <p:txBody>
          <a:bodyPr wrap="square" lIns="0" rIns="0" tIns="0" bIns="0">
            <a:spAutoFit/>
          </a:bodyPr>
          <a:lstStyle/>
          <a:p>
            <a:pPr algn="l">
              <a:spcBef>
                <a:spcPts val="0"/>
              </a:spcBef>
              <a:spcAft>
                <a:spcPts val="600"/>
              </a:spcAft>
              <a:defRPr sz="2200" b="0">
                <a:solidFill>
                  <a:srgbClr val="172B49"/>
                </a:solidFill>
                <a:latin typeface="Arial"/>
              </a:defRPr>
            </a:pPr>
            <a:r>
              <a:t>Đã có kết quả Content-Based, Co-visitation, ALS, GRU4Rec, Two-Tower, DCN và LightGBM.</a:t>
            </a:r>
          </a:p>
        </p:txBody>
      </p:sp>
      <p:sp>
        <p:nvSpPr>
          <p:cNvPr id="13" name="Oval 12"/>
          <p:cNvSpPr/>
          <p:nvPr/>
        </p:nvSpPr>
        <p:spPr>
          <a:xfrm>
            <a:off x="777240" y="3840480"/>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3739896"/>
            <a:ext cx="10460736" cy="850392"/>
          </a:xfrm>
          <a:prstGeom prst="rect">
            <a:avLst/>
          </a:prstGeom>
          <a:noFill/>
        </p:spPr>
        <p:txBody>
          <a:bodyPr wrap="square" lIns="0" rIns="0" tIns="0" bIns="0">
            <a:spAutoFit/>
          </a:bodyPr>
          <a:lstStyle/>
          <a:p>
            <a:pPr algn="l">
              <a:spcBef>
                <a:spcPts val="0"/>
              </a:spcBef>
              <a:spcAft>
                <a:spcPts val="600"/>
              </a:spcAft>
              <a:defRPr sz="2200" b="0">
                <a:solidFill>
                  <a:srgbClr val="172B49"/>
                </a:solidFill>
                <a:latin typeface="Arial"/>
              </a:defRPr>
            </a:pPr>
            <a:r>
              <a:t>LightGBM blend: TEST Recall@20=17,10%; NDCG@20=0,129527.</a:t>
            </a:r>
          </a:p>
        </p:txBody>
      </p:sp>
      <p:sp>
        <p:nvSpPr>
          <p:cNvPr id="15" name="Oval 14"/>
          <p:cNvSpPr/>
          <p:nvPr/>
        </p:nvSpPr>
        <p:spPr>
          <a:xfrm>
            <a:off x="777240" y="4773168"/>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9264" y="4672583"/>
            <a:ext cx="10460736" cy="850392"/>
          </a:xfrm>
          <a:prstGeom prst="rect">
            <a:avLst/>
          </a:prstGeom>
          <a:noFill/>
        </p:spPr>
        <p:txBody>
          <a:bodyPr wrap="square" lIns="0" rIns="0" tIns="0" bIns="0">
            <a:spAutoFit/>
          </a:bodyPr>
          <a:lstStyle/>
          <a:p>
            <a:pPr algn="l">
              <a:spcBef>
                <a:spcPts val="0"/>
              </a:spcBef>
              <a:spcAft>
                <a:spcPts val="600"/>
              </a:spcAft>
              <a:defRPr sz="2200" b="0">
                <a:solidFill>
                  <a:srgbClr val="172B49"/>
                </a:solidFill>
                <a:latin typeface="Arial"/>
              </a:defRPr>
            </a:pPr>
            <a:r>
              <a:t>Hướng tiếp theo: tăng candidate recall, thống nhất benchmark, kiểm chứng phục vụ và đánh giá online.</a:t>
            </a:r>
          </a:p>
        </p:txBody>
      </p:sp>
      <p:sp>
        <p:nvSpPr>
          <p:cNvPr id="17" name="Rounded Rectangle 16"/>
          <p:cNvSpPr/>
          <p:nvPr/>
        </p:nvSpPr>
        <p:spPr>
          <a:xfrm>
            <a:off x="566928" y="5907024"/>
            <a:ext cx="11064240" cy="347472"/>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49808" y="5989320"/>
            <a:ext cx="10698480" cy="237744"/>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Tiếp theo: pipeline phục vụ và vòng phản hồi, sau đó chuyển sang demo.</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10 WEB APPLICATION · PIPELINE</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Pipeline online: từ trang web đến danh sách gợi ý</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49 / 52</a:t>
            </a:r>
          </a:p>
        </p:txBody>
      </p:sp>
      <p:sp>
        <p:nvSpPr>
          <p:cNvPr id="8" name="Rectangle 7"/>
          <p:cNvSpPr/>
          <p:nvPr/>
        </p:nvSpPr>
        <p:spPr>
          <a:xfrm>
            <a:off x="566928" y="6391656"/>
            <a:ext cx="10425918"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94360" y="1783080"/>
            <a:ext cx="2523744" cy="1499616"/>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920240"/>
            <a:ext cx="2249424"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01</a:t>
            </a:r>
          </a:p>
        </p:txBody>
      </p:sp>
      <p:sp>
        <p:nvSpPr>
          <p:cNvPr id="11" name="TextBox 10"/>
          <p:cNvSpPr txBox="1"/>
          <p:nvPr/>
        </p:nvSpPr>
        <p:spPr>
          <a:xfrm>
            <a:off x="749808" y="2231136"/>
            <a:ext cx="2212848" cy="475488"/>
          </a:xfrm>
          <a:prstGeom prst="rect">
            <a:avLst/>
          </a:prstGeom>
          <a:noFill/>
        </p:spPr>
        <p:txBody>
          <a:bodyPr wrap="square" lIns="0" rIns="0" tIns="0" bIns="0">
            <a:spAutoFit/>
          </a:bodyPr>
          <a:lstStyle/>
          <a:p>
            <a:pPr algn="l">
              <a:spcBef>
                <a:spcPts val="0"/>
              </a:spcBef>
              <a:spcAft>
                <a:spcPts val="600"/>
              </a:spcAft>
              <a:defRPr sz="1900" b="1">
                <a:solidFill>
                  <a:srgbClr val="172B49"/>
                </a:solidFill>
                <a:latin typeface="Arial"/>
              </a:defRPr>
            </a:pPr>
            <a:r>
              <a:t>Trang web</a:t>
            </a:r>
          </a:p>
        </p:txBody>
      </p:sp>
      <p:sp>
        <p:nvSpPr>
          <p:cNvPr id="12" name="TextBox 11"/>
          <p:cNvSpPr txBox="1"/>
          <p:nvPr/>
        </p:nvSpPr>
        <p:spPr>
          <a:xfrm>
            <a:off x="749808" y="2734056"/>
            <a:ext cx="2212848" cy="493775"/>
          </a:xfrm>
          <a:prstGeom prst="rect">
            <a:avLst/>
          </a:prstGeom>
          <a:noFill/>
        </p:spPr>
        <p:txBody>
          <a:bodyPr wrap="square" lIns="0" rIns="0" tIns="0" bIns="0">
            <a:spAutoFit/>
          </a:bodyPr>
          <a:lstStyle/>
          <a:p>
            <a:pPr algn="l">
              <a:spcBef>
                <a:spcPts val="0"/>
              </a:spcBef>
              <a:spcAft>
                <a:spcPts val="600"/>
              </a:spcAft>
              <a:defRPr sz="1300" b="0">
                <a:solidFill>
                  <a:srgbClr val="5B6B83"/>
                </a:solidFill>
                <a:latin typeface="Arial"/>
              </a:defRPr>
            </a:pPr>
            <a:r>
              <a:t>RecommendationStrip</a:t>
            </a:r>
          </a:p>
        </p:txBody>
      </p:sp>
      <p:sp>
        <p:nvSpPr>
          <p:cNvPr id="13" name="Chevron 12"/>
          <p:cNvSpPr/>
          <p:nvPr/>
        </p:nvSpPr>
        <p:spPr>
          <a:xfrm>
            <a:off x="3159251" y="2441448"/>
            <a:ext cx="210312" cy="182880"/>
          </a:xfrm>
          <a:prstGeom prst="chevron">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410711" y="1783080"/>
            <a:ext cx="2523744" cy="1499616"/>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66159" y="1920240"/>
            <a:ext cx="2249424"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02</a:t>
            </a:r>
          </a:p>
        </p:txBody>
      </p:sp>
      <p:sp>
        <p:nvSpPr>
          <p:cNvPr id="16" name="TextBox 15"/>
          <p:cNvSpPr txBox="1"/>
          <p:nvPr/>
        </p:nvSpPr>
        <p:spPr>
          <a:xfrm>
            <a:off x="3566159" y="2231136"/>
            <a:ext cx="2212848" cy="475488"/>
          </a:xfrm>
          <a:prstGeom prst="rect">
            <a:avLst/>
          </a:prstGeom>
          <a:noFill/>
        </p:spPr>
        <p:txBody>
          <a:bodyPr wrap="square" lIns="0" rIns="0" tIns="0" bIns="0">
            <a:spAutoFit/>
          </a:bodyPr>
          <a:lstStyle/>
          <a:p>
            <a:pPr algn="l">
              <a:spcBef>
                <a:spcPts val="0"/>
              </a:spcBef>
              <a:spcAft>
                <a:spcPts val="600"/>
              </a:spcAft>
              <a:defRPr sz="1900" b="1">
                <a:solidFill>
                  <a:srgbClr val="172B49"/>
                </a:solidFill>
                <a:latin typeface="Arial"/>
              </a:defRPr>
            </a:pPr>
            <a:r>
              <a:t>Next.js</a:t>
            </a:r>
          </a:p>
        </p:txBody>
      </p:sp>
      <p:sp>
        <p:nvSpPr>
          <p:cNvPr id="17" name="TextBox 16"/>
          <p:cNvSpPr txBox="1"/>
          <p:nvPr/>
        </p:nvSpPr>
        <p:spPr>
          <a:xfrm>
            <a:off x="3566159" y="2734056"/>
            <a:ext cx="2212848" cy="493775"/>
          </a:xfrm>
          <a:prstGeom prst="rect">
            <a:avLst/>
          </a:prstGeom>
          <a:noFill/>
        </p:spPr>
        <p:txBody>
          <a:bodyPr wrap="square" lIns="0" rIns="0" tIns="0" bIns="0">
            <a:spAutoFit/>
          </a:bodyPr>
          <a:lstStyle/>
          <a:p>
            <a:pPr algn="l">
              <a:spcBef>
                <a:spcPts val="0"/>
              </a:spcBef>
              <a:spcAft>
                <a:spcPts val="600"/>
              </a:spcAft>
              <a:defRPr sz="1300" b="0">
                <a:solidFill>
                  <a:srgbClr val="5B6B83"/>
                </a:solidFill>
                <a:latin typeface="Arial"/>
              </a:defRPr>
            </a:pPr>
            <a:r>
              <a:t>/api/recommendations</a:t>
            </a:r>
          </a:p>
        </p:txBody>
      </p:sp>
      <p:sp>
        <p:nvSpPr>
          <p:cNvPr id="18" name="Chevron 17"/>
          <p:cNvSpPr/>
          <p:nvPr/>
        </p:nvSpPr>
        <p:spPr>
          <a:xfrm>
            <a:off x="5975603" y="2441448"/>
            <a:ext cx="210312" cy="182880"/>
          </a:xfrm>
          <a:prstGeom prst="chevron">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27064" y="1783080"/>
            <a:ext cx="2523744" cy="1499616"/>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82512" y="1920240"/>
            <a:ext cx="2249424"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03</a:t>
            </a:r>
          </a:p>
        </p:txBody>
      </p:sp>
      <p:sp>
        <p:nvSpPr>
          <p:cNvPr id="21" name="TextBox 20"/>
          <p:cNvSpPr txBox="1"/>
          <p:nvPr/>
        </p:nvSpPr>
        <p:spPr>
          <a:xfrm>
            <a:off x="6382512" y="2231136"/>
            <a:ext cx="2212848" cy="475488"/>
          </a:xfrm>
          <a:prstGeom prst="rect">
            <a:avLst/>
          </a:prstGeom>
          <a:noFill/>
        </p:spPr>
        <p:txBody>
          <a:bodyPr wrap="square" lIns="0" rIns="0" tIns="0" bIns="0">
            <a:spAutoFit/>
          </a:bodyPr>
          <a:lstStyle/>
          <a:p>
            <a:pPr algn="l">
              <a:spcBef>
                <a:spcPts val="0"/>
              </a:spcBef>
              <a:spcAft>
                <a:spcPts val="600"/>
              </a:spcAft>
              <a:defRPr sz="1900" b="1">
                <a:solidFill>
                  <a:srgbClr val="172B49"/>
                </a:solidFill>
                <a:latin typeface="Arial"/>
              </a:defRPr>
            </a:pPr>
            <a:r>
              <a:t>Backend</a:t>
            </a:r>
          </a:p>
        </p:txBody>
      </p:sp>
      <p:sp>
        <p:nvSpPr>
          <p:cNvPr id="22" name="TextBox 21"/>
          <p:cNvSpPr txBox="1"/>
          <p:nvPr/>
        </p:nvSpPr>
        <p:spPr>
          <a:xfrm>
            <a:off x="6382512" y="2734056"/>
            <a:ext cx="2212848" cy="493775"/>
          </a:xfrm>
          <a:prstGeom prst="rect">
            <a:avLst/>
          </a:prstGeom>
          <a:noFill/>
        </p:spPr>
        <p:txBody>
          <a:bodyPr wrap="square" lIns="0" rIns="0" tIns="0" bIns="0">
            <a:spAutoFit/>
          </a:bodyPr>
          <a:lstStyle/>
          <a:p>
            <a:pPr algn="l">
              <a:spcBef>
                <a:spcPts val="0"/>
              </a:spcBef>
              <a:spcAft>
                <a:spcPts val="600"/>
              </a:spcAft>
              <a:defRPr sz="1300" b="0">
                <a:solidFill>
                  <a:srgbClr val="5B6B83"/>
                </a:solidFill>
                <a:latin typeface="Arial"/>
              </a:defRPr>
            </a:pPr>
            <a:r>
              <a:t>/api/v1/recommendations</a:t>
            </a:r>
          </a:p>
        </p:txBody>
      </p:sp>
      <p:sp>
        <p:nvSpPr>
          <p:cNvPr id="23" name="Chevron 22"/>
          <p:cNvSpPr/>
          <p:nvPr/>
        </p:nvSpPr>
        <p:spPr>
          <a:xfrm>
            <a:off x="8791956" y="2441448"/>
            <a:ext cx="210312" cy="182880"/>
          </a:xfrm>
          <a:prstGeom prst="chevron">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043415" y="1783080"/>
            <a:ext cx="2523744" cy="1499616"/>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198863" y="1920240"/>
            <a:ext cx="2249424"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04</a:t>
            </a:r>
          </a:p>
        </p:txBody>
      </p:sp>
      <p:sp>
        <p:nvSpPr>
          <p:cNvPr id="26" name="TextBox 25"/>
          <p:cNvSpPr txBox="1"/>
          <p:nvPr/>
        </p:nvSpPr>
        <p:spPr>
          <a:xfrm>
            <a:off x="9198863" y="2231136"/>
            <a:ext cx="2212848" cy="475488"/>
          </a:xfrm>
          <a:prstGeom prst="rect">
            <a:avLst/>
          </a:prstGeom>
          <a:noFill/>
        </p:spPr>
        <p:txBody>
          <a:bodyPr wrap="square" lIns="0" rIns="0" tIns="0" bIns="0">
            <a:spAutoFit/>
          </a:bodyPr>
          <a:lstStyle/>
          <a:p>
            <a:pPr algn="l">
              <a:spcBef>
                <a:spcPts val="0"/>
              </a:spcBef>
              <a:spcAft>
                <a:spcPts val="600"/>
              </a:spcAft>
              <a:defRPr sz="1900" b="1">
                <a:solidFill>
                  <a:srgbClr val="172B49"/>
                </a:solidFill>
                <a:latin typeface="Arial"/>
              </a:defRPr>
            </a:pPr>
            <a:r>
              <a:t>Danh sách</a:t>
            </a:r>
          </a:p>
        </p:txBody>
      </p:sp>
      <p:sp>
        <p:nvSpPr>
          <p:cNvPr id="27" name="TextBox 26"/>
          <p:cNvSpPr txBox="1"/>
          <p:nvPr/>
        </p:nvSpPr>
        <p:spPr>
          <a:xfrm>
            <a:off x="9198863" y="2734056"/>
            <a:ext cx="2212848" cy="493775"/>
          </a:xfrm>
          <a:prstGeom prst="rect">
            <a:avLst/>
          </a:prstGeom>
          <a:noFill/>
        </p:spPr>
        <p:txBody>
          <a:bodyPr wrap="square" lIns="0" rIns="0" tIns="0" bIns="0">
            <a:spAutoFit/>
          </a:bodyPr>
          <a:lstStyle/>
          <a:p>
            <a:pPr algn="l">
              <a:spcBef>
                <a:spcPts val="0"/>
              </a:spcBef>
              <a:spcAft>
                <a:spcPts val="600"/>
              </a:spcAft>
              <a:defRPr sz="1300" b="0">
                <a:solidFill>
                  <a:srgbClr val="5B6B83"/>
                </a:solidFill>
                <a:latin typeface="Arial"/>
              </a:defRPr>
            </a:pPr>
            <a:r>
              <a:t>Metadata + image/images</a:t>
            </a:r>
          </a:p>
        </p:txBody>
      </p:sp>
      <p:sp>
        <p:nvSpPr>
          <p:cNvPr id="28" name="Rounded Rectangle 27"/>
          <p:cNvSpPr/>
          <p:nvPr/>
        </p:nvSpPr>
        <p:spPr>
          <a:xfrm>
            <a:off x="3520440" y="3694176"/>
            <a:ext cx="5166360" cy="777240"/>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730752" y="3858768"/>
            <a:ext cx="4745736" cy="429768"/>
          </a:xfrm>
          <a:prstGeom prst="rect">
            <a:avLst/>
          </a:prstGeom>
          <a:noFill/>
        </p:spPr>
        <p:txBody>
          <a:bodyPr wrap="square" lIns="0" rIns="0" tIns="0" bIns="0">
            <a:spAutoFit/>
          </a:bodyPr>
          <a:lstStyle/>
          <a:p>
            <a:pPr algn="l">
              <a:spcBef>
                <a:spcPts val="0"/>
              </a:spcBef>
              <a:spcAft>
                <a:spcPts val="600"/>
              </a:spcAft>
              <a:defRPr sz="1700" b="1">
                <a:solidFill>
                  <a:srgbClr val="244BFF"/>
                </a:solidFill>
                <a:latin typeface="Arial"/>
              </a:defRPr>
            </a:pPr>
            <a:r>
              <a:t>Nhánh dự phòng: Python catalog bridge</a:t>
            </a:r>
          </a:p>
        </p:txBody>
      </p:sp>
      <p:cxnSp>
        <p:nvCxnSpPr>
          <p:cNvPr id="30" name="Connector 29"/>
          <p:cNvCxnSpPr/>
          <p:nvPr/>
        </p:nvCxnSpPr>
        <p:spPr>
          <a:xfrm>
            <a:off x="4846320" y="3328416"/>
            <a:ext cx="0" cy="338328"/>
          </a:xfrm>
          <a:prstGeom prst="line">
            <a:avLst/>
          </a:prstGeom>
          <a:ln w="21590">
            <a:solidFill>
              <a:srgbClr val="244BFF"/>
            </a:solidFill>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758952" y="4828032"/>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50976" y="4727448"/>
            <a:ext cx="10506455" cy="475488"/>
          </a:xfrm>
          <a:prstGeom prst="rect">
            <a:avLst/>
          </a:prstGeom>
          <a:noFill/>
        </p:spPr>
        <p:txBody>
          <a:bodyPr wrap="square" lIns="0" rIns="0" tIns="0" bIns="0">
            <a:spAutoFit/>
          </a:bodyPr>
          <a:lstStyle/>
          <a:p>
            <a:pPr algn="l">
              <a:spcBef>
                <a:spcPts val="0"/>
              </a:spcBef>
              <a:spcAft>
                <a:spcPts val="600"/>
              </a:spcAft>
              <a:defRPr sz="2000" b="0">
                <a:solidFill>
                  <a:srgbClr val="172B49"/>
                </a:solidFill>
                <a:latin typeface="Arial"/>
              </a:defRPr>
            </a:pPr>
            <a:r>
              <a:t>Module online_models có DCN / LightGBM; mặc định cấu hình là rules.</a:t>
            </a:r>
          </a:p>
        </p:txBody>
      </p:sp>
      <p:sp>
        <p:nvSpPr>
          <p:cNvPr id="33" name="Oval 32"/>
          <p:cNvSpPr/>
          <p:nvPr/>
        </p:nvSpPr>
        <p:spPr>
          <a:xfrm>
            <a:off x="758952" y="5385816"/>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50976" y="5285232"/>
            <a:ext cx="10506455" cy="475488"/>
          </a:xfrm>
          <a:prstGeom prst="rect">
            <a:avLst/>
          </a:prstGeom>
          <a:noFill/>
        </p:spPr>
        <p:txBody>
          <a:bodyPr wrap="square" lIns="0" rIns="0" tIns="0" bIns="0">
            <a:spAutoFit/>
          </a:bodyPr>
          <a:lstStyle/>
          <a:p>
            <a:pPr algn="l">
              <a:spcBef>
                <a:spcPts val="0"/>
              </a:spcBef>
              <a:spcAft>
                <a:spcPts val="600"/>
              </a:spcAft>
              <a:defRPr sz="2000" b="0">
                <a:solidFill>
                  <a:srgbClr val="172B49"/>
                </a:solidFill>
                <a:latin typeface="Arial"/>
              </a:defRPr>
            </a:pPr>
            <a:r>
              <a:t>Không suy ra model đang chạy chỉ từ việc đã có checkpoint.</a:t>
            </a:r>
          </a:p>
        </p:txBody>
      </p:sp>
      <p:sp>
        <p:nvSpPr>
          <p:cNvPr id="35" name="Rounded Rectangle 34"/>
          <p:cNvSpPr/>
          <p:nvPr/>
        </p:nvSpPr>
        <p:spPr>
          <a:xfrm>
            <a:off x="566928" y="5916168"/>
            <a:ext cx="11064240" cy="347472"/>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9808" y="5998464"/>
            <a:ext cx="10698480" cy="237744"/>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Pipeline code hiện tại; chưa benchmark độ trễ hoặc kiểm chứng chất lượng online.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10 WEB APPLICATION · PIPELINE</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Vòng phản hồi: hành vi → dữ liệu → gợi ý lần sau</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50 / 52</a:t>
            </a:r>
          </a:p>
        </p:txBody>
      </p:sp>
      <p:sp>
        <p:nvSpPr>
          <p:cNvPr id="8" name="Rectangle 7"/>
          <p:cNvSpPr/>
          <p:nvPr/>
        </p:nvSpPr>
        <p:spPr>
          <a:xfrm>
            <a:off x="566928" y="6391656"/>
            <a:ext cx="10638692"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94360" y="1783080"/>
            <a:ext cx="1960473" cy="1481328"/>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1920240"/>
            <a:ext cx="1686153"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01</a:t>
            </a:r>
          </a:p>
        </p:txBody>
      </p:sp>
      <p:sp>
        <p:nvSpPr>
          <p:cNvPr id="11" name="TextBox 10"/>
          <p:cNvSpPr txBox="1"/>
          <p:nvPr/>
        </p:nvSpPr>
        <p:spPr>
          <a:xfrm>
            <a:off x="749808" y="2231136"/>
            <a:ext cx="1649577" cy="475488"/>
          </a:xfrm>
          <a:prstGeom prst="rect">
            <a:avLst/>
          </a:prstGeom>
          <a:noFill/>
        </p:spPr>
        <p:txBody>
          <a:bodyPr wrap="square" lIns="0" rIns="0" tIns="0" bIns="0">
            <a:spAutoFit/>
          </a:bodyPr>
          <a:lstStyle/>
          <a:p>
            <a:pPr algn="l">
              <a:spcBef>
                <a:spcPts val="0"/>
              </a:spcBef>
              <a:spcAft>
                <a:spcPts val="600"/>
              </a:spcAft>
              <a:defRPr sz="1900" b="1">
                <a:solidFill>
                  <a:srgbClr val="172B49"/>
                </a:solidFill>
                <a:latin typeface="Arial"/>
              </a:defRPr>
            </a:pPr>
            <a:r>
              <a:t>Top-K</a:t>
            </a:r>
          </a:p>
        </p:txBody>
      </p:sp>
      <p:sp>
        <p:nvSpPr>
          <p:cNvPr id="12" name="TextBox 11"/>
          <p:cNvSpPr txBox="1"/>
          <p:nvPr/>
        </p:nvSpPr>
        <p:spPr>
          <a:xfrm>
            <a:off x="749808" y="2734056"/>
            <a:ext cx="1649577" cy="475488"/>
          </a:xfrm>
          <a:prstGeom prst="rect">
            <a:avLst/>
          </a:prstGeom>
          <a:noFill/>
        </p:spPr>
        <p:txBody>
          <a:bodyPr wrap="square" lIns="0" rIns="0" tIns="0" bIns="0">
            <a:spAutoFit/>
          </a:bodyPr>
          <a:lstStyle/>
          <a:p>
            <a:pPr algn="l">
              <a:spcBef>
                <a:spcPts val="0"/>
              </a:spcBef>
              <a:spcAft>
                <a:spcPts val="600"/>
              </a:spcAft>
              <a:defRPr sz="1300" b="0">
                <a:solidFill>
                  <a:srgbClr val="5B6B83"/>
                </a:solidFill>
                <a:latin typeface="Arial"/>
              </a:defRPr>
            </a:pPr>
            <a:r>
              <a:t>Danh sách hiển thị</a:t>
            </a:r>
          </a:p>
        </p:txBody>
      </p:sp>
      <p:sp>
        <p:nvSpPr>
          <p:cNvPr id="13" name="Chevron 12"/>
          <p:cNvSpPr/>
          <p:nvPr/>
        </p:nvSpPr>
        <p:spPr>
          <a:xfrm>
            <a:off x="2595981" y="2432303"/>
            <a:ext cx="210312" cy="182880"/>
          </a:xfrm>
          <a:prstGeom prst="chevron">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847441" y="1783080"/>
            <a:ext cx="1960473" cy="1481328"/>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02889" y="1920240"/>
            <a:ext cx="1686153"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02</a:t>
            </a:r>
          </a:p>
        </p:txBody>
      </p:sp>
      <p:sp>
        <p:nvSpPr>
          <p:cNvPr id="16" name="TextBox 15"/>
          <p:cNvSpPr txBox="1"/>
          <p:nvPr/>
        </p:nvSpPr>
        <p:spPr>
          <a:xfrm>
            <a:off x="3002889" y="2231136"/>
            <a:ext cx="1649577" cy="475488"/>
          </a:xfrm>
          <a:prstGeom prst="rect">
            <a:avLst/>
          </a:prstGeom>
          <a:noFill/>
        </p:spPr>
        <p:txBody>
          <a:bodyPr wrap="square" lIns="0" rIns="0" tIns="0" bIns="0">
            <a:spAutoFit/>
          </a:bodyPr>
          <a:lstStyle/>
          <a:p>
            <a:pPr algn="l">
              <a:spcBef>
                <a:spcPts val="0"/>
              </a:spcBef>
              <a:spcAft>
                <a:spcPts val="600"/>
              </a:spcAft>
              <a:defRPr sz="1900" b="1">
                <a:solidFill>
                  <a:srgbClr val="172B49"/>
                </a:solidFill>
                <a:latin typeface="Arial"/>
              </a:defRPr>
            </a:pPr>
            <a:r>
              <a:t>Hành vi</a:t>
            </a:r>
          </a:p>
        </p:txBody>
      </p:sp>
      <p:sp>
        <p:nvSpPr>
          <p:cNvPr id="17" name="TextBox 16"/>
          <p:cNvSpPr txBox="1"/>
          <p:nvPr/>
        </p:nvSpPr>
        <p:spPr>
          <a:xfrm>
            <a:off x="3002889" y="2734056"/>
            <a:ext cx="1649577" cy="475488"/>
          </a:xfrm>
          <a:prstGeom prst="rect">
            <a:avLst/>
          </a:prstGeom>
          <a:noFill/>
        </p:spPr>
        <p:txBody>
          <a:bodyPr wrap="square" lIns="0" rIns="0" tIns="0" bIns="0">
            <a:spAutoFit/>
          </a:bodyPr>
          <a:lstStyle/>
          <a:p>
            <a:pPr algn="l">
              <a:spcBef>
                <a:spcPts val="0"/>
              </a:spcBef>
              <a:spcAft>
                <a:spcPts val="600"/>
              </a:spcAft>
              <a:defRPr sz="1300" b="0">
                <a:solidFill>
                  <a:srgbClr val="5B6B83"/>
                </a:solidFill>
                <a:latin typeface="Arial"/>
              </a:defRPr>
            </a:pPr>
            <a:r>
              <a:t>View • like • cart</a:t>
            </a:r>
          </a:p>
        </p:txBody>
      </p:sp>
      <p:sp>
        <p:nvSpPr>
          <p:cNvPr id="18" name="Chevron 17"/>
          <p:cNvSpPr/>
          <p:nvPr/>
        </p:nvSpPr>
        <p:spPr>
          <a:xfrm>
            <a:off x="4849063" y="2432303"/>
            <a:ext cx="210312" cy="182880"/>
          </a:xfrm>
          <a:prstGeom prst="chevron">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100523" y="1783080"/>
            <a:ext cx="1960473" cy="1481328"/>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255971" y="1920240"/>
            <a:ext cx="1686153"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03</a:t>
            </a:r>
          </a:p>
        </p:txBody>
      </p:sp>
      <p:sp>
        <p:nvSpPr>
          <p:cNvPr id="21" name="TextBox 20"/>
          <p:cNvSpPr txBox="1"/>
          <p:nvPr/>
        </p:nvSpPr>
        <p:spPr>
          <a:xfrm>
            <a:off x="5255971" y="2231136"/>
            <a:ext cx="1649577" cy="475488"/>
          </a:xfrm>
          <a:prstGeom prst="rect">
            <a:avLst/>
          </a:prstGeom>
          <a:noFill/>
        </p:spPr>
        <p:txBody>
          <a:bodyPr wrap="square" lIns="0" rIns="0" tIns="0" bIns="0">
            <a:spAutoFit/>
          </a:bodyPr>
          <a:lstStyle/>
          <a:p>
            <a:pPr algn="l">
              <a:spcBef>
                <a:spcPts val="0"/>
              </a:spcBef>
              <a:spcAft>
                <a:spcPts val="600"/>
              </a:spcAft>
              <a:defRPr sz="1900" b="1">
                <a:solidFill>
                  <a:srgbClr val="172B49"/>
                </a:solidFill>
                <a:latin typeface="Arial"/>
              </a:defRPr>
            </a:pPr>
            <a:r>
              <a:t>Outbox</a:t>
            </a:r>
          </a:p>
        </p:txBody>
      </p:sp>
      <p:sp>
        <p:nvSpPr>
          <p:cNvPr id="22" name="TextBox 21"/>
          <p:cNvSpPr txBox="1"/>
          <p:nvPr/>
        </p:nvSpPr>
        <p:spPr>
          <a:xfrm>
            <a:off x="5255971" y="2734056"/>
            <a:ext cx="1649577" cy="475488"/>
          </a:xfrm>
          <a:prstGeom prst="rect">
            <a:avLst/>
          </a:prstGeom>
          <a:noFill/>
        </p:spPr>
        <p:txBody>
          <a:bodyPr wrap="square" lIns="0" rIns="0" tIns="0" bIns="0">
            <a:spAutoFit/>
          </a:bodyPr>
          <a:lstStyle/>
          <a:p>
            <a:pPr algn="l">
              <a:spcBef>
                <a:spcPts val="0"/>
              </a:spcBef>
              <a:spcAft>
                <a:spcPts val="600"/>
              </a:spcAft>
              <a:defRPr sz="1300" b="0">
                <a:solidFill>
                  <a:srgbClr val="5B6B83"/>
                </a:solidFill>
                <a:latin typeface="Arial"/>
              </a:defRPr>
            </a:pPr>
            <a:r>
              <a:t>event_key ổn định</a:t>
            </a:r>
          </a:p>
        </p:txBody>
      </p:sp>
      <p:sp>
        <p:nvSpPr>
          <p:cNvPr id="23" name="Chevron 22"/>
          <p:cNvSpPr/>
          <p:nvPr/>
        </p:nvSpPr>
        <p:spPr>
          <a:xfrm>
            <a:off x="7102144" y="2432303"/>
            <a:ext cx="210312" cy="182880"/>
          </a:xfrm>
          <a:prstGeom prst="chevron">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353604" y="1783080"/>
            <a:ext cx="1960473" cy="1481328"/>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509052" y="1920240"/>
            <a:ext cx="1686153"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04</a:t>
            </a:r>
          </a:p>
        </p:txBody>
      </p:sp>
      <p:sp>
        <p:nvSpPr>
          <p:cNvPr id="26" name="TextBox 25"/>
          <p:cNvSpPr txBox="1"/>
          <p:nvPr/>
        </p:nvSpPr>
        <p:spPr>
          <a:xfrm>
            <a:off x="7509052" y="2231136"/>
            <a:ext cx="1649577" cy="475488"/>
          </a:xfrm>
          <a:prstGeom prst="rect">
            <a:avLst/>
          </a:prstGeom>
          <a:noFill/>
        </p:spPr>
        <p:txBody>
          <a:bodyPr wrap="square" lIns="0" rIns="0" tIns="0" bIns="0">
            <a:spAutoFit/>
          </a:bodyPr>
          <a:lstStyle/>
          <a:p>
            <a:pPr algn="l">
              <a:spcBef>
                <a:spcPts val="0"/>
              </a:spcBef>
              <a:spcAft>
                <a:spcPts val="600"/>
              </a:spcAft>
              <a:defRPr sz="1900" b="1">
                <a:solidFill>
                  <a:srgbClr val="172B49"/>
                </a:solidFill>
                <a:latin typeface="Arial"/>
              </a:defRPr>
            </a:pPr>
            <a:r>
              <a:t>API / dữ liệu</a:t>
            </a:r>
          </a:p>
        </p:txBody>
      </p:sp>
      <p:sp>
        <p:nvSpPr>
          <p:cNvPr id="27" name="TextBox 26"/>
          <p:cNvSpPr txBox="1"/>
          <p:nvPr/>
        </p:nvSpPr>
        <p:spPr>
          <a:xfrm>
            <a:off x="7509052" y="2734056"/>
            <a:ext cx="1649577" cy="475488"/>
          </a:xfrm>
          <a:prstGeom prst="rect">
            <a:avLst/>
          </a:prstGeom>
          <a:noFill/>
        </p:spPr>
        <p:txBody>
          <a:bodyPr wrap="square" lIns="0" rIns="0" tIns="0" bIns="0">
            <a:spAutoFit/>
          </a:bodyPr>
          <a:lstStyle/>
          <a:p>
            <a:pPr algn="l">
              <a:spcBef>
                <a:spcPts val="0"/>
              </a:spcBef>
              <a:spcAft>
                <a:spcPts val="600"/>
              </a:spcAft>
              <a:defRPr sz="1300" b="0">
                <a:solidFill>
                  <a:srgbClr val="5B6B83"/>
                </a:solidFill>
                <a:latin typeface="Arial"/>
              </a:defRPr>
            </a:pPr>
            <a:r>
              <a:t>Lưu khi thành công</a:t>
            </a:r>
          </a:p>
        </p:txBody>
      </p:sp>
      <p:sp>
        <p:nvSpPr>
          <p:cNvPr id="28" name="Chevron 27"/>
          <p:cNvSpPr/>
          <p:nvPr/>
        </p:nvSpPr>
        <p:spPr>
          <a:xfrm>
            <a:off x="9355226" y="2432303"/>
            <a:ext cx="210312" cy="182880"/>
          </a:xfrm>
          <a:prstGeom prst="chevron">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9606686" y="1783080"/>
            <a:ext cx="1960473" cy="1481328"/>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762134" y="1920240"/>
            <a:ext cx="1686153" cy="256032"/>
          </a:xfrm>
          <a:prstGeom prst="rect">
            <a:avLst/>
          </a:prstGeom>
          <a:noFill/>
        </p:spPr>
        <p:txBody>
          <a:bodyPr wrap="square" lIns="0" rIns="0" tIns="0" bIns="0">
            <a:spAutoFit/>
          </a:bodyPr>
          <a:lstStyle/>
          <a:p>
            <a:pPr algn="l">
              <a:spcBef>
                <a:spcPts val="0"/>
              </a:spcBef>
              <a:spcAft>
                <a:spcPts val="600"/>
              </a:spcAft>
              <a:defRPr sz="1100" b="1">
                <a:solidFill>
                  <a:srgbClr val="244BFF"/>
                </a:solidFill>
                <a:latin typeface="Arial"/>
              </a:defRPr>
            </a:pPr>
            <a:r>
              <a:t>05</a:t>
            </a:r>
          </a:p>
        </p:txBody>
      </p:sp>
      <p:sp>
        <p:nvSpPr>
          <p:cNvPr id="31" name="TextBox 30"/>
          <p:cNvSpPr txBox="1"/>
          <p:nvPr/>
        </p:nvSpPr>
        <p:spPr>
          <a:xfrm>
            <a:off x="9762134" y="2231136"/>
            <a:ext cx="1649577" cy="475488"/>
          </a:xfrm>
          <a:prstGeom prst="rect">
            <a:avLst/>
          </a:prstGeom>
          <a:noFill/>
        </p:spPr>
        <p:txBody>
          <a:bodyPr wrap="square" lIns="0" rIns="0" tIns="0" bIns="0">
            <a:spAutoFit/>
          </a:bodyPr>
          <a:lstStyle/>
          <a:p>
            <a:pPr algn="l">
              <a:spcBef>
                <a:spcPts val="0"/>
              </a:spcBef>
              <a:spcAft>
                <a:spcPts val="600"/>
              </a:spcAft>
              <a:defRPr sz="1900" b="1">
                <a:solidFill>
                  <a:srgbClr val="172B49"/>
                </a:solidFill>
                <a:latin typeface="Arial"/>
              </a:defRPr>
            </a:pPr>
            <a:r>
              <a:t>Lần tiếp theo</a:t>
            </a:r>
          </a:p>
        </p:txBody>
      </p:sp>
      <p:sp>
        <p:nvSpPr>
          <p:cNvPr id="32" name="TextBox 31"/>
          <p:cNvSpPr txBox="1"/>
          <p:nvPr/>
        </p:nvSpPr>
        <p:spPr>
          <a:xfrm>
            <a:off x="9762134" y="2734056"/>
            <a:ext cx="1649577" cy="475488"/>
          </a:xfrm>
          <a:prstGeom prst="rect">
            <a:avLst/>
          </a:prstGeom>
          <a:noFill/>
        </p:spPr>
        <p:txBody>
          <a:bodyPr wrap="square" lIns="0" rIns="0" tIns="0" bIns="0">
            <a:spAutoFit/>
          </a:bodyPr>
          <a:lstStyle/>
          <a:p>
            <a:pPr algn="l">
              <a:spcBef>
                <a:spcPts val="0"/>
              </a:spcBef>
              <a:spcAft>
                <a:spcPts val="600"/>
              </a:spcAft>
              <a:defRPr sz="1300" b="0">
                <a:solidFill>
                  <a:srgbClr val="5B6B83"/>
                </a:solidFill>
                <a:latin typeface="Arial"/>
              </a:defRPr>
            </a:pPr>
            <a:r>
              <a:t>Gợi ý / retraining</a:t>
            </a:r>
          </a:p>
        </p:txBody>
      </p:sp>
      <p:sp>
        <p:nvSpPr>
          <p:cNvPr id="33" name="Oval 32"/>
          <p:cNvSpPr/>
          <p:nvPr/>
        </p:nvSpPr>
        <p:spPr>
          <a:xfrm>
            <a:off x="749808" y="3712464"/>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41832" y="3611880"/>
            <a:ext cx="10506455" cy="374904"/>
          </a:xfrm>
          <a:prstGeom prst="rect">
            <a:avLst/>
          </a:prstGeom>
          <a:noFill/>
        </p:spPr>
        <p:txBody>
          <a:bodyPr wrap="square" lIns="0" rIns="0" tIns="0" bIns="0">
            <a:spAutoFit/>
          </a:bodyPr>
          <a:lstStyle/>
          <a:p>
            <a:pPr algn="l">
              <a:spcBef>
                <a:spcPts val="0"/>
              </a:spcBef>
              <a:spcAft>
                <a:spcPts val="600"/>
              </a:spcAft>
              <a:defRPr sz="1800" b="0">
                <a:solidFill>
                  <a:srgbClr val="172B49"/>
                </a:solidFill>
                <a:latin typeface="Arial"/>
              </a:defRPr>
            </a:pPr>
            <a:r>
              <a:t>Ghi view/click/like/cart cùng item, session, ngữ cảnh và vị trí gợi ý.</a:t>
            </a:r>
          </a:p>
        </p:txBody>
      </p:sp>
      <p:sp>
        <p:nvSpPr>
          <p:cNvPr id="35" name="Oval 34"/>
          <p:cNvSpPr/>
          <p:nvPr/>
        </p:nvSpPr>
        <p:spPr>
          <a:xfrm>
            <a:off x="749808" y="4169664"/>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41832" y="4069080"/>
            <a:ext cx="10506455" cy="374904"/>
          </a:xfrm>
          <a:prstGeom prst="rect">
            <a:avLst/>
          </a:prstGeom>
          <a:noFill/>
        </p:spPr>
        <p:txBody>
          <a:bodyPr wrap="square" lIns="0" rIns="0" tIns="0" bIns="0">
            <a:spAutoFit/>
          </a:bodyPr>
          <a:lstStyle/>
          <a:p>
            <a:pPr algn="l">
              <a:spcBef>
                <a:spcPts val="0"/>
              </a:spcBef>
              <a:spcAft>
                <a:spcPts val="600"/>
              </a:spcAft>
              <a:defRPr sz="1800" b="0">
                <a:solidFill>
                  <a:srgbClr val="172B49"/>
                </a:solidFill>
                <a:latin typeface="Arial"/>
              </a:defRPr>
            </a:pPr>
            <a:r>
              <a:t>Client giữ sự kiện trong outbox; gửi API và thử lại với event_key cũ.</a:t>
            </a:r>
          </a:p>
        </p:txBody>
      </p:sp>
      <p:sp>
        <p:nvSpPr>
          <p:cNvPr id="37" name="Oval 36"/>
          <p:cNvSpPr/>
          <p:nvPr/>
        </p:nvSpPr>
        <p:spPr>
          <a:xfrm>
            <a:off x="749808" y="4626864"/>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41832" y="4526280"/>
            <a:ext cx="10506455" cy="374904"/>
          </a:xfrm>
          <a:prstGeom prst="rect">
            <a:avLst/>
          </a:prstGeom>
          <a:noFill/>
        </p:spPr>
        <p:txBody>
          <a:bodyPr wrap="square" lIns="0" rIns="0" tIns="0" bIns="0">
            <a:spAutoFit/>
          </a:bodyPr>
          <a:lstStyle/>
          <a:p>
            <a:pPr algn="l">
              <a:spcBef>
                <a:spcPts val="0"/>
              </a:spcBef>
              <a:spcAft>
                <a:spcPts val="600"/>
              </a:spcAft>
              <a:defRPr sz="1800" b="0">
                <a:solidFill>
                  <a:srgbClr val="172B49"/>
                </a:solidFill>
                <a:latin typeface="Arial"/>
              </a:defRPr>
            </a:pPr>
            <a:r>
              <a:t>Ảnh đã xác minh lưu SQLite; outbox đồng bộ PostgreSQL khi khả dụng.</a:t>
            </a:r>
          </a:p>
        </p:txBody>
      </p:sp>
      <p:sp>
        <p:nvSpPr>
          <p:cNvPr id="39" name="Oval 38"/>
          <p:cNvSpPr/>
          <p:nvPr/>
        </p:nvSpPr>
        <p:spPr>
          <a:xfrm>
            <a:off x="749808" y="5084064"/>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41832" y="4983480"/>
            <a:ext cx="10506455" cy="374904"/>
          </a:xfrm>
          <a:prstGeom prst="rect">
            <a:avLst/>
          </a:prstGeom>
          <a:noFill/>
        </p:spPr>
        <p:txBody>
          <a:bodyPr wrap="square" lIns="0" rIns="0" tIns="0" bIns="0">
            <a:spAutoFit/>
          </a:bodyPr>
          <a:lstStyle/>
          <a:p>
            <a:pPr algn="l">
              <a:spcBef>
                <a:spcPts val="0"/>
              </a:spcBef>
              <a:spcAft>
                <a:spcPts val="600"/>
              </a:spcAft>
              <a:defRPr sz="1800" b="0">
                <a:solidFill>
                  <a:srgbClr val="172B49"/>
                </a:solidFill>
                <a:latin typeface="Arial"/>
              </a:defRPr>
            </a:pPr>
            <a:r>
              <a:t>Dùng dữ liệu phản hồi cho lần gợi ý/huấn luyện sau; chưa có tự huấn luyện realtime.</a:t>
            </a:r>
          </a:p>
        </p:txBody>
      </p:sp>
      <p:sp>
        <p:nvSpPr>
          <p:cNvPr id="41" name="Rounded Rectangle 40"/>
          <p:cNvSpPr/>
          <p:nvPr/>
        </p:nvSpPr>
        <p:spPr>
          <a:xfrm>
            <a:off x="566928" y="5852160"/>
            <a:ext cx="11064240" cy="384048"/>
          </a:xfrm>
          <a:prstGeom prst="roundRect">
            <a:avLst>
              <a:gd name="adj" fmla="val 9000"/>
            </a:avLst>
          </a:prstGeom>
          <a:solidFill>
            <a:srgbClr val="F0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49808" y="5934456"/>
            <a:ext cx="10698480" cy="274320"/>
          </a:xfrm>
          <a:prstGeom prst="rect">
            <a:avLst/>
          </a:prstGeom>
          <a:noFill/>
        </p:spPr>
        <p:txBody>
          <a:bodyPr wrap="square" lIns="0" rIns="0" tIns="0" bIns="0">
            <a:spAutoFit/>
          </a:bodyPr>
          <a:lstStyle/>
          <a:p>
            <a:pPr algn="l">
              <a:spcBef>
                <a:spcPts val="0"/>
              </a:spcBef>
              <a:spcAft>
                <a:spcPts val="600"/>
              </a:spcAft>
              <a:defRPr sz="1300" b="0">
                <a:solidFill>
                  <a:srgbClr val="172B49"/>
                </a:solidFill>
                <a:latin typeface="Arial"/>
              </a:defRPr>
            </a:pPr>
            <a:r>
              <a:t>Phản hồi giúp làm mới tín hiệu; không khẳng định có online training tự động</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10 WEB APPLICATION — PHỤ LỤC</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Demo MerRec — trình bày riêng</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51 / 52</a:t>
            </a:r>
          </a:p>
        </p:txBody>
      </p:sp>
      <p:sp>
        <p:nvSpPr>
          <p:cNvPr id="8" name="Rectangle 7"/>
          <p:cNvSpPr/>
          <p:nvPr/>
        </p:nvSpPr>
        <p:spPr>
          <a:xfrm>
            <a:off x="566928" y="6391656"/>
            <a:ext cx="10851466"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demo-home-real.png"/>
          <p:cNvPicPr>
            <a:picLocks noChangeAspect="1"/>
          </p:cNvPicPr>
          <p:nvPr/>
        </p:nvPicPr>
        <p:blipFill>
          <a:blip r:embed="rId2"/>
          <a:stretch>
            <a:fillRect/>
          </a:stretch>
        </p:blipFill>
        <p:spPr>
          <a:xfrm>
            <a:off x="1096182" y="1664208"/>
            <a:ext cx="6531010" cy="4535424"/>
          </a:xfrm>
          <a:prstGeom prst="rect">
            <a:avLst/>
          </a:prstGeom>
        </p:spPr>
      </p:pic>
      <p:sp>
        <p:nvSpPr>
          <p:cNvPr id="10" name="Oval 9"/>
          <p:cNvSpPr/>
          <p:nvPr/>
        </p:nvSpPr>
        <p:spPr>
          <a:xfrm>
            <a:off x="8266175" y="2002536"/>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58200" y="1901952"/>
            <a:ext cx="2962656" cy="996695"/>
          </a:xfrm>
          <a:prstGeom prst="rect">
            <a:avLst/>
          </a:prstGeom>
          <a:noFill/>
        </p:spPr>
        <p:txBody>
          <a:bodyPr wrap="square" lIns="0" rIns="0" tIns="0" bIns="0">
            <a:spAutoFit/>
          </a:bodyPr>
          <a:lstStyle/>
          <a:p>
            <a:pPr algn="l">
              <a:spcBef>
                <a:spcPts val="0"/>
              </a:spcBef>
              <a:spcAft>
                <a:spcPts val="600"/>
              </a:spcAft>
              <a:defRPr sz="2000" b="0">
                <a:solidFill>
                  <a:srgbClr val="172B49"/>
                </a:solidFill>
                <a:latin typeface="Arial"/>
              </a:defRPr>
            </a:pPr>
            <a:r>
              <a:t>Mở trang chủ và cuộn đến khu vực gợi ý.</a:t>
            </a:r>
          </a:p>
        </p:txBody>
      </p:sp>
      <p:sp>
        <p:nvSpPr>
          <p:cNvPr id="12" name="Oval 11"/>
          <p:cNvSpPr/>
          <p:nvPr/>
        </p:nvSpPr>
        <p:spPr>
          <a:xfrm>
            <a:off x="8266175" y="3081527"/>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58200" y="2980944"/>
            <a:ext cx="2962656" cy="996695"/>
          </a:xfrm>
          <a:prstGeom prst="rect">
            <a:avLst/>
          </a:prstGeom>
          <a:noFill/>
        </p:spPr>
        <p:txBody>
          <a:bodyPr wrap="square" lIns="0" rIns="0" tIns="0" bIns="0">
            <a:spAutoFit/>
          </a:bodyPr>
          <a:lstStyle/>
          <a:p>
            <a:pPr algn="l">
              <a:spcBef>
                <a:spcPts val="0"/>
              </a:spcBef>
              <a:spcAft>
                <a:spcPts val="600"/>
              </a:spcAft>
              <a:defRPr sz="2000" b="0">
                <a:solidFill>
                  <a:srgbClr val="172B49"/>
                </a:solidFill>
                <a:latin typeface="Arial"/>
              </a:defRPr>
            </a:pPr>
            <a:r>
              <a:t>Quan sát ảnh sản phẩm xuất hiện ngay trên thẻ.</a:t>
            </a:r>
          </a:p>
        </p:txBody>
      </p:sp>
      <p:sp>
        <p:nvSpPr>
          <p:cNvPr id="14" name="Oval 13"/>
          <p:cNvSpPr/>
          <p:nvPr/>
        </p:nvSpPr>
        <p:spPr>
          <a:xfrm>
            <a:off x="8266175" y="4160520"/>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58200" y="4059935"/>
            <a:ext cx="2962656" cy="996695"/>
          </a:xfrm>
          <a:prstGeom prst="rect">
            <a:avLst/>
          </a:prstGeom>
          <a:noFill/>
        </p:spPr>
        <p:txBody>
          <a:bodyPr wrap="square" lIns="0" rIns="0" tIns="0" bIns="0">
            <a:spAutoFit/>
          </a:bodyPr>
          <a:lstStyle/>
          <a:p>
            <a:pPr algn="l">
              <a:spcBef>
                <a:spcPts val="0"/>
              </a:spcBef>
              <a:spcAft>
                <a:spcPts val="600"/>
              </a:spcAft>
              <a:defRPr sz="2000" b="0">
                <a:solidFill>
                  <a:srgbClr val="172B49"/>
                </a:solidFill>
                <a:latin typeface="Arial"/>
              </a:defRPr>
            </a:pPr>
            <a:r>
              <a:t>Chọn sản phẩm để chuyển sang trang chi tiết.</a:t>
            </a:r>
          </a:p>
        </p:txBody>
      </p:sp>
      <p:sp>
        <p:nvSpPr>
          <p:cNvPr id="16" name="TextBox 15"/>
          <p:cNvSpPr txBox="1"/>
          <p:nvPr/>
        </p:nvSpPr>
        <p:spPr>
          <a:xfrm>
            <a:off x="8357616" y="5522976"/>
            <a:ext cx="2926080" cy="502920"/>
          </a:xfrm>
          <a:prstGeom prst="rect">
            <a:avLst/>
          </a:prstGeom>
          <a:noFill/>
        </p:spPr>
        <p:txBody>
          <a:bodyPr wrap="square" lIns="0" rIns="0" tIns="0" bIns="0">
            <a:spAutoFit/>
          </a:bodyPr>
          <a:lstStyle/>
          <a:p>
            <a:pPr algn="l">
              <a:spcBef>
                <a:spcPts val="0"/>
              </a:spcBef>
              <a:spcAft>
                <a:spcPts val="600"/>
              </a:spcAft>
              <a:defRPr sz="2300" b="1">
                <a:solidFill>
                  <a:srgbClr val="244BFF"/>
                </a:solidFill>
                <a:latin typeface="Arial"/>
              </a:defRPr>
            </a:pPr>
            <a:r>
              <a:t>Demo trực tiếp</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246888"/>
            <a:ext cx="9966960" cy="256032"/>
          </a:xfrm>
          <a:prstGeom prst="rect">
            <a:avLst/>
          </a:prstGeom>
          <a:noFill/>
        </p:spPr>
        <p:txBody>
          <a:bodyPr wrap="square" lIns="0" rIns="0" tIns="0" bIns="0">
            <a:spAutoFit/>
          </a:bodyPr>
          <a:lstStyle/>
          <a:p>
            <a:pPr algn="l">
              <a:spcBef>
                <a:spcPts val="0"/>
              </a:spcBef>
              <a:spcAft>
                <a:spcPts val="600"/>
              </a:spcAft>
              <a:defRPr sz="1000" b="1">
                <a:solidFill>
                  <a:srgbClr val="244BFF"/>
                </a:solidFill>
                <a:latin typeface="Arial"/>
              </a:defRPr>
            </a:pPr>
            <a:r>
              <a:t>10 WEB APPLICATION — PHỤ LỤC</a:t>
            </a:r>
          </a:p>
        </p:txBody>
      </p:sp>
      <p:sp>
        <p:nvSpPr>
          <p:cNvPr id="4" name="TextBox 3"/>
          <p:cNvSpPr txBox="1"/>
          <p:nvPr/>
        </p:nvSpPr>
        <p:spPr>
          <a:xfrm>
            <a:off x="566928" y="713232"/>
            <a:ext cx="11064240" cy="868680"/>
          </a:xfrm>
          <a:prstGeom prst="rect">
            <a:avLst/>
          </a:prstGeom>
          <a:noFill/>
        </p:spPr>
        <p:txBody>
          <a:bodyPr wrap="square" lIns="0" rIns="0" tIns="0" bIns="0">
            <a:spAutoFit/>
          </a:bodyPr>
          <a:lstStyle/>
          <a:p>
            <a:pPr algn="l">
              <a:spcBef>
                <a:spcPts val="0"/>
              </a:spcBef>
              <a:spcAft>
                <a:spcPts val="600"/>
              </a:spcAft>
              <a:defRPr sz="2900" b="1">
                <a:solidFill>
                  <a:srgbClr val="172B49"/>
                </a:solidFill>
                <a:latin typeface="Arial"/>
              </a:defRPr>
            </a:pPr>
            <a:r>
              <a:t>Ảnh demo và thảo luận</a:t>
            </a:r>
          </a:p>
        </p:txBody>
      </p:sp>
      <p:cxnSp>
        <p:nvCxnSpPr>
          <p:cNvPr id="5" name="Connector 4"/>
          <p:cNvCxnSpPr/>
          <p:nvPr/>
        </p:nvCxnSpPr>
        <p:spPr>
          <a:xfrm>
            <a:off x="566928" y="6419088"/>
            <a:ext cx="11064240" cy="0"/>
          </a:xfrm>
          <a:prstGeom prst="line">
            <a:avLst/>
          </a:prstGeom>
          <a:ln w="17780">
            <a:solidFill>
              <a:srgbClr val="DFE6F2"/>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66928" y="6510528"/>
            <a:ext cx="9052560" cy="182880"/>
          </a:xfrm>
          <a:prstGeom prst="rect">
            <a:avLst/>
          </a:prstGeom>
          <a:noFill/>
        </p:spPr>
        <p:txBody>
          <a:bodyPr wrap="square" lIns="0" rIns="0" tIns="0" bIns="0">
            <a:spAutoFit/>
          </a:bodyPr>
          <a:lstStyle/>
          <a:p>
            <a:pPr algn="l">
              <a:spcBef>
                <a:spcPts val="0"/>
              </a:spcBef>
              <a:spcAft>
                <a:spcPts val="600"/>
              </a:spcAft>
              <a:defRPr sz="900" b="0">
                <a:solidFill>
                  <a:srgbClr val="5B6B83"/>
                </a:solidFill>
                <a:latin typeface="Arial"/>
              </a:defRPr>
            </a:pPr>
            <a:r>
              <a:t>MERREC  /  PHÂN TÍCH DỮ LIỆU &amp; HỆ THỐNG GỢI Ý</a:t>
            </a:r>
          </a:p>
        </p:txBody>
      </p:sp>
      <p:sp>
        <p:nvSpPr>
          <p:cNvPr id="7" name="TextBox 6"/>
          <p:cNvSpPr txBox="1"/>
          <p:nvPr/>
        </p:nvSpPr>
        <p:spPr>
          <a:xfrm>
            <a:off x="10652760" y="6483096"/>
            <a:ext cx="978408" cy="228600"/>
          </a:xfrm>
          <a:prstGeom prst="rect">
            <a:avLst/>
          </a:prstGeom>
          <a:noFill/>
        </p:spPr>
        <p:txBody>
          <a:bodyPr wrap="square" lIns="0" rIns="0" tIns="0" bIns="0">
            <a:spAutoFit/>
          </a:bodyPr>
          <a:lstStyle/>
          <a:p>
            <a:pPr algn="r">
              <a:spcBef>
                <a:spcPts val="0"/>
              </a:spcBef>
              <a:spcAft>
                <a:spcPts val="600"/>
              </a:spcAft>
              <a:defRPr sz="1100" b="1">
                <a:solidFill>
                  <a:srgbClr val="244BFF"/>
                </a:solidFill>
                <a:latin typeface="Arial"/>
              </a:defRPr>
            </a:pPr>
            <a:r>
              <a:t>52 / 52</a:t>
            </a:r>
          </a:p>
        </p:txBody>
      </p:sp>
      <p:sp>
        <p:nvSpPr>
          <p:cNvPr id="8" name="Rectangle 7"/>
          <p:cNvSpPr/>
          <p:nvPr/>
        </p:nvSpPr>
        <p:spPr>
          <a:xfrm>
            <a:off x="566928" y="6391656"/>
            <a:ext cx="11064239" cy="32004"/>
          </a:xfrm>
          <a:prstGeom prst="rect">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demo-detail-real.png"/>
          <p:cNvPicPr>
            <a:picLocks noChangeAspect="1"/>
          </p:cNvPicPr>
          <p:nvPr/>
        </p:nvPicPr>
        <p:blipFill>
          <a:blip r:embed="rId2"/>
          <a:stretch>
            <a:fillRect/>
          </a:stretch>
        </p:blipFill>
        <p:spPr>
          <a:xfrm>
            <a:off x="1096182" y="1664208"/>
            <a:ext cx="6531010" cy="4535424"/>
          </a:xfrm>
          <a:prstGeom prst="rect">
            <a:avLst/>
          </a:prstGeom>
        </p:spPr>
      </p:pic>
      <p:sp>
        <p:nvSpPr>
          <p:cNvPr id="10" name="Oval 9"/>
          <p:cNvSpPr/>
          <p:nvPr/>
        </p:nvSpPr>
        <p:spPr>
          <a:xfrm>
            <a:off x="8266175" y="2002536"/>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58200" y="1901952"/>
            <a:ext cx="2962656" cy="996695"/>
          </a:xfrm>
          <a:prstGeom prst="rect">
            <a:avLst/>
          </a:prstGeom>
          <a:noFill/>
        </p:spPr>
        <p:txBody>
          <a:bodyPr wrap="square" lIns="0" rIns="0" tIns="0" bIns="0">
            <a:spAutoFit/>
          </a:bodyPr>
          <a:lstStyle/>
          <a:p>
            <a:pPr algn="l">
              <a:spcBef>
                <a:spcPts val="0"/>
              </a:spcBef>
              <a:spcAft>
                <a:spcPts val="600"/>
              </a:spcAft>
              <a:defRPr sz="2000" b="0">
                <a:solidFill>
                  <a:srgbClr val="172B49"/>
                </a:solidFill>
                <a:latin typeface="Arial"/>
              </a:defRPr>
            </a:pPr>
            <a:r>
              <a:t>Xem ảnh và metadata sản phẩm từ catalog.</a:t>
            </a:r>
          </a:p>
        </p:txBody>
      </p:sp>
      <p:sp>
        <p:nvSpPr>
          <p:cNvPr id="12" name="Oval 11"/>
          <p:cNvSpPr/>
          <p:nvPr/>
        </p:nvSpPr>
        <p:spPr>
          <a:xfrm>
            <a:off x="8266175" y="3081527"/>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58200" y="2980944"/>
            <a:ext cx="2962656" cy="996695"/>
          </a:xfrm>
          <a:prstGeom prst="rect">
            <a:avLst/>
          </a:prstGeom>
          <a:noFill/>
        </p:spPr>
        <p:txBody>
          <a:bodyPr wrap="square" lIns="0" rIns="0" tIns="0" bIns="0">
            <a:spAutoFit/>
          </a:bodyPr>
          <a:lstStyle/>
          <a:p>
            <a:pPr algn="l">
              <a:spcBef>
                <a:spcPts val="0"/>
              </a:spcBef>
              <a:spcAft>
                <a:spcPts val="600"/>
              </a:spcAft>
              <a:defRPr sz="2000" b="0">
                <a:solidFill>
                  <a:srgbClr val="172B49"/>
                </a:solidFill>
                <a:latin typeface="Arial"/>
              </a:defRPr>
            </a:pPr>
            <a:r>
              <a:t>Cuộn tới danh sách sản phẩm tương tự.</a:t>
            </a:r>
          </a:p>
        </p:txBody>
      </p:sp>
      <p:sp>
        <p:nvSpPr>
          <p:cNvPr id="14" name="Oval 13"/>
          <p:cNvSpPr/>
          <p:nvPr/>
        </p:nvSpPr>
        <p:spPr>
          <a:xfrm>
            <a:off x="8266175" y="4160520"/>
            <a:ext cx="59436" cy="59436"/>
          </a:xfrm>
          <a:prstGeom prst="ellipse">
            <a:avLst/>
          </a:prstGeom>
          <a:solidFill>
            <a:srgbClr val="244B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58200" y="4059935"/>
            <a:ext cx="2962656" cy="996695"/>
          </a:xfrm>
          <a:prstGeom prst="rect">
            <a:avLst/>
          </a:prstGeom>
          <a:noFill/>
        </p:spPr>
        <p:txBody>
          <a:bodyPr wrap="square" lIns="0" rIns="0" tIns="0" bIns="0">
            <a:spAutoFit/>
          </a:bodyPr>
          <a:lstStyle/>
          <a:p>
            <a:pPr algn="l">
              <a:spcBef>
                <a:spcPts val="0"/>
              </a:spcBef>
              <a:spcAft>
                <a:spcPts val="600"/>
              </a:spcAft>
              <a:defRPr sz="2000" b="0">
                <a:solidFill>
                  <a:srgbClr val="172B49"/>
                </a:solidFill>
                <a:latin typeface="Arial"/>
              </a:defRPr>
            </a:pPr>
            <a:r>
              <a:t>Thảo luận: coverage, thứ tự gợi ý và khả năng phục vụ.</a:t>
            </a:r>
          </a:p>
        </p:txBody>
      </p:sp>
      <p:sp>
        <p:nvSpPr>
          <p:cNvPr id="16" name="TextBox 15"/>
          <p:cNvSpPr txBox="1"/>
          <p:nvPr/>
        </p:nvSpPr>
        <p:spPr>
          <a:xfrm>
            <a:off x="8357616" y="5522976"/>
            <a:ext cx="2926080" cy="502920"/>
          </a:xfrm>
          <a:prstGeom prst="rect">
            <a:avLst/>
          </a:prstGeom>
          <a:noFill/>
        </p:spPr>
        <p:txBody>
          <a:bodyPr wrap="square" lIns="0" rIns="0" tIns="0" bIns="0">
            <a:spAutoFit/>
          </a:bodyPr>
          <a:lstStyle/>
          <a:p>
            <a:pPr algn="l">
              <a:spcBef>
                <a:spcPts val="0"/>
              </a:spcBef>
              <a:spcAft>
                <a:spcPts val="600"/>
              </a:spcAft>
              <a:defRPr sz="2300" b="1">
                <a:solidFill>
                  <a:srgbClr val="244BFF"/>
                </a:solidFill>
                <a:latin typeface="Arial"/>
              </a:defRPr>
            </a:pPr>
            <a:r>
              <a:t>Cảm ơn · Q&amp;A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MerRec — Hệ thống gợi ý sản phẩm</dc:title>
  <dc:subject>Phân tích dữ liệu, đặc trưng và thực nghiệm mô hình</dc:subject>
  <dc:creator>MerRec</dc:creator>
  <cp:keywords>MerRec, EDA, recommendation, Top-K</cp:keywords>
  <dc:description>50 slide nội dung + 2 demo; gồm DCN và LightGBM.</dc:description>
  <cp:lastModifiedBy>Steve Canny</cp:lastModifiedBy>
  <cp:revision>1</cp:revision>
  <dcterms:created xsi:type="dcterms:W3CDTF">2013-01-27T09:14:16Z</dcterms:created>
  <dcterms:modified xsi:type="dcterms:W3CDTF">2013-01-27T09:15:58Z</dcterms:modified>
  <cp:category/>
</cp:coreProperties>
</file>