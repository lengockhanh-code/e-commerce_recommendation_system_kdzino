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MerRec — Gợi ý sản phẩm từ dữ liệu hành vi</a:t>
            </a:r>
          </a:p>
          <a:p/>
          <a:p>
            <a:r>
              <a:t>Phân tích dữ liệu tháng 05/2023, xây dựng đặc trưng và thực nghiệm mô hình gợi ý.</a:t>
            </a:r>
          </a:p>
          <a:p>
            <a:r>
              <a:t>Trọng tâm: dữ liệu lớn, implicit feedback, cold-start và đánh giá Top-K.</a:t>
            </a:r>
          </a:p>
          <a:p>
            <a:r>
              <a:t>Chèn tên nhóm, thành viên và giảng viên khi thiết kế.</a:t>
            </a:r>
          </a:p>
          <a:p/>
          <a:p>
            <a:r>
              <a:t>Nguồn tham khảo (URL hoặc đường dẫn trong D:/MerRec):</a:t>
            </a:r>
          </a:p>
          <a:p>
            <a:r>
              <a:t>training/00_eda.ipynb</a:t>
            </a:r>
          </a:p>
          <a:p>
            <a:r>
              <a:t>training/01_preprocess.ipynb</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Nội dung trình bày</a:t>
            </a:r>
          </a:p>
          <a:p/>
          <a:p>
            <a:r>
              <a:t>01 Introduction · 02 Problem Definition · 03 Dataset Description.</a:t>
            </a:r>
          </a:p>
          <a:p>
            <a:r>
              <a:t>04 Data Preprocessing · 05 EDA · 06 Feature Engineering.</a:t>
            </a:r>
          </a:p>
          <a:p>
            <a:r>
              <a:t>07 Models · 08 Model Training · 09 Results · 11 Conclusion.</a:t>
            </a:r>
          </a:p>
          <a:p>
            <a:r>
              <a:t>10 Web Application / Demo tách riêng ở phụ lục 39–40.</a:t>
            </a:r>
          </a:p>
          <a:p/>
          <a:p>
            <a:r>
              <a:t>Ghi chú: Giữ đủ 11 phần người dùng yêu cầu, nhưng đưa Web Application ra sau phần kết luận.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Bối cảnh và thực trạng thương mại điện tử</a:t>
            </a:r>
          </a:p>
          <a:p/>
          <a:p>
            <a:r>
              <a:t>Theo Bộ Công Thương, quy mô TMĐT Việt Nam năm 2024 vượt 25 tỷ USD, tăng 20% so với năm 2023.</a:t>
            </a:r>
          </a:p>
          <a:p>
            <a:r>
              <a:t>Catalog đa dạng đặt ra bài toán giúp người mua khám phá sản phẩm phù hợp.</a:t>
            </a:r>
          </a:p>
          <a:p>
            <a:r>
              <a:t>Trong bài toán C2C, dữ liệu hành vi và thuộc tính item là nguồn tín hiệu cho gợi ý.</a:t>
            </a:r>
          </a:p>
          <a:p>
            <a:r>
              <a:t>Đề tài dùng MerRec từ Mercari để thực nghiệm; không dùng dữ liệu thị trường Việt Nam để huấn luyện.</a:t>
            </a:r>
          </a:p>
          <a:p/>
          <a:p>
            <a:r>
              <a:t>Ghi chú: Số liệu Việt Nam chỉ là bối cảnh năm 2024, không phải thống kê năm hiện tại. Nhu cầu khám phá sản phẩm là động lực thiết kế, không phải kết quả khảo sát người dùng của đồ án. Nguồn Bộ Công Thương đăng ngày 18/02/2025.</a:t>
            </a:r>
          </a:p>
          <a:p/>
          <a:p>
            <a:r>
              <a:t>Nguồn tham khảo (URL hoặc đường dẫn trong D:/MerRec):</a:t>
            </a:r>
          </a:p>
          <a:p>
            <a:r>
              <a:t>https://moit.gov.vn/khoa-hoc-va-cong-nghe/thuong-mai-dien-tu-viet-nam-nam-2024-nhung-buoc-tien-va-thach-thuc.html</a:t>
            </a:r>
          </a:p>
          <a:p>
            <a:r>
              <a:t>https://arxiv.org/abs/2402.14230</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Vấn đề thực tiễn: tìm sản phẩm nào giữa catalog lớn?</a:t>
            </a:r>
          </a:p>
          <a:p/>
          <a:p>
            <a:r>
              <a:t>Người mua cần thu hẹp lựa chọn và tìm item phù hợp với mối quan tâm.</a:t>
            </a:r>
          </a:p>
          <a:p>
            <a:r>
              <a:t>Tìm kiếm theo từ khóa cần người dùng diễn đạt được nhu cầu; danh sách phổ biến không tự phản ánh sở thích riêng.</a:t>
            </a:r>
          </a:p>
          <a:p>
            <a:r>
              <a:t>Dữ liệu dự án có 30,05 triệu item nhưng 71,17% item có dưới 5 tương tác.</a:t>
            </a:r>
          </a:p>
          <a:p>
            <a:r>
              <a:t>84,55% sự kiện là view: cần khai thác cả lịch sử hành vi thay vì chỉ chờ tín hiệu mua.</a:t>
            </a:r>
          </a:p>
          <a:p/>
          <a:p>
            <a:r>
              <a:t>Ghi chú: Các hạn chế của tìm kiếm/phổ biến là phân tích thiết kế phương pháp; không khẳng định tất cả sàn thương mại điện tử đang hoạt động như vậy. Không suy ra conversion từ tỷ lệ event.</a:t>
            </a:r>
          </a:p>
          <a:p/>
          <a:p>
            <a:r>
              <a:t>Nguồn tham khảo (URL hoặc đường dẫn trong D:/MerRec):</a:t>
            </a:r>
          </a:p>
          <a:p>
            <a:r>
              <a:t>data/processed/eda_merrec_may/kernel_1752/tables/02_overview.csv</a:t>
            </a:r>
          </a:p>
          <a:p>
            <a:r>
              <a:t>data/processed/eda_merrec_may/kernel_1752/tables/06_cold_items.csv</a:t>
            </a:r>
          </a:p>
          <a:p>
            <a:r>
              <a:t>data/processed/recommender/tables/01_event_mapping.csv</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Lý do chọn đề tài</a:t>
            </a:r>
          </a:p>
          <a:p/>
          <a:p>
            <a:r>
              <a:t>Tính thực tiễn: hỗ trợ khám phá sản phẩm dựa trên nhu cầu và lịch sử người dùng.</a:t>
            </a:r>
          </a:p>
          <a:p>
            <a:r>
              <a:t>Tính học thuật: nghiên cứu implicit feedback, long-tail, cold-start và dữ liệu tuần tự trong C2C.</a:t>
            </a:r>
          </a:p>
          <a:p>
            <a:r>
              <a:t>Tính khả thi: MerRec có timestamp, nhiều hành vi và metadata để xây dựng thực nghiệm.</a:t>
            </a:r>
          </a:p>
          <a:p>
            <a:r>
              <a:t>Tính ứng dụng: kết nối quy trình dữ liệu, mô hình gợi ý và giao diện minh họa.</a:t>
            </a:r>
          </a:p>
          <a:p/>
          <a:p>
            <a:r>
              <a:t>Ghi chú: Đây là lý do lựa chọn và giá trị kỳ vọng của đề tài, không phải tuyên bố đồ án đã tăng doanh thu, giảm thời gian tìm kiếm hoặc hoàn tất tích hợp model.</a:t>
            </a:r>
          </a:p>
          <a:p/>
          <a:p>
            <a:r>
              <a:t>Nguồn tham khảo (URL hoặc đường dẫn trong D:/MerRec):</a:t>
            </a:r>
          </a:p>
          <a:p>
            <a:r>
              <a:t>https://arxiv.org/abs/2402.14230</a:t>
            </a:r>
          </a:p>
          <a:p>
            <a:r>
              <a:t>training/00_eda.ipynb</a:t>
            </a:r>
          </a:p>
          <a:p>
            <a:r>
              <a:t>training/01_preprocess.ipynb</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Mục tiêu, ý nghĩa và phạm vi nghiên cứu</a:t>
            </a:r>
          </a:p>
          <a:p/>
          <a:p>
            <a:r>
              <a:t>Mục tiêu tổng quát: xây dựng và đánh giá phương pháp gợi ý Top-K trên dữ liệu hành vi MerRec.</a:t>
            </a:r>
          </a:p>
          <a:p>
            <a:r>
              <a:t>Mục tiêu cụ thể: xử lý dữ liệu, EDA, tạo đặc trưng và thực nghiệm nhiều hướng mô hình.</a:t>
            </a:r>
          </a:p>
          <a:p>
            <a:r>
              <a:t>Ý nghĩa: hiểu tác động của dữ liệu thưa, cold-start và giao thức đánh giá tới chất lượng gợi ý.</a:t>
            </a:r>
          </a:p>
          <a:p>
            <a:r>
              <a:t>Phạm vi: lát dữ liệu tháng 05/2023, đánh giá offline; demo web tách riêng.</a:t>
            </a:r>
          </a:p>
          <a:p/>
          <a:p>
            <a:r>
              <a:t>Ghi chú: Không khẳng định ưu thế mô hình khi các thực nghiệm chưa thống nhất protocol. SASRec, DCN và LightGBM chưa hoàn tất; chưa có kiểm chứng hiệu quả kinh doanh hoặc A/B test.</a:t>
            </a:r>
          </a:p>
          <a:p/>
          <a:p>
            <a:r>
              <a:t>Nguồn tham khảo (URL hoặc đường dẫn trong D:/MerRec):</a:t>
            </a:r>
          </a:p>
          <a:p>
            <a:r>
              <a:t>training/00_eda.ipynb</a:t>
            </a:r>
          </a:p>
          <a:p>
            <a:r>
              <a:t>training/01_preprocess.ipynb</a:t>
            </a:r>
          </a:p>
          <a:p>
            <a:r>
              <a:t>training/models</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Bài toán gợi ý và các thách thức</a:t>
            </a:r>
          </a:p>
          <a:p/>
          <a:p>
            <a:r>
              <a:t>Đầu vào: lịch sử user, loại hành vi và metadata; đầu ra: danh sách Top-K item.</a:t>
            </a:r>
          </a:p>
          <a:p>
            <a:r>
              <a:t>Hai hướng nghiên cứu: truy hồi theo sở thích/nội dung và dự đoán item tiếp theo.</a:t>
            </a:r>
          </a:p>
          <a:p>
            <a:r>
              <a:t>Độ thưa user–item khoảng 99,999843%; 32,75% dòng TEST chứa cold item.</a:t>
            </a:r>
          </a:p>
          <a:p>
            <a:r>
              <a:t>Đánh giá Recall, HitRate, NDCG; chú ý coverage, tập user và candidate universe.</a:t>
            </a:r>
          </a:p>
          <a:p/>
          <a:p>
            <a:r>
              <a:t>Ghi chú: Gộp phát biểu bài toán và thách thức để dành thêm chỗ cho lý do chọn đề tài, giữ tổng 40 trang.</a:t>
            </a:r>
          </a:p>
          <a:p/>
          <a:p>
            <a:r>
              <a:t>Nguồn tham khảo (URL hoặc đường dẫn trong D:/MerRec):</a:t>
            </a:r>
          </a:p>
          <a:p>
            <a:r>
              <a:t>training/models/04_gru4rec.ipynb</a:t>
            </a:r>
          </a:p>
          <a:p>
            <a:r>
              <a:t>training/models/05_two_tower.ipynb</a:t>
            </a:r>
          </a:p>
          <a:p>
            <a:r>
              <a:t>data/processed/eda_merrec_may/kernel_1752/tables/12_matrix_sparsity.csv</a:t>
            </a:r>
          </a:p>
          <a:p>
            <a:r>
              <a:t>data/processed/recommender/tables/03_cold_start_summary.csv</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MerRec: quy mô và cấu trúc dữ liệu</a:t>
            </a:r>
          </a:p>
          <a:p/>
          <a:p>
            <a:r>
              <a:t>312 file Parquet, khoảng 21,57 GB; 174.872.167 tương tác trong lát dữ liệu tháng 05/2023.</a:t>
            </a:r>
          </a:p>
          <a:p>
            <a:r>
              <a:t>2.765.863 user; 30.054.040 item_id; 913.718 product_id duy nhất.</a:t>
            </a:r>
          </a:p>
          <a:p>
            <a:r>
              <a:t>Các nhóm trường: định danh; event/timestamp/session; tên, giá, category và thuộc tính item.</a:t>
            </a:r>
          </a:p>
          <a:p>
            <a:r>
              <a:t>Nguồn là nền tảng C2C Mercari; session EDA dùng cặp (user_id, session_id).</a:t>
            </a:r>
          </a:p>
          <a:p/>
          <a:p>
            <a:r>
              <a:t>Ghi chú: Dataset gốc trong bài báo bao phủ 6 tháng năm 2023; đồ án chỉ dùng lát tháng 05. Phân biệt item_id và product_id. 4.196.977 session_id khác 34.832.704 cặp (user_id, session_id).</a:t>
            </a:r>
          </a:p>
          <a:p/>
          <a:p>
            <a:r>
              <a:t>Nguồn tham khảo (URL hoặc đường dẫn trong D:/MerRec):</a:t>
            </a:r>
          </a:p>
          <a:p>
            <a:r>
              <a:t>https://arxiv.org/abs/2402.14230</a:t>
            </a:r>
          </a:p>
          <a:p>
            <a:r>
              <a:t>data/processed/eda_merrec_may/kernel_1752/tables/01_structure_summary.csv</a:t>
            </a:r>
          </a:p>
          <a:p>
            <a:r>
              <a:t>data/processed/eda_merrec_may/kernel_1752/tables/02_overview.csv</a:t>
            </a:r>
          </a:p>
          <a:p>
            <a:r>
              <a:t>data/processed/eda_merrec_may/kernel_1752/tables/01_union_schema.csv</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Sáu loại hành vi</a:t>
            </a:r>
          </a:p>
          <a:p/>
          <a:p>
            <a:r>
              <a:t>item_view → view; item_like → like.</a:t>
            </a:r>
          </a:p>
          <a:p>
            <a:r>
              <a:t>item_add_to_cart_tap → cart; offer_make → offer.</a:t>
            </a:r>
          </a:p>
          <a:p>
            <a:r>
              <a:t>buy_start → bắt đầu mua; buy_comp → hoàn tất mua.</a:t>
            </a:r>
          </a:p>
          <a:p>
            <a:r>
              <a:t>Đây là implicit feedback, không phải điểm rating.</a:t>
            </a:r>
          </a:p>
          <a:p/>
          <a:p>
            <a:r>
              <a:t>Nguồn tham khảo (URL hoặc đường dẫn trong D:/MerRec):</a:t>
            </a:r>
          </a:p>
          <a:p>
            <a:r>
              <a:t>data/processed/recommender/tables/01_event_mapping.csv</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Pipeline tiền xử lý</a:t>
            </a:r>
          </a:p>
          <a:p/>
          <a:p>
            <a:r>
              <a:t>Parquet → DuckDB raw view → chuẩn hóa ID, timestamp, event và metadata.</a:t>
            </a:r>
          </a:p>
          <a:p>
            <a:r>
              <a:t>Lọc bản ghi không hợp lệ → khử trùng → chia theo thời gian.</a:t>
            </a:r>
          </a:p>
          <a:p>
            <a:r>
              <a:t>Xuất interactions, train-only ID maps, catalog và implicit-feedback pairs.</a:t>
            </a:r>
          </a:p>
          <a:p>
            <a:r>
              <a:t>Tạo popularity/trending và các cohort cold-start.</a:t>
            </a:r>
          </a:p>
          <a:p/>
          <a:p>
            <a:r>
              <a:t>Ghi chú: DuckDB VIEW và xử lý theo batch tránh nạp toàn bộ raw vào Pandas.</a:t>
            </a:r>
          </a:p>
          <a:p/>
          <a:p>
            <a:r>
              <a:t>Nguồn tham khảo (URL hoặc đường dẫn trong D:/MerRec):</a:t>
            </a:r>
          </a:p>
          <a:p>
            <a:r>
              <a:t>training/01_preprocess.ipynb</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Làm sạch và khử trùng</a:t>
            </a:r>
          </a:p>
          <a:p/>
          <a:p>
            <a:r>
              <a:t>Chuẩn hóa ID thành chuỗi; trim; đọc timestamp theo kiểu dữ liệu nguồn.</a:t>
            </a:r>
          </a:p>
          <a:p>
            <a:r>
              <a:t>Lọc thiếu user_id/item_id/timestamp và event không hỗ trợ.</a:t>
            </a:r>
          </a:p>
          <a:p>
            <a:r>
              <a:t>Khóa khử trùng: user, item, event, timestamp, session và sequence.</a:t>
            </a:r>
          </a:p>
          <a:p>
            <a:r>
              <a:t>174.872.167 → 174.725.659 dòng; tổng giảm 146.508 dòng.</a:t>
            </a:r>
          </a:p>
          <a:p/>
          <a:p>
            <a:r>
              <a:t>Ghi chú: 146.508 là chênh lệch raw và tổng split đã lưu. Không thay bằng 152.779 từ chẩn đoán duplicate-key EDA vì khóa khác nhau.</a:t>
            </a:r>
          </a:p>
          <a:p/>
          <a:p>
            <a:r>
              <a:t>Nguồn tham khảo (URL hoặc đường dẫn trong D:/MerRec):</a:t>
            </a:r>
          </a:p>
          <a:p>
            <a:r>
              <a:t>training/01_preprocess.ipynb</a:t>
            </a:r>
          </a:p>
          <a:p>
            <a:r>
              <a:t>data/processed/recommender/tables/02_split_summary.csv</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Xử lý metadata thiếu</a:t>
            </a:r>
          </a:p>
          <a:p/>
          <a:p>
            <a:r>
              <a:t>Color thiếu 95,61%; size_name 62,74%; brand_name 19,20%.</a:t>
            </a:r>
          </a:p>
          <a:p>
            <a:r>
              <a:t>Danh mục thiếu lấy cấp cha; brand/condition/shipper dùng __UNK__.</a:t>
            </a:r>
          </a:p>
          <a:p>
            <a:r>
              <a:t>Size giữ NULL lúc chuẩn hóa; color không xuất vào interactions train/val/test.</a:t>
            </a:r>
          </a:p>
          <a:p>
            <a:r>
              <a:t>Giữ lại hành vi hữu ích khi chỉ thiếu metadata tùy chọn.</a:t>
            </a:r>
          </a:p>
          <a:p/>
          <a:p>
            <a:r>
              <a:t>Ghi chú: Tỷ lệ thiếu tính theo dòng tương tác. Không suy ra mọi field đều đã xuất vào serving catalog.</a:t>
            </a:r>
          </a:p>
          <a:p/>
          <a:p>
            <a:r>
              <a:t>Nguồn tham khảo (URL hoặc đường dẫn trong D:/MerRec):</a:t>
            </a:r>
          </a:p>
          <a:p>
            <a:r>
              <a:t>data/processed/eda_merrec_may/kernel_1752/tables/03_missing.csv</a:t>
            </a:r>
          </a:p>
          <a:p>
            <a:r>
              <a:t>training/01_preprocess.ipynb</a:t>
            </a:r>
          </a:p>
          <a:p/>
          <a:p>
            <a:r>
              <a:t>Ảnh: 03_missing_percentage.png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Chia TRAIN / VAL / TEST theo thời gian</a:t>
            </a:r>
          </a:p>
          <a:p/>
          <a:p>
            <a:r>
              <a:t>TRAIN 01–25/05: 145.998.253 tương tác.</a:t>
            </a:r>
          </a:p>
          <a:p>
            <a:r>
              <a:t>VAL 26–28/05: 16.885.121 tương tác.</a:t>
            </a:r>
          </a:p>
          <a:p>
            <a:r>
              <a:t>TEST 29–31/05: 11.842.285 tương tác; kết thúc 31/05 lúc 00:00:00.</a:t>
            </a:r>
          </a:p>
          <a:p>
            <a:r>
              <a:t>Integrity đã lưu: TRAIN trước VAL, VAL trước TEST.</a:t>
            </a:r>
          </a:p>
          <a:p/>
          <a:p>
            <a:r>
              <a:t>Ghi chú: Ngày cuối không đầy đủ. Split đúng thứ tự chưa chứng minh mọi khâu metadata/mô hình đều không leakage.</a:t>
            </a:r>
          </a:p>
          <a:p/>
          <a:p>
            <a:r>
              <a:t>Nguồn tham khảo (URL hoặc đường dẫn trong D:/MerRec):</a:t>
            </a:r>
          </a:p>
          <a:p>
            <a:r>
              <a:t>data/processed/recommender/tables/02_split_summary.csv</a:t>
            </a:r>
          </a:p>
          <a:p>
            <a:r>
              <a:t>data/processed/recommender/tables/09_split_integrity.csv</a:t>
            </a:r>
          </a:p>
          <a:p/>
          <a:p>
            <a:r>
              <a:t>Ảnh: s13_temporal_split.png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ID mapping và cold-start</a:t>
            </a:r>
          </a:p>
          <a:p/>
          <a:p>
            <a:r>
              <a:t>Mapping từ TRAIN: 2.581.378 user; 27.328.461 item.</a:t>
            </a:r>
          </a:p>
          <a:p>
            <a:r>
              <a:t>TEST cold-user 6,35%; cold-item 32,75%; cả hai cold 1,64% số dòng.</a:t>
            </a:r>
          </a:p>
          <a:p>
            <a:r>
              <a:t>Tách cohort warm, cold-user, cold-item và cold-both.</a:t>
            </a:r>
          </a:p>
          <a:p>
            <a:r>
              <a:t>Cần phương án fallback cho trường hợp thiếu lịch sử.</a:t>
            </a:r>
          </a:p>
          <a:p/>
          <a:p>
            <a:r>
              <a:t>Ghi chú: Cold-user và cold-item trong biểu đồ có giao nhau; không cộng ba cột thành tổng.</a:t>
            </a:r>
          </a:p>
          <a:p/>
          <a:p>
            <a:r>
              <a:t>Nguồn tham khảo (URL hoặc đường dẫn trong D:/MerRec):</a:t>
            </a:r>
          </a:p>
          <a:p>
            <a:r>
              <a:t>data/processed/recommender/tables/03_cold_start_summary.csv</a:t>
            </a:r>
          </a:p>
          <a:p>
            <a:r>
              <a:t>data/processed/recommender/tables/04_cf_train_summary.csv</a:t>
            </a:r>
          </a:p>
          <a:p/>
          <a:p>
            <a:r>
              <a:t>Ảnh: s14_cold_start.png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EDA: mất cân bằng hành vi</a:t>
            </a:r>
          </a:p>
          <a:p/>
          <a:p>
            <a:r>
              <a:t>View 84,551%; like 12,736%; cart 1,656%.</a:t>
            </a:r>
          </a:p>
          <a:p>
            <a:r>
              <a:t>Offer 0,700%; buy_start 0,247%; buy_comp 0,109%.</a:t>
            </a:r>
          </a:p>
          <a:p>
            <a:r>
              <a:t>Tín hiệu mua hoàn tất rất hiếm so với lượt xem.</a:t>
            </a:r>
          </a:p>
          <a:p>
            <a:r>
              <a:t>Cần khai thác nhiều hành vi và báo cáo target mua hàng riêng.</a:t>
            </a:r>
          </a:p>
          <a:p/>
          <a:p>
            <a:r>
              <a:t>Ghi chú: Ảnh vẽ lại theo mapping đúng của preprocessing. Tỷ lệ đếm hành vi không phải conversion rate; không dùng funnel cũ có cart=0.</a:t>
            </a:r>
          </a:p>
          <a:p/>
          <a:p>
            <a:r>
              <a:t>Nguồn tham khảo (URL hoặc đường dẫn trong D:/MerRec):</a:t>
            </a:r>
          </a:p>
          <a:p>
            <a:r>
              <a:t>data/processed/recommender/tables/01_event_mapping.csv</a:t>
            </a:r>
          </a:p>
          <a:p/>
          <a:p>
            <a:r>
              <a:t>Ảnh: s15_event_mapping_corrected.png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EDA: người dùng có phân bố dài đuôi</a:t>
            </a:r>
          </a:p>
          <a:p/>
          <a:p>
            <a:r>
              <a:t>Trung bình 63,23 tương tác/user nhưng trung vị chỉ 12.</a:t>
            </a:r>
          </a:p>
          <a:p>
            <a:r>
              <a:t>P95=275; P99=791; cực đại=29.597.</a:t>
            </a:r>
          </a:p>
          <a:p>
            <a:r>
              <a:t>13,31% user có đúng một tương tác; 31,36% có dưới 5.</a:t>
            </a:r>
          </a:p>
          <a:p>
            <a:r>
              <a:t>Cần xử lý cả ít lịch sử và hoạt động rất mạnh.</a:t>
            </a:r>
          </a:p>
          <a:p/>
          <a:p>
            <a:r>
              <a:t>Ghi chú: Ảnh histogram dùng mẫu 100.000 user. Thống kê tóm tắt tính trên toàn bộ user.</a:t>
            </a:r>
          </a:p>
          <a:p/>
          <a:p>
            <a:r>
              <a:t>Nguồn tham khảo (URL hoặc đường dẫn trong D:/MerRec):</a:t>
            </a:r>
          </a:p>
          <a:p>
            <a:r>
              <a:t>data/processed/eda_merrec_may/kernel_1752/tables/05_user_summary.csv</a:t>
            </a:r>
          </a:p>
          <a:p>
            <a:r>
              <a:t>data/processed/eda_merrec_may/kernel_1752/tables/05_user_thresholds.csv</a:t>
            </a:r>
          </a:p>
          <a:p/>
          <a:p>
            <a:r>
              <a:t>Ảnh: 05_user_interactions_log.png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EDA: long-tail của sản phẩm</a:t>
            </a:r>
          </a:p>
          <a:p/>
          <a:p>
            <a:r>
              <a:t>Trung vị 2 tương tác/item; trung bình 5,82.</a:t>
            </a:r>
          </a:p>
          <a:p>
            <a:r>
              <a:t>38,80% item có dưới 2 tương tác; 71,17% có dưới 5.</a:t>
            </a:r>
          </a:p>
          <a:p>
            <a:r>
              <a:t>85,59% item có dưới 10 tương tác.</a:t>
            </a:r>
          </a:p>
          <a:p>
            <a:r>
              <a:t>Cần quan tâm tới item ít dữ liệu, không chỉ item phổ biến.</a:t>
            </a:r>
          </a:p>
          <a:p/>
          <a:p>
            <a:r>
              <a:t>Ghi chú: Histogram dùng mẫu 100.000 item. Không tự kết luận quy luật 80/20 hoặc dùng view_only_items từ mapping EDA cũ.</a:t>
            </a:r>
          </a:p>
          <a:p/>
          <a:p>
            <a:r>
              <a:t>Nguồn tham khảo (URL hoặc đường dẫn trong D:/MerRec):</a:t>
            </a:r>
          </a:p>
          <a:p>
            <a:r>
              <a:t>data/processed/eda_merrec_may/kernel_1752/tables/06_item_summary.csv</a:t>
            </a:r>
          </a:p>
          <a:p>
            <a:r>
              <a:t>data/processed/eda_merrec_may/kernel_1752/tables/06_cold_items.csv</a:t>
            </a:r>
          </a:p>
          <a:p/>
          <a:p>
            <a:r>
              <a:t>Ảnh: 06_item_interactions_log.png, 06_popularity_pareto.png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EDA: các phiên tương tác thường ngắn</a:t>
            </a:r>
          </a:p>
          <a:p/>
          <a:p>
            <a:r>
              <a:t>34.832.704 session theo cặp (user_id, session_id).</a:t>
            </a:r>
          </a:p>
          <a:p>
            <a:r>
              <a:t>Trung vị 2 tương tác; P95=18; P99=39.</a:t>
            </a:r>
          </a:p>
          <a:p>
            <a:r>
              <a:t>Trung vị thời lượng 37 giây; P95=890 giây.</a:t>
            </a:r>
          </a:p>
          <a:p>
            <a:r>
              <a:t>Hành vi gần nhất là nguồn ngữ cảnh đáng thử nghiệm.</a:t>
            </a:r>
          </a:p>
          <a:p/>
          <a:p>
            <a:r>
              <a:t>Ghi chú: Histogram dùng mẫu 100.000 session. Không dùng pct_has_cart=0 từ EDA cũ. EDA không tự chứng minh mô hình chuỗi tốt hơn.</a:t>
            </a:r>
          </a:p>
          <a:p/>
          <a:p>
            <a:r>
              <a:t>Nguồn tham khảo (URL hoặc đường dẫn trong D:/MerRec):</a:t>
            </a:r>
          </a:p>
          <a:p>
            <a:r>
              <a:t>data/processed/eda_merrec_may/kernel_1752/tables/07_session_summary.csv</a:t>
            </a:r>
          </a:p>
          <a:p/>
          <a:p>
            <a:r>
              <a:t>Ảnh: 07_session_length.png, 07_session_duration.png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EDA: thời gian và biên dữ liệu</a:t>
            </a:r>
          </a:p>
          <a:p/>
          <a:p>
            <a:r>
              <a:t>01–30/05 có khoảng 5,54–6,29 triệu tương tác/ngày.</a:t>
            </a:r>
          </a:p>
          <a:p>
            <a:r>
              <a:t>31/05 chỉ có 88 sự kiện: không phải ngày quan sát đầy đủ.</a:t>
            </a:r>
          </a:p>
          <a:p>
            <a:r>
              <a:t>Mọi phân tích giờ dùng UTC.</a:t>
            </a:r>
          </a:p>
          <a:p>
            <a:r>
              <a:t>Cần đọc đúng biên dữ liệu trước khi diễn giải xu hướng.</a:t>
            </a:r>
          </a:p>
          <a:p/>
          <a:p>
            <a:r>
              <a:t>Ghi chú: Không kết luận nhu cầu thị trường sụt giảm vào 31/05. Không đổi giờ UTC thành giờ địa phương nếu chưa xác nhận.</a:t>
            </a:r>
          </a:p>
          <a:p/>
          <a:p>
            <a:r>
              <a:t>Nguồn tham khảo (URL hoặc đường dẫn trong D:/MerRec):</a:t>
            </a:r>
          </a:p>
          <a:p>
            <a:r>
              <a:t>data/processed/eda_merrec_may/kernel_1752/tables/09_daily.csv</a:t>
            </a:r>
          </a:p>
          <a:p/>
          <a:p>
            <a:r>
              <a:t>Ảnh: 09_daily_interactions.png, 09_day_hour_heatmap.png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EDA: mức độ quan tâm theo danh mục</a:t>
            </a:r>
          </a:p>
          <a:p/>
          <a:p>
            <a:r>
              <a:t>Women: 59.154.207 tương tác, khoảng 33,83% toàn bộ.</a:t>
            </a:r>
          </a:p>
          <a:p>
            <a:r>
              <a:t>Toys &amp; Collectibles: 32.901.840; Men: 15.672.537.</a:t>
            </a:r>
          </a:p>
          <a:p>
            <a:r>
              <a:t>Category1 nổi bật gồm Shoes và Women’s handbags.</a:t>
            </a:r>
          </a:p>
          <a:p>
            <a:r>
              <a:t>Category phân cấp là nguồn đặc trưng cho nội dung và retrieval.</a:t>
            </a:r>
          </a:p>
          <a:p/>
          <a:p>
            <a:r>
              <a:t>Ghi chú: Biểu đồ là số tương tác; không phải số item, số người mua hoặc thị phần.</a:t>
            </a:r>
          </a:p>
          <a:p/>
          <a:p>
            <a:r>
              <a:t>Nguồn tham khảo (URL hoặc đường dẫn trong D:/MerRec):</a:t>
            </a:r>
          </a:p>
          <a:p>
            <a:r>
              <a:t>data/processed/eda_merrec_may/kernel_1752/tables/10_top_category0.csv</a:t>
            </a:r>
          </a:p>
          <a:p>
            <a:r>
              <a:t>data/processed/eda_merrec_may/kernel_1752/tables/10_top_category1.csv</a:t>
            </a:r>
          </a:p>
          <a:p/>
          <a:p>
            <a:r>
              <a:t>Ảnh: 10_top_category0.png, 10_top_category1.png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EDA: phân bố giá lệch phải</a:t>
            </a:r>
          </a:p>
          <a:p/>
          <a:p>
            <a:r>
              <a:t>Giá trung bình 62,69; trung vị 25; P95=225; P99=636.</a:t>
            </a:r>
          </a:p>
          <a:p>
            <a:r>
              <a:t>Khoảng giá quan sát 1–5.000, theo đơn vị gốc của dataset.</a:t>
            </a:r>
          </a:p>
          <a:p>
            <a:r>
              <a:t>11,51% dòng ngoài ngưỡng IQR; không đồng nghĩa đều là lỗi.</a:t>
            </a:r>
          </a:p>
          <a:p>
            <a:r>
              <a:t>Two-Tower dùng log(1+price), sau đó chuẩn hóa mean/std.</a:t>
            </a:r>
          </a:p>
          <a:p/>
          <a:p>
            <a:r>
              <a:t>Ghi chú: Thống kê theo dòng tương tác, không phải item duy nhất. Không tự quy đổi tiền tệ.</a:t>
            </a:r>
          </a:p>
          <a:p/>
          <a:p>
            <a:r>
              <a:t>Nguồn tham khảo (URL hoặc đường dẫn trong D:/MerRec):</a:t>
            </a:r>
          </a:p>
          <a:p>
            <a:r>
              <a:t>data/processed/eda_merrec_may/kernel_1752/tables/11_price_stats.csv</a:t>
            </a:r>
          </a:p>
          <a:p>
            <a:r>
              <a:t>data/processed/eda_merrec_may/kernel_1752/tables/11_price_outliers.csv</a:t>
            </a:r>
          </a:p>
          <a:p>
            <a:r>
              <a:t>training/models/05_two_tower.ipynb</a:t>
            </a:r>
          </a:p>
          <a:p/>
          <a:p>
            <a:r>
              <a:t>Ảnh: 11_price_log_hist.png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Từ EDA đến quyết định mô hình hóa</a:t>
            </a:r>
          </a:p>
          <a:p/>
          <a:p>
            <a:r>
              <a:t>130.233.126 cặp user–item duy nhất; độ thưa 99,999843%.</a:t>
            </a:r>
          </a:p>
          <a:p>
            <a:r>
              <a:t>25,53% phần tương tác là lặp thêm trên các cặp đã có.</a:t>
            </a:r>
          </a:p>
          <a:p>
            <a:r>
              <a:t>Dữ liệu thưa → thử implicit CF, metadata và chuỗi hành vi.</a:t>
            </a:r>
          </a:p>
          <a:p>
            <a:r>
              <a:t>One-pass 5-core loại 22,33% tương tác trong chẩn đoán.</a:t>
            </a:r>
          </a:p>
          <a:p/>
          <a:p>
            <a:r>
              <a:t>Ghi chú: One-pass k-core chưa phải thuật toán k-core lặp tới hội tụ và không phải bước lọc đã áp dụng trong preprocessing cuối.</a:t>
            </a:r>
          </a:p>
          <a:p/>
          <a:p>
            <a:r>
              <a:t>Nguồn tham khảo (URL hoặc đường dẫn trong D:/MerRec):</a:t>
            </a:r>
          </a:p>
          <a:p>
            <a:r>
              <a:t>data/processed/eda_merrec_may/kernel_1752/tables/12_matrix_sparsity.csv</a:t>
            </a:r>
          </a:p>
          <a:p>
            <a:r>
              <a:t>data/processed/eda_merrec_may/kernel_1752/tables/12_repeated_interactions.csv</a:t>
            </a:r>
          </a:p>
          <a:p>
            <a:r>
              <a:t>data/processed/eda_merrec_may/kernel_1752/tables/12_k_core_one_pass.csv</a:t>
            </a:r>
          </a:p>
          <a:p/>
          <a:p>
            <a:r>
              <a:t>Ảnh: 12_k_core_removed.png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Implicit feedback có trọng số</a:t>
            </a:r>
          </a:p>
          <a:p/>
          <a:p>
            <a:r>
              <a:t>view=1; like=2; cart=4; offer=5; buy_start=7; buy_comp=10.</a:t>
            </a:r>
          </a:p>
          <a:p>
            <a:r>
              <a:t>implicit_score(u,i) = tổng trọng số sự kiện của cặp user–item.</a:t>
            </a:r>
          </a:p>
          <a:p>
            <a:r>
              <a:t>Lưu thêm số hành vi từng loại và thời điểm tương tác cuối.</a:t>
            </a:r>
          </a:p>
          <a:p>
            <a:r>
              <a:t>TRAIN tổng hợp thành 109.718.519 cặp user–item.</a:t>
            </a:r>
          </a:p>
          <a:p/>
          <a:p>
            <a:r>
              <a:t>Ghi chú: Trọng số là cấu hình của dự án, không phải giá trị mô hình tự học.</a:t>
            </a:r>
          </a:p>
          <a:p/>
          <a:p>
            <a:r>
              <a:t>Nguồn tham khảo (URL hoặc đường dẫn trong D:/MerRec):</a:t>
            </a:r>
          </a:p>
          <a:p>
            <a:r>
              <a:t>training/01_preprocess.ipynb</a:t>
            </a:r>
          </a:p>
          <a:p>
            <a:r>
              <a:t>data/processed/recommender/tables/04_cf_train_summary.csv</a:t>
            </a:r>
          </a:p>
          <a:p/>
          <a:p>
            <a:r>
              <a:t>Ảnh: s23_event_weights.png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Biểu diễn nội dung và metadata</a:t>
            </a:r>
          </a:p>
          <a:p/>
          <a:p>
            <a:r>
              <a:t>Content-Based: Hashing TF-IDF 262.144 chiều, unigram và bigram.</a:t>
            </a:r>
          </a:p>
          <a:p>
            <a:r>
              <a:t>Văn bản: name, category0/1/2, brand, condition.</a:t>
            </a:r>
          </a:p>
          <a:p>
            <a:r>
              <a:t>Two-Tower: hash 7 trường metadata thành embedding, ghép price_z.</a:t>
            </a:r>
          </a:p>
          <a:p>
            <a:r>
              <a:t>Hashing và batch processing giúp kiểm soát bộ nhớ.</a:t>
            </a:r>
          </a:p>
          <a:p/>
          <a:p>
            <a:r>
              <a:t>Ghi chú: Content-Based dùng full metadata catalog; cần ghi rõ giới hạn đánh giá thời gian khi bàn kết quả.</a:t>
            </a:r>
          </a:p>
          <a:p/>
          <a:p>
            <a:r>
              <a:t>Nguồn tham khảo (URL hoặc đường dẫn trong D:/MerRec):</a:t>
            </a:r>
          </a:p>
          <a:p>
            <a:r>
              <a:t>training/models/01_content_based.ipynb</a:t>
            </a:r>
          </a:p>
          <a:p>
            <a:r>
              <a:t>training/models/05_two_tower.ipynb</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Chuỗi item và hành vi cho GRU4Rec</a:t>
            </a:r>
          </a:p>
          <a:p/>
          <a:p>
            <a:r>
              <a:t>Lịch sử được sắp theo thời gian; mỗi bước có item và loại hành vi.</a:t>
            </a:r>
          </a:p>
          <a:p>
            <a:r>
              <a:t>Item embedding 32 chiều; event embedding 16 chiều.</a:t>
            </a:r>
          </a:p>
          <a:p>
            <a:r>
              <a:t>Độ dài cấu hình tối đa 100; PAD=0, OOV=1.</a:t>
            </a:r>
          </a:p>
          <a:p>
            <a:r>
              <a:t>Nhãn là item tiếp theo; hành vi là feature đầu vào.</a:t>
            </a:r>
          </a:p>
          <a:p/>
          <a:p>
            <a:r>
              <a:t>Ghi chú: Chuỗi trên là ví dụ mô tả phương pháp, không phải dữ liệu thật của một người dùng.</a:t>
            </a:r>
          </a:p>
          <a:p/>
          <a:p>
            <a:r>
              <a:t>Nguồn tham khảo (URL hoặc đường dẫn trong D:/MerRec):</a:t>
            </a:r>
          </a:p>
          <a:p>
            <a:r>
              <a:t>training/models/04_gru4rec.ipynb</a:t>
            </a:r>
          </a:p>
          <a:p>
            <a:r>
              <a:t>artifacts/merrec_models/GRU4Rec/serving/gru4rec_config.json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Các nhóm mô hình và phạm vi thực nghiệm</a:t>
            </a:r>
          </a:p>
          <a:p/>
          <a:p>
            <a:r>
              <a:t>Baseline/fallback: Popularity, Trending; đã có snapshot.</a:t>
            </a:r>
          </a:p>
          <a:p>
            <a:r>
              <a:t>Theo nội dung/đồng xuất hiện: Content-Based, Co-visitation.</a:t>
            </a:r>
          </a:p>
          <a:p>
            <a:r>
              <a:t>Học biểu diễn: ALS, GRU4Rec, Two-Tower.</a:t>
            </a:r>
          </a:p>
          <a:p>
            <a:r>
              <a:t>Chưa có kết quả để báo cáo: SASRec, DCN, LightGBM Ranker.</a:t>
            </a:r>
          </a:p>
          <a:p/>
          <a:p>
            <a:r>
              <a:t>Ghi chú: Theo xác nhận người dùng, không đưa metric cũ của SASRec và không tạo kết quả cho DCN/LightGBM. Popularity/Trending không đưa vào bảng metric khi chưa có báo cáo tương ứng.</a:t>
            </a:r>
          </a:p>
          <a:p/>
          <a:p>
            <a:r>
              <a:t>Nguồn tham khảo (URL hoặc đường dẫn trong D:/MerRec):</a:t>
            </a:r>
          </a:p>
          <a:p>
            <a:r>
              <a:t>training/models</a:t>
            </a:r>
          </a:p>
          <a:p>
            <a:r>
              <a:t>artifacts/merrec_models</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Popularity và Trending</a:t>
            </a:r>
          </a:p>
          <a:p/>
          <a:p>
            <a:r>
              <a:t>Popularity tổng hợp mức tương tác có trọng số theo item.</a:t>
            </a:r>
          </a:p>
          <a:p>
            <a:r>
              <a:t>Trending giảm ảnh hưởng sự kiện cũ với half-life 3 ngày.</a:t>
            </a:r>
          </a:p>
          <a:p>
            <a:r>
              <a:t>Điểm trending = Σ weight × 0,5^(tuổi sự kiện/3 ngày).</a:t>
            </a:r>
          </a:p>
          <a:p>
            <a:r>
              <a:t>Snapshot TRAIN dùng offline; snapshot processed toàn bộ phục vụ catalog/demo.</a:t>
            </a:r>
          </a:p>
          <a:p/>
          <a:p>
            <a:r>
              <a:t>Ghi chú: Không dùng snapshot toàn thời gian để báo cáo chất lượng dự đoán quá khứ.</a:t>
            </a:r>
          </a:p>
          <a:p/>
          <a:p>
            <a:r>
              <a:t>Nguồn tham khảo (URL hoặc đường dẫn trong D:/MerRec):</a:t>
            </a:r>
          </a:p>
          <a:p>
            <a:r>
              <a:t>training/01_preprocess.ipynb</a:t>
            </a:r>
          </a:p>
          <a:p>
            <a:r>
              <a:t>training/models/00_popularity_trending.ipynb</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Content-Based: gợi ý từ hồ sơ nội dung</a:t>
            </a:r>
          </a:p>
          <a:p/>
          <a:p>
            <a:r>
              <a:t>Sản phẩm được biểu diễn bằng Hashing TF-IDF và các thành phần điểm trong notebook.</a:t>
            </a:r>
          </a:p>
          <a:p>
            <a:r>
              <a:t>Hồ sơ user dùng tối đa 100 item lịch sử, recency decay 0,97.</a:t>
            </a:r>
          </a:p>
          <a:p>
            <a:r>
              <a:t>So khớp vector chuẩn hóa; tìm qua các shard; lọc item đã xem.</a:t>
            </a:r>
          </a:p>
          <a:p>
            <a:r>
              <a:t>VAL dùng lịch sử TRAIN; TEST dùng lịch sử TRAIN+VAL.</a:t>
            </a:r>
          </a:p>
          <a:p/>
          <a:p>
            <a:r>
              <a:t>Ghi chú: Catalog metadata và IDF dùng cả catalog đầy đủ, gồm các split. Không coi là benchmark thời gian nghiêm ngặt tương đương train-only metadata.</a:t>
            </a:r>
          </a:p>
          <a:p/>
          <a:p>
            <a:r>
              <a:t>Nguồn tham khảo (URL hoặc đường dẫn trong D:/MerRec):</a:t>
            </a:r>
          </a:p>
          <a:p>
            <a:r>
              <a:t>training/models/01_content_based.ipynb</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Co-visitation: quan hệ đồng xuất hiện</a:t>
            </a:r>
          </a:p>
          <a:p/>
          <a:p>
            <a:r>
              <a:t>Chia session bucket → tạo cặp sliding window → reduce Top-K.</a:t>
            </a:r>
          </a:p>
          <a:p>
            <a:r>
              <a:t>Best VAL: history_items=30, decay=0,9.</a:t>
            </a:r>
          </a:p>
          <a:p>
            <a:r>
              <a:t>reverse_weight=0,4; popularity_penalty=0,1; window=5; model_topk=250.</a:t>
            </a:r>
          </a:p>
          <a:p>
            <a:r>
              <a:t>Refit TRAIN+VAL sau tuning, rồi đánh giá TEST.</a:t>
            </a:r>
          </a:p>
          <a:p/>
          <a:p>
            <a:r>
              <a:t>Nguồn tham khảo (URL hoặc đường dẫn trong D:/MerRec):</a:t>
            </a:r>
          </a:p>
          <a:p>
            <a:r>
              <a:t>training/models/02_covisitation.ipynb</a:t>
            </a:r>
          </a:p>
          <a:p>
            <a:r>
              <a:t>training/checkpoints/covisitation/polars_v2/tuning/best_config.json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ALS: collaborative filtering cho implicit data</a:t>
            </a:r>
          </a:p>
          <a:p/>
          <a:p>
            <a:r>
              <a:t>Học vector ẩn user và item từ ma trận tương tác thưa.</a:t>
            </a:r>
          </a:p>
          <a:p>
            <a:r>
              <a:t>Artifact: factors=32, regularization=0,15, alpha=40, iterations=12.</a:t>
            </a:r>
          </a:p>
          <a:p>
            <a:r>
              <a:t>Chọn cấu hình bằng POSITIVE NDCG@20 trên VAL.</a:t>
            </a:r>
          </a:p>
          <a:p>
            <a:r>
              <a:t>Polars/PyArrow và CSR trên đĩa giúp kiểm soát bộ nhớ.</a:t>
            </a:r>
          </a:p>
          <a:p/>
          <a:p>
            <a:r>
              <a:t>Nguồn tham khảo (URL hoặc đường dẫn trong D:/MerRec):</a:t>
            </a:r>
          </a:p>
          <a:p>
            <a:r>
              <a:t>training/models/03_als.ipynb</a:t>
            </a:r>
          </a:p>
          <a:p>
            <a:r>
              <a:t>artifacts/merrec_models/ALS/serving/als_config.json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GRU4Rec: học thứ tự và loại hành vi</a:t>
            </a:r>
          </a:p>
          <a:p/>
          <a:p>
            <a:r>
              <a:t>Ghép item/event embedding → GRU 2 lớp, hidden_dim=128.</a:t>
            </a:r>
          </a:p>
          <a:p>
            <a:r>
              <a:t>Dự đoán item tiếp theo với sampled softmax; cấu hình train 64 negatives.</a:t>
            </a:r>
          </a:p>
          <a:p>
            <a:r>
              <a:t>Item embedding đặt CPU; GRU/dense được thiết kế chạy GPU.</a:t>
            </a:r>
          </a:p>
          <a:p>
            <a:r>
              <a:t>Metric đang có là sampled validation, không phải full-catalog TEST.</a:t>
            </a:r>
          </a:p>
          <a:p/>
          <a:p>
            <a:r>
              <a:t>Ghi chú: Catalog TRAIN đầy đủ không có nghĩa metric được đo trên toàn catalog. Không khẳng định index đã tồn tại chỉ từ serving config.</a:t>
            </a:r>
          </a:p>
          <a:p/>
          <a:p>
            <a:r>
              <a:t>Nguồn tham khảo (URL hoặc đường dẫn trong D:/MerRec):</a:t>
            </a:r>
          </a:p>
          <a:p>
            <a:r>
              <a:t>training/models/04_gru4rec.ipynb</a:t>
            </a:r>
          </a:p>
          <a:p>
            <a:r>
              <a:t>artifacts/merrec_models/GRU4Rec/metrics/train_history.json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Two-Tower: biểu diễn user và item</a:t>
            </a:r>
          </a:p>
          <a:p/>
          <a:p>
            <a:r>
              <a:t>User tower: user embedding 64 chiều.</a:t>
            </a:r>
          </a:p>
          <a:p>
            <a:r>
              <a:t>Item tower: 7 metadata embedding ×16 chiều + price_z → MLP 256 → 64.</a:t>
            </a:r>
          </a:p>
          <a:p>
            <a:r>
              <a:t>Chuẩn hóa vector; in-batch negatives và symmetric InfoNCE.</a:t>
            </a:r>
          </a:p>
          <a:p>
            <a:r>
              <a:t>Summary ghi FAISS index chứa 27.328.461 TRAIN item.</a:t>
            </a:r>
          </a:p>
          <a:p/>
          <a:p>
            <a:r>
              <a:t>Ghi chú: Không suy ra website đã phục vụ bằng model này. Cold-user fallback là vấn đề cần tích hợp/kiểm chứng.</a:t>
            </a:r>
          </a:p>
          <a:p/>
          <a:p>
            <a:r>
              <a:t>Nguồn tham khảo (URL hoặc đường dẫn trong D:/MerRec):</a:t>
            </a:r>
          </a:p>
          <a:p>
            <a:r>
              <a:t>training/models/05_two_tower.ipynb</a:t>
            </a:r>
          </a:p>
          <a:p>
            <a:r>
              <a:t>artifacts/merrec_models/TwoTower/serving/twotower_config.json</a:t>
            </a:r>
          </a:p>
          <a:p>
            <a:r>
              <a:t>artifacts/merrec_models/TwoTower/metrics/summary.json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Thiết lập huấn luyện</a:t>
            </a:r>
          </a:p>
          <a:p/>
          <a:p>
            <a:r>
              <a:t>ALS: 32 factors, 12 iterations; chọn theo POSITIVE NDCG@20.</a:t>
            </a:r>
          </a:p>
          <a:p>
            <a:r>
              <a:t>GRU4Rec: batch=128, tối đa 1 triệu windows/epoch; history có 8 epoch.</a:t>
            </a:r>
          </a:p>
          <a:p>
            <a:r>
              <a:t>Two-Tower: batch=2.048; history có 15 epoch; best ở epoch 15.</a:t>
            </a:r>
          </a:p>
          <a:p>
            <a:r>
              <a:t>Đọc theo batch/row-group, lưu checkpoint và hỗ trợ resume.</a:t>
            </a:r>
          </a:p>
          <a:p/>
          <a:p>
            <a:r>
              <a:t>Ghi chú: Không tự nêu GPU, thời gian toàn bộ training hoặc số epoch full-pass chưa xác minh. GRU bị giới hạn windows mỗi epoch.</a:t>
            </a:r>
          </a:p>
          <a:p/>
          <a:p>
            <a:r>
              <a:t>Nguồn tham khảo (URL hoặc đường dẫn trong D:/MerRec):</a:t>
            </a:r>
          </a:p>
          <a:p>
            <a:r>
              <a:t>training/models/04_gru4rec.ipynb</a:t>
            </a:r>
          </a:p>
          <a:p>
            <a:r>
              <a:t>artifacts/merrec_models/TwoTower/serving/twotower_config.json</a:t>
            </a:r>
          </a:p>
          <a:p>
            <a:r>
              <a:t>artifacts/merrec_models/ALS/serving/als_config.json</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Theo dõi loss và chọn checkpoint</a:t>
            </a:r>
          </a:p>
          <a:p/>
          <a:p>
            <a:r>
              <a:t>GRU4Rec: train loss 3,994 → 3,886 trong 8 epoch đã lưu.</a:t>
            </a:r>
          </a:p>
          <a:p>
            <a:r>
              <a:t>Two-Tower: train loss 6,854 → 4,441 trong 15 epoch đã lưu.</a:t>
            </a:r>
          </a:p>
          <a:p>
            <a:r>
              <a:t>GRU chọn epoch 6 theo sampled VAL Recall@20.</a:t>
            </a:r>
          </a:p>
          <a:p>
            <a:r>
              <a:t>Two-Tower chọn epoch 15 theo POSITIVE NDCG@20 trên pool validation.</a:t>
            </a:r>
          </a:p>
          <a:p/>
          <a:p>
            <a:r>
              <a:t>Ghi chú: Hai loss có mục tiêu khác nhau; chỉ đọc xu hướng riêng, không so trị số loss để chọn mô hình.</a:t>
            </a:r>
          </a:p>
          <a:p/>
          <a:p>
            <a:r>
              <a:t>Nguồn tham khảo (URL hoặc đường dẫn trong D:/MerRec):</a:t>
            </a:r>
          </a:p>
          <a:p>
            <a:r>
              <a:t>artifacts/merrec_models/GRU4Rec/metrics/train_history.json</a:t>
            </a:r>
          </a:p>
          <a:p>
            <a:r>
              <a:t>artifacts/merrec_models/TwoTower/metrics/train_history.json</a:t>
            </a:r>
          </a:p>
          <a:p/>
          <a:p>
            <a:r>
              <a:t>Ảnh: s34_training_loss.png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Đọc đúng giao thức đánh giá</a:t>
            </a:r>
          </a:p>
          <a:p/>
          <a:p>
            <a:r>
              <a:t>Recall đo phần target tìm thấy; HitRate đo có hit; NDCG xét vị trí.</a:t>
            </a:r>
          </a:p>
          <a:p>
            <a:r>
              <a:t>Phải ghi split, nhóm target, số user, candidate universe và seen-item filtering.</a:t>
            </a:r>
          </a:p>
          <a:p>
            <a:r>
              <a:t>Two-Tower VAL POSITIVE NDCG@20: 0,023326 trên pool chọn checkpoint; 0,000826 trên full-index.</a:t>
            </a:r>
          </a:p>
          <a:p>
            <a:r>
              <a:t>GRU4Rec dùng 1 target + 255 negatives, không so trực tiếp với full-index.</a:t>
            </a:r>
          </a:p>
          <a:p/>
          <a:p>
            <a:r>
              <a:t>Ghi chú: Không quy toàn bộ chênh lệch cho FAISS. Muốn xếp hạng các mô hình phải thống nhất protocol.</a:t>
            </a:r>
          </a:p>
          <a:p/>
          <a:p>
            <a:r>
              <a:t>Nguồn tham khảo (URL hoặc đường dẫn trong D:/MerRec):</a:t>
            </a:r>
          </a:p>
          <a:p>
            <a:r>
              <a:t>artifacts/merrec_models/TwoTower/metrics/train_history.json</a:t>
            </a:r>
          </a:p>
          <a:p>
            <a:r>
              <a:t>artifacts/merrec_models/TwoTower/metrics/val_full_index_metrics.json</a:t>
            </a:r>
          </a:p>
          <a:p>
            <a:r>
              <a:t>artifacts/merrec_models/GRU4Rec/metrics/train_history.json</a:t>
            </a:r>
          </a:p>
          <a:p/>
          <a:p>
            <a:r>
              <a:t>Ảnh: s35_twotower_protocols.png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Kết quả TEST hiện có — từng thực nghiệm riêng</a:t>
            </a:r>
          </a:p>
          <a:p/>
          <a:p>
            <a:r>
              <a:t>Content-Based / POSITIVE: Recall@20=1,2514%; NDCG@20=0,004429.</a:t>
            </a:r>
          </a:p>
          <a:p>
            <a:r>
              <a:t>Co-visitation / POSITIVE: Recall@20=1,2245%; NDCG@20=0,006931.</a:t>
            </a:r>
          </a:p>
          <a:p>
            <a:r>
              <a:t>ALS / POSITIVE: Recall@20=0,1122%; NDCG@20=0,000347.</a:t>
            </a:r>
          </a:p>
          <a:p>
            <a:r>
              <a:t>Two-Tower full-index / POSITIVE: Recall@20=0,0729%; NDCG@20=0,000263.</a:t>
            </a:r>
          </a:p>
          <a:p/>
          <a:p>
            <a:r>
              <a:t>Ghi chú: Content-Based có 192 user POSITIVE, Co-visitation 2.191, ALS 2.201. Two-Tower dùng mẫu TEST cấu hình 5.000 user trước lọc. Khác tập user, coverage, candidate universe và pipeline target; không kết luận mô hình thắng chung.</a:t>
            </a:r>
          </a:p>
          <a:p/>
          <a:p>
            <a:r>
              <a:t>Nguồn tham khảo (URL hoặc đường dẫn trong D:/MerRec):</a:t>
            </a:r>
          </a:p>
          <a:p>
            <a:r>
              <a:t>training/checkpoints/content_based_full_catalog/evaluation_test.csv</a:t>
            </a:r>
          </a:p>
          <a:p>
            <a:r>
              <a:t>training/checkpoints/covisitation/polars_v2/results/test_metrics.csv</a:t>
            </a:r>
          </a:p>
          <a:p>
            <a:r>
              <a:t>artifacts/merrec_models/ALS/metrics/test_metrics.csv</a:t>
            </a:r>
          </a:p>
          <a:p>
            <a:r>
              <a:t>artifacts/merrec_models/TwoTower/metrics/test_full_index_metrics.json</a:t>
            </a:r>
          </a:p>
          <a:p/>
          <a:p>
            <a:r>
              <a:t>Ảnh: s36_results_table.png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Kết quả GRU4Rec và bài học đánh giá</a:t>
            </a:r>
          </a:p>
          <a:p/>
          <a:p>
            <a:r>
              <a:t>Best sampled validation Recall@20=15,69% tại epoch 6.</a:t>
            </a:r>
          </a:p>
          <a:p>
            <a:r>
              <a:t>1.810 user được đánh giá; mỗi target xếp cùng 255 sampled negatives.</a:t>
            </a:r>
          </a:p>
          <a:p>
            <a:r>
              <a:t>Đây chưa phải metric full-index TEST hoặc chất lượng online.</a:t>
            </a:r>
          </a:p>
          <a:p>
            <a:r>
              <a:t>Bước tiếp theo: thống nhất cohort/candidates và đánh giá full-index.</a:t>
            </a:r>
          </a:p>
          <a:p/>
          <a:p>
            <a:r>
              <a:t>Nguồn tham khảo (URL hoặc đường dẫn trong D:/MerRec):</a:t>
            </a:r>
          </a:p>
          <a:p>
            <a:r>
              <a:t>artifacts/merrec_models/GRU4Rec/metrics/summary.json</a:t>
            </a:r>
          </a:p>
          <a:p>
            <a:r>
              <a:t>artifacts/merrec_models/GRU4Rec/metrics/train_history.json</a:t>
            </a:r>
          </a:p>
          <a:p/>
          <a:p>
            <a:r>
              <a:t>Ảnh: s37_gru_sampled_recall.png</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Kết luận và hướng phát triển</a:t>
            </a:r>
          </a:p>
          <a:p/>
          <a:p>
            <a:r>
              <a:t>Đã có EDA và preprocessing cho 174,87 triệu sự kiện.</a:t>
            </a:r>
          </a:p>
          <a:p>
            <a:r>
              <a:t>Long-tail, cold-item và quy mô catalog là vấn đề nổi bật.</a:t>
            </a:r>
          </a:p>
          <a:p>
            <a:r>
              <a:t>Đã có kết quả riêng của Content-Based, Co-visitation, ALS, Two-Tower và sampled VAL của GRU4Rec.</a:t>
            </a:r>
          </a:p>
          <a:p>
            <a:r>
              <a:t>Tiếp tục: thống nhất đánh giá; hoàn thiện SASRec/DCN/LightGBM; tích hợp và đo chất lượng phục vụ.</a:t>
            </a:r>
          </a:p>
          <a:p/>
          <a:p>
            <a:r>
              <a:t>Ghi chú: Không sử dụng metric SASRec cũ. Offline metrics không chứng minh tăng doanh thu hoặc production readiness.</a:t>
            </a:r>
          </a:p>
          <a:p/>
          <a:p>
            <a:r>
              <a:t>Nguồn tham khảo (URL hoặc đường dẫn trong D:/MerRec):</a:t>
            </a:r>
          </a:p>
          <a:p>
            <a:r>
              <a:t>training/01_preprocess.ipynb</a:t>
            </a:r>
          </a:p>
          <a:p>
            <a:r>
              <a:t>training/checkpoints</a:t>
            </a:r>
          </a:p>
          <a:p>
            <a:r>
              <a:t>artifacts/merrec_models</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Demo MerRec — trình bày riêng</a:t>
            </a:r>
          </a:p>
          <a:p/>
          <a:p>
            <a:r>
              <a:t>Minh họa: khám phá sản phẩm → chi tiết → khu vực gợi ý.</a:t>
            </a:r>
          </a:p>
          <a:p>
            <a:r>
              <a:t>Demo khoảng 30–60 giây hoặc chuyển trực tiếp sang website.</a:t>
            </a:r>
          </a:p>
          <a:p>
            <a:r>
              <a:t>Ghi nhãn thuật toán đúng với phiên bản backend thực tế.</a:t>
            </a:r>
          </a:p>
          <a:p/>
          <a:p>
            <a:r>
              <a:t>Ghi chú: Chưa chụp/kiểm chứng website trong công việc tạo tài liệu này. Không khẳng định model offline đã được nối vào website.</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Ảnh demo và thảo luận</a:t>
            </a:r>
          </a:p>
          <a:p/>
          <a:p>
            <a:r>
              <a:t>Một ảnh trang chi tiết sản phẩm với khu vực gợi ý.</a:t>
            </a:r>
          </a:p>
          <a:p>
            <a:r>
              <a:t>Một ảnh luồng tiếp theo tùy chọn; không trình bày sâu kỹ thuật web.</a:t>
            </a:r>
          </a:p>
          <a:p>
            <a:r>
              <a:t>Cảm ơn và Q&amp;A.</a:t>
            </a:r>
          </a:p>
          <a:p/>
          <a:p>
            <a:r>
              <a:t>Ghi chú: Hai trang demo tách riêng, không chen vào 38 slide nghiên cứu.</a:t>
            </a:r>
          </a:p>
          <a:p/>
          <a:p>
            <a:r>
              <a:t>SASRec, DCN và LightGBM Ranker chưa có kết quả để báo cáo theo xác nhận người dùng.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oit.gov.vn/khoa-hoc-va-cong-nghe/thuong-mai-dien-tu-viet-nam-nam-2024-nhung-buoc-tien-va-thach-thuc.html"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402.14230"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13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MỞ ĐẦU</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MerRec — Gợi ý sản phẩm từ dữ liệu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01 / 40</a:t>
            </a:r>
          </a:p>
        </p:txBody>
      </p:sp>
      <p:sp>
        <p:nvSpPr>
          <p:cNvPr id="8" name="Rectangle 7"/>
          <p:cNvSpPr/>
          <p:nvPr/>
        </p:nvSpPr>
        <p:spPr>
          <a:xfrm>
            <a:off x="566928" y="6391656"/>
            <a:ext cx="27660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1999" cy="6858000"/>
          </a:xfrm>
          <a:prstGeom prst="rect">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502920"/>
            <a:ext cx="1965960" cy="32918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66928"/>
            <a:ext cx="1783080" cy="182880"/>
          </a:xfrm>
          <a:prstGeom prst="rect">
            <a:avLst/>
          </a:prstGeom>
          <a:noFill/>
        </p:spPr>
        <p:txBody>
          <a:bodyPr wrap="square" lIns="0" rIns="0" tIns="0" bIns="0">
            <a:spAutoFit/>
          </a:bodyPr>
          <a:lstStyle/>
          <a:p>
            <a:pPr algn="l">
              <a:spcBef>
                <a:spcPts val="0"/>
              </a:spcBef>
              <a:spcAft>
                <a:spcPts val="600"/>
              </a:spcAft>
              <a:defRPr sz="1000" b="1">
                <a:solidFill>
                  <a:srgbClr val="FFFFFF"/>
                </a:solidFill>
                <a:latin typeface="Arial"/>
              </a:defRPr>
            </a:pPr>
            <a:r>
              <a:t>RECOMMENDER SYSTEM</a:t>
            </a:r>
          </a:p>
        </p:txBody>
      </p:sp>
      <p:sp>
        <p:nvSpPr>
          <p:cNvPr id="12" name="TextBox 11"/>
          <p:cNvSpPr txBox="1"/>
          <p:nvPr/>
        </p:nvSpPr>
        <p:spPr>
          <a:xfrm>
            <a:off x="658368" y="1417320"/>
            <a:ext cx="6583680" cy="1051560"/>
          </a:xfrm>
          <a:prstGeom prst="rect">
            <a:avLst/>
          </a:prstGeom>
          <a:noFill/>
        </p:spPr>
        <p:txBody>
          <a:bodyPr wrap="square" lIns="0" rIns="0" tIns="0" bIns="0">
            <a:spAutoFit/>
          </a:bodyPr>
          <a:lstStyle/>
          <a:p>
            <a:pPr algn="l">
              <a:spcBef>
                <a:spcPts val="0"/>
              </a:spcBef>
              <a:spcAft>
                <a:spcPts val="600"/>
              </a:spcAft>
              <a:defRPr sz="6400" b="1">
                <a:solidFill>
                  <a:srgbClr val="FFFFFF"/>
                </a:solidFill>
                <a:latin typeface="Arial"/>
              </a:defRPr>
            </a:pPr>
            <a:r>
              <a:t>MerRec</a:t>
            </a:r>
          </a:p>
        </p:txBody>
      </p:sp>
      <p:sp>
        <p:nvSpPr>
          <p:cNvPr id="13" name="TextBox 12"/>
          <p:cNvSpPr txBox="1"/>
          <p:nvPr/>
        </p:nvSpPr>
        <p:spPr>
          <a:xfrm>
            <a:off x="694944" y="2487168"/>
            <a:ext cx="6766560" cy="1207008"/>
          </a:xfrm>
          <a:prstGeom prst="rect">
            <a:avLst/>
          </a:prstGeom>
          <a:noFill/>
        </p:spPr>
        <p:txBody>
          <a:bodyPr wrap="square" lIns="0" rIns="0" tIns="0" bIns="0">
            <a:spAutoFit/>
          </a:bodyPr>
          <a:lstStyle/>
          <a:p>
            <a:pPr algn="l">
              <a:spcBef>
                <a:spcPts val="0"/>
              </a:spcBef>
              <a:spcAft>
                <a:spcPts val="600"/>
              </a:spcAft>
              <a:defRPr sz="3500" b="1">
                <a:solidFill>
                  <a:srgbClr val="FFFFFF"/>
                </a:solidFill>
                <a:latin typeface="Arial"/>
              </a:defRPr>
            </a:pPr>
            <a:r>
              <a:t>Gợi ý sản phẩm từ</a:t>
            </a:r>
          </a:p>
          <a:p>
            <a:pPr algn="l">
              <a:spcBef>
                <a:spcPts val="0"/>
              </a:spcBef>
              <a:spcAft>
                <a:spcPts val="600"/>
              </a:spcAft>
              <a:defRPr sz="3500" b="1">
                <a:solidFill>
                  <a:srgbClr val="FFFFFF"/>
                </a:solidFill>
                <a:latin typeface="Arial"/>
              </a:defRPr>
            </a:pPr>
            <a:r>
              <a:t>dữ liệu hành vi</a:t>
            </a:r>
          </a:p>
        </p:txBody>
      </p:sp>
      <p:sp>
        <p:nvSpPr>
          <p:cNvPr id="14" name="TextBox 13"/>
          <p:cNvSpPr txBox="1"/>
          <p:nvPr/>
        </p:nvSpPr>
        <p:spPr>
          <a:xfrm>
            <a:off x="713232" y="4014215"/>
            <a:ext cx="6080760" cy="768096"/>
          </a:xfrm>
          <a:prstGeom prst="rect">
            <a:avLst/>
          </a:prstGeom>
          <a:noFill/>
        </p:spPr>
        <p:txBody>
          <a:bodyPr wrap="square" lIns="0" rIns="0" tIns="0" bIns="0">
            <a:spAutoFit/>
          </a:bodyPr>
          <a:lstStyle/>
          <a:p>
            <a:pPr algn="l">
              <a:spcBef>
                <a:spcPts val="0"/>
              </a:spcBef>
              <a:spcAft>
                <a:spcPts val="600"/>
              </a:spcAft>
              <a:defRPr sz="2000" b="0">
                <a:solidFill>
                  <a:srgbClr val="B6C6DD"/>
                </a:solidFill>
                <a:latin typeface="Arial"/>
              </a:defRPr>
            </a:pPr>
            <a:r>
              <a:t>Phân tích dữ liệu · Xây dựng đặc trưng</a:t>
            </a:r>
          </a:p>
          <a:p>
            <a:pPr algn="l">
              <a:spcBef>
                <a:spcPts val="0"/>
              </a:spcBef>
              <a:spcAft>
                <a:spcPts val="600"/>
              </a:spcAft>
              <a:defRPr sz="2000" b="0">
                <a:solidFill>
                  <a:srgbClr val="B6C6DD"/>
                </a:solidFill>
                <a:latin typeface="Arial"/>
              </a:defRPr>
            </a:pPr>
            <a:r>
              <a:t>Thực nghiệm mô hình Top-K</a:t>
            </a:r>
          </a:p>
        </p:txBody>
      </p:sp>
      <p:sp>
        <p:nvSpPr>
          <p:cNvPr id="15" name="TextBox 14"/>
          <p:cNvSpPr txBox="1"/>
          <p:nvPr/>
        </p:nvSpPr>
        <p:spPr>
          <a:xfrm>
            <a:off x="713232" y="5742432"/>
            <a:ext cx="6400800" cy="548640"/>
          </a:xfrm>
          <a:prstGeom prst="rect">
            <a:avLst/>
          </a:prstGeom>
          <a:noFill/>
        </p:spPr>
        <p:txBody>
          <a:bodyPr wrap="square" lIns="0" rIns="0" tIns="0" bIns="0">
            <a:spAutoFit/>
          </a:bodyPr>
          <a:lstStyle/>
          <a:p>
            <a:pPr algn="l">
              <a:spcBef>
                <a:spcPts val="0"/>
              </a:spcBef>
              <a:spcAft>
                <a:spcPts val="600"/>
              </a:spcAft>
              <a:defRPr sz="1200" b="0">
                <a:solidFill>
                  <a:srgbClr val="B6C6DD"/>
                </a:solidFill>
                <a:latin typeface="Arial"/>
              </a:defRPr>
            </a:pPr>
            <a:r>
              <a:t>Nhóm thực hiện: [Tên nhóm]    |    GVHD: [Tên giảng viên]</a:t>
            </a:r>
          </a:p>
        </p:txBody>
      </p:sp>
      <p:sp>
        <p:nvSpPr>
          <p:cNvPr id="16" name="Rounded Rectangle 15"/>
          <p:cNvSpPr/>
          <p:nvPr/>
        </p:nvSpPr>
        <p:spPr>
          <a:xfrm>
            <a:off x="8229600" y="1261872"/>
            <a:ext cx="3108960" cy="1234440"/>
          </a:xfrm>
          <a:prstGeom prst="roundRect">
            <a:avLst>
              <a:gd name="adj" fmla="val 9000"/>
            </a:avLst>
          </a:prstGeom>
          <a:solidFill>
            <a:srgbClr val="203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6488" y="1426463"/>
            <a:ext cx="2651760" cy="493776"/>
          </a:xfrm>
          <a:prstGeom prst="rect">
            <a:avLst/>
          </a:prstGeom>
          <a:noFill/>
        </p:spPr>
        <p:txBody>
          <a:bodyPr wrap="square" lIns="0" rIns="0" tIns="0" bIns="0">
            <a:spAutoFit/>
          </a:bodyPr>
          <a:lstStyle/>
          <a:p>
            <a:pPr algn="l">
              <a:spcBef>
                <a:spcPts val="0"/>
              </a:spcBef>
              <a:spcAft>
                <a:spcPts val="600"/>
              </a:spcAft>
              <a:defRPr sz="3000" b="1">
                <a:solidFill>
                  <a:srgbClr val="FFFFFF"/>
                </a:solidFill>
                <a:latin typeface="Arial"/>
              </a:defRPr>
            </a:pPr>
            <a:r>
              <a:t>174,87M</a:t>
            </a:r>
          </a:p>
        </p:txBody>
      </p:sp>
      <p:sp>
        <p:nvSpPr>
          <p:cNvPr id="18" name="TextBox 17"/>
          <p:cNvSpPr txBox="1"/>
          <p:nvPr/>
        </p:nvSpPr>
        <p:spPr>
          <a:xfrm>
            <a:off x="8494776" y="2039112"/>
            <a:ext cx="2606040" cy="256032"/>
          </a:xfrm>
          <a:prstGeom prst="rect">
            <a:avLst/>
          </a:prstGeom>
          <a:noFill/>
        </p:spPr>
        <p:txBody>
          <a:bodyPr wrap="square" lIns="0" rIns="0" tIns="0" bIns="0">
            <a:spAutoFit/>
          </a:bodyPr>
          <a:lstStyle/>
          <a:p>
            <a:pPr algn="l">
              <a:spcBef>
                <a:spcPts val="0"/>
              </a:spcBef>
              <a:spcAft>
                <a:spcPts val="600"/>
              </a:spcAft>
              <a:defRPr sz="1400" b="0">
                <a:solidFill>
                  <a:srgbClr val="B6C6DD"/>
                </a:solidFill>
                <a:latin typeface="Arial"/>
              </a:defRPr>
            </a:pPr>
            <a:r>
              <a:t>tương tác</a:t>
            </a:r>
          </a:p>
        </p:txBody>
      </p:sp>
      <p:sp>
        <p:nvSpPr>
          <p:cNvPr id="19" name="Rounded Rectangle 18"/>
          <p:cNvSpPr/>
          <p:nvPr/>
        </p:nvSpPr>
        <p:spPr>
          <a:xfrm>
            <a:off x="8229600" y="2770632"/>
            <a:ext cx="3108960" cy="1234440"/>
          </a:xfrm>
          <a:prstGeom prst="roundRect">
            <a:avLst>
              <a:gd name="adj" fmla="val 9000"/>
            </a:avLst>
          </a:prstGeom>
          <a:solidFill>
            <a:srgbClr val="203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76488" y="2935224"/>
            <a:ext cx="2651760" cy="493776"/>
          </a:xfrm>
          <a:prstGeom prst="rect">
            <a:avLst/>
          </a:prstGeom>
          <a:noFill/>
        </p:spPr>
        <p:txBody>
          <a:bodyPr wrap="square" lIns="0" rIns="0" tIns="0" bIns="0">
            <a:spAutoFit/>
          </a:bodyPr>
          <a:lstStyle/>
          <a:p>
            <a:pPr algn="l">
              <a:spcBef>
                <a:spcPts val="0"/>
              </a:spcBef>
              <a:spcAft>
                <a:spcPts val="600"/>
              </a:spcAft>
              <a:defRPr sz="3000" b="1">
                <a:solidFill>
                  <a:srgbClr val="FFFFFF"/>
                </a:solidFill>
                <a:latin typeface="Arial"/>
              </a:defRPr>
            </a:pPr>
            <a:r>
              <a:t>30,05M</a:t>
            </a:r>
          </a:p>
        </p:txBody>
      </p:sp>
      <p:sp>
        <p:nvSpPr>
          <p:cNvPr id="21" name="TextBox 20"/>
          <p:cNvSpPr txBox="1"/>
          <p:nvPr/>
        </p:nvSpPr>
        <p:spPr>
          <a:xfrm>
            <a:off x="8494776" y="3547872"/>
            <a:ext cx="2606040" cy="256032"/>
          </a:xfrm>
          <a:prstGeom prst="rect">
            <a:avLst/>
          </a:prstGeom>
          <a:noFill/>
        </p:spPr>
        <p:txBody>
          <a:bodyPr wrap="square" lIns="0" rIns="0" tIns="0" bIns="0">
            <a:spAutoFit/>
          </a:bodyPr>
          <a:lstStyle/>
          <a:p>
            <a:pPr algn="l">
              <a:spcBef>
                <a:spcPts val="0"/>
              </a:spcBef>
              <a:spcAft>
                <a:spcPts val="600"/>
              </a:spcAft>
              <a:defRPr sz="1400" b="0">
                <a:solidFill>
                  <a:srgbClr val="B6C6DD"/>
                </a:solidFill>
                <a:latin typeface="Arial"/>
              </a:defRPr>
            </a:pPr>
            <a:r>
              <a:t>item</a:t>
            </a:r>
          </a:p>
        </p:txBody>
      </p:sp>
      <p:sp>
        <p:nvSpPr>
          <p:cNvPr id="22" name="Rounded Rectangle 21"/>
          <p:cNvSpPr/>
          <p:nvPr/>
        </p:nvSpPr>
        <p:spPr>
          <a:xfrm>
            <a:off x="8229600" y="4279392"/>
            <a:ext cx="3108960" cy="1234440"/>
          </a:xfrm>
          <a:prstGeom prst="roundRect">
            <a:avLst>
              <a:gd name="adj" fmla="val 9000"/>
            </a:avLst>
          </a:prstGeom>
          <a:solidFill>
            <a:srgbClr val="203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76488" y="4443983"/>
            <a:ext cx="2651760" cy="493776"/>
          </a:xfrm>
          <a:prstGeom prst="rect">
            <a:avLst/>
          </a:prstGeom>
          <a:noFill/>
        </p:spPr>
        <p:txBody>
          <a:bodyPr wrap="square" lIns="0" rIns="0" tIns="0" bIns="0">
            <a:spAutoFit/>
          </a:bodyPr>
          <a:lstStyle/>
          <a:p>
            <a:pPr algn="l">
              <a:spcBef>
                <a:spcPts val="0"/>
              </a:spcBef>
              <a:spcAft>
                <a:spcPts val="600"/>
              </a:spcAft>
              <a:defRPr sz="3000" b="1">
                <a:solidFill>
                  <a:srgbClr val="FFFFFF"/>
                </a:solidFill>
                <a:latin typeface="Arial"/>
              </a:defRPr>
            </a:pPr>
            <a:r>
              <a:t>05/2023</a:t>
            </a:r>
          </a:p>
        </p:txBody>
      </p:sp>
      <p:sp>
        <p:nvSpPr>
          <p:cNvPr id="24" name="TextBox 23"/>
          <p:cNvSpPr txBox="1"/>
          <p:nvPr/>
        </p:nvSpPr>
        <p:spPr>
          <a:xfrm>
            <a:off x="8494776" y="5056631"/>
            <a:ext cx="2606040" cy="256032"/>
          </a:xfrm>
          <a:prstGeom prst="rect">
            <a:avLst/>
          </a:prstGeom>
          <a:noFill/>
        </p:spPr>
        <p:txBody>
          <a:bodyPr wrap="square" lIns="0" rIns="0" tIns="0" bIns="0">
            <a:spAutoFit/>
          </a:bodyPr>
          <a:lstStyle/>
          <a:p>
            <a:pPr algn="l">
              <a:spcBef>
                <a:spcPts val="0"/>
              </a:spcBef>
              <a:spcAft>
                <a:spcPts val="600"/>
              </a:spcAft>
              <a:defRPr sz="1400" b="0">
                <a:solidFill>
                  <a:srgbClr val="B6C6DD"/>
                </a:solidFill>
                <a:latin typeface="Arial"/>
              </a:defRPr>
            </a:pPr>
            <a:r>
              <a:t>dữ liệu quan sát</a:t>
            </a:r>
          </a:p>
        </p:txBody>
      </p:sp>
      <p:sp>
        <p:nvSpPr>
          <p:cNvPr id="25" name="TextBox 24"/>
          <p:cNvSpPr txBox="1"/>
          <p:nvPr/>
        </p:nvSpPr>
        <p:spPr>
          <a:xfrm>
            <a:off x="713232" y="6455664"/>
            <a:ext cx="5486400" cy="256032"/>
          </a:xfrm>
          <a:prstGeom prst="rect">
            <a:avLst/>
          </a:prstGeom>
          <a:noFill/>
        </p:spPr>
        <p:txBody>
          <a:bodyPr wrap="square" lIns="0" rIns="0" tIns="0" bIns="0">
            <a:spAutoFit/>
          </a:bodyPr>
          <a:lstStyle/>
          <a:p>
            <a:pPr algn="l">
              <a:spcBef>
                <a:spcPts val="0"/>
              </a:spcBef>
              <a:spcAft>
                <a:spcPts val="600"/>
              </a:spcAft>
              <a:defRPr sz="1000" b="1">
                <a:solidFill>
                  <a:srgbClr val="B6C6DD"/>
                </a:solidFill>
                <a:latin typeface="Arial"/>
              </a:defRPr>
            </a:pPr>
            <a:r>
              <a:t>38 SLIDE NGHIÊN CỨU + 2 TRANG DEMO RIÊNG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MỞ ĐẦU</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Nội dung trình bày</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02 / 40</a:t>
            </a:r>
          </a:p>
        </p:txBody>
      </p:sp>
      <p:sp>
        <p:nvSpPr>
          <p:cNvPr id="8" name="Rectangle 7"/>
          <p:cNvSpPr/>
          <p:nvPr/>
        </p:nvSpPr>
        <p:spPr>
          <a:xfrm>
            <a:off x="566928" y="6391656"/>
            <a:ext cx="55321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67512" y="177393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874519"/>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01</a:t>
            </a:r>
          </a:p>
        </p:txBody>
      </p:sp>
      <p:sp>
        <p:nvSpPr>
          <p:cNvPr id="11" name="TextBox 10"/>
          <p:cNvSpPr txBox="1"/>
          <p:nvPr/>
        </p:nvSpPr>
        <p:spPr>
          <a:xfrm>
            <a:off x="1243584" y="176479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Introduction</a:t>
            </a:r>
          </a:p>
        </p:txBody>
      </p:sp>
      <p:sp>
        <p:nvSpPr>
          <p:cNvPr id="12" name="TextBox 11"/>
          <p:cNvSpPr txBox="1"/>
          <p:nvPr/>
        </p:nvSpPr>
        <p:spPr>
          <a:xfrm>
            <a:off x="1243584" y="209397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Bối cảnh và mục tiêu</a:t>
            </a:r>
          </a:p>
        </p:txBody>
      </p:sp>
      <p:sp>
        <p:nvSpPr>
          <p:cNvPr id="13" name="Oval 12"/>
          <p:cNvSpPr/>
          <p:nvPr/>
        </p:nvSpPr>
        <p:spPr>
          <a:xfrm>
            <a:off x="667512" y="250545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60604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02</a:t>
            </a:r>
          </a:p>
        </p:txBody>
      </p:sp>
      <p:sp>
        <p:nvSpPr>
          <p:cNvPr id="15" name="TextBox 14"/>
          <p:cNvSpPr txBox="1"/>
          <p:nvPr/>
        </p:nvSpPr>
        <p:spPr>
          <a:xfrm>
            <a:off x="1243584" y="249631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Problem Definition</a:t>
            </a:r>
          </a:p>
        </p:txBody>
      </p:sp>
      <p:sp>
        <p:nvSpPr>
          <p:cNvPr id="16" name="TextBox 15"/>
          <p:cNvSpPr txBox="1"/>
          <p:nvPr/>
        </p:nvSpPr>
        <p:spPr>
          <a:xfrm>
            <a:off x="1243584" y="282549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Bài toán và thách thức</a:t>
            </a:r>
          </a:p>
        </p:txBody>
      </p:sp>
      <p:sp>
        <p:nvSpPr>
          <p:cNvPr id="17" name="Oval 16"/>
          <p:cNvSpPr/>
          <p:nvPr/>
        </p:nvSpPr>
        <p:spPr>
          <a:xfrm>
            <a:off x="667512" y="323697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33756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03</a:t>
            </a:r>
          </a:p>
        </p:txBody>
      </p:sp>
      <p:sp>
        <p:nvSpPr>
          <p:cNvPr id="19" name="TextBox 18"/>
          <p:cNvSpPr txBox="1"/>
          <p:nvPr/>
        </p:nvSpPr>
        <p:spPr>
          <a:xfrm>
            <a:off x="1243584" y="322783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Dataset Description</a:t>
            </a:r>
          </a:p>
        </p:txBody>
      </p:sp>
      <p:sp>
        <p:nvSpPr>
          <p:cNvPr id="20" name="TextBox 19"/>
          <p:cNvSpPr txBox="1"/>
          <p:nvPr/>
        </p:nvSpPr>
        <p:spPr>
          <a:xfrm>
            <a:off x="1243584" y="355701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Quy mô và cấu trúc</a:t>
            </a:r>
          </a:p>
        </p:txBody>
      </p:sp>
      <p:sp>
        <p:nvSpPr>
          <p:cNvPr id="21" name="Oval 20"/>
          <p:cNvSpPr/>
          <p:nvPr/>
        </p:nvSpPr>
        <p:spPr>
          <a:xfrm>
            <a:off x="667512" y="396849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06908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04</a:t>
            </a:r>
          </a:p>
        </p:txBody>
      </p:sp>
      <p:sp>
        <p:nvSpPr>
          <p:cNvPr id="23" name="TextBox 22"/>
          <p:cNvSpPr txBox="1"/>
          <p:nvPr/>
        </p:nvSpPr>
        <p:spPr>
          <a:xfrm>
            <a:off x="1243584" y="395935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Data Preprocessing</a:t>
            </a:r>
          </a:p>
        </p:txBody>
      </p:sp>
      <p:sp>
        <p:nvSpPr>
          <p:cNvPr id="24" name="TextBox 23"/>
          <p:cNvSpPr txBox="1"/>
          <p:nvPr/>
        </p:nvSpPr>
        <p:spPr>
          <a:xfrm>
            <a:off x="1243584" y="428853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Làm sạch và chia tập</a:t>
            </a:r>
          </a:p>
        </p:txBody>
      </p:sp>
      <p:sp>
        <p:nvSpPr>
          <p:cNvPr id="25" name="Oval 24"/>
          <p:cNvSpPr/>
          <p:nvPr/>
        </p:nvSpPr>
        <p:spPr>
          <a:xfrm>
            <a:off x="667512" y="470001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80060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05</a:t>
            </a:r>
          </a:p>
        </p:txBody>
      </p:sp>
      <p:sp>
        <p:nvSpPr>
          <p:cNvPr id="27" name="TextBox 26"/>
          <p:cNvSpPr txBox="1"/>
          <p:nvPr/>
        </p:nvSpPr>
        <p:spPr>
          <a:xfrm>
            <a:off x="1243584" y="469087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EDA</a:t>
            </a:r>
          </a:p>
        </p:txBody>
      </p:sp>
      <p:sp>
        <p:nvSpPr>
          <p:cNvPr id="28" name="TextBox 27"/>
          <p:cNvSpPr txBox="1"/>
          <p:nvPr/>
        </p:nvSpPr>
        <p:spPr>
          <a:xfrm>
            <a:off x="1243584" y="502005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Khám phá dữ liệu</a:t>
            </a:r>
          </a:p>
        </p:txBody>
      </p:sp>
      <p:sp>
        <p:nvSpPr>
          <p:cNvPr id="29" name="Oval 28"/>
          <p:cNvSpPr/>
          <p:nvPr/>
        </p:nvSpPr>
        <p:spPr>
          <a:xfrm>
            <a:off x="6245352" y="177393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45352" y="1874519"/>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06</a:t>
            </a:r>
          </a:p>
        </p:txBody>
      </p:sp>
      <p:sp>
        <p:nvSpPr>
          <p:cNvPr id="31" name="TextBox 30"/>
          <p:cNvSpPr txBox="1"/>
          <p:nvPr/>
        </p:nvSpPr>
        <p:spPr>
          <a:xfrm>
            <a:off x="6821424" y="176479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Feature Engineering</a:t>
            </a:r>
          </a:p>
        </p:txBody>
      </p:sp>
      <p:sp>
        <p:nvSpPr>
          <p:cNvPr id="32" name="TextBox 31"/>
          <p:cNvSpPr txBox="1"/>
          <p:nvPr/>
        </p:nvSpPr>
        <p:spPr>
          <a:xfrm>
            <a:off x="6821424" y="209397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Biểu diễn dữ liệu</a:t>
            </a:r>
          </a:p>
        </p:txBody>
      </p:sp>
      <p:sp>
        <p:nvSpPr>
          <p:cNvPr id="33" name="Oval 32"/>
          <p:cNvSpPr/>
          <p:nvPr/>
        </p:nvSpPr>
        <p:spPr>
          <a:xfrm>
            <a:off x="6245352" y="250545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5352" y="260604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07</a:t>
            </a:r>
          </a:p>
        </p:txBody>
      </p:sp>
      <p:sp>
        <p:nvSpPr>
          <p:cNvPr id="35" name="TextBox 34"/>
          <p:cNvSpPr txBox="1"/>
          <p:nvPr/>
        </p:nvSpPr>
        <p:spPr>
          <a:xfrm>
            <a:off x="6821424" y="249631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Models</a:t>
            </a:r>
          </a:p>
        </p:txBody>
      </p:sp>
      <p:sp>
        <p:nvSpPr>
          <p:cNvPr id="36" name="TextBox 35"/>
          <p:cNvSpPr txBox="1"/>
          <p:nvPr/>
        </p:nvSpPr>
        <p:spPr>
          <a:xfrm>
            <a:off x="6821424" y="282549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Các hướng mô hình</a:t>
            </a:r>
          </a:p>
        </p:txBody>
      </p:sp>
      <p:sp>
        <p:nvSpPr>
          <p:cNvPr id="37" name="Oval 36"/>
          <p:cNvSpPr/>
          <p:nvPr/>
        </p:nvSpPr>
        <p:spPr>
          <a:xfrm>
            <a:off x="6245352" y="323697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45352" y="333756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08</a:t>
            </a:r>
          </a:p>
        </p:txBody>
      </p:sp>
      <p:sp>
        <p:nvSpPr>
          <p:cNvPr id="39" name="TextBox 38"/>
          <p:cNvSpPr txBox="1"/>
          <p:nvPr/>
        </p:nvSpPr>
        <p:spPr>
          <a:xfrm>
            <a:off x="6821424" y="322783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Model Training</a:t>
            </a:r>
          </a:p>
        </p:txBody>
      </p:sp>
      <p:sp>
        <p:nvSpPr>
          <p:cNvPr id="40" name="TextBox 39"/>
          <p:cNvSpPr txBox="1"/>
          <p:nvPr/>
        </p:nvSpPr>
        <p:spPr>
          <a:xfrm>
            <a:off x="6821424" y="355701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Huấn luyện</a:t>
            </a:r>
          </a:p>
        </p:txBody>
      </p:sp>
      <p:sp>
        <p:nvSpPr>
          <p:cNvPr id="41" name="Oval 40"/>
          <p:cNvSpPr/>
          <p:nvPr/>
        </p:nvSpPr>
        <p:spPr>
          <a:xfrm>
            <a:off x="6245352" y="396849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5352" y="406908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09</a:t>
            </a:r>
          </a:p>
        </p:txBody>
      </p:sp>
      <p:sp>
        <p:nvSpPr>
          <p:cNvPr id="43" name="TextBox 42"/>
          <p:cNvSpPr txBox="1"/>
          <p:nvPr/>
        </p:nvSpPr>
        <p:spPr>
          <a:xfrm>
            <a:off x="6821424" y="395935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Results</a:t>
            </a:r>
          </a:p>
        </p:txBody>
      </p:sp>
      <p:sp>
        <p:nvSpPr>
          <p:cNvPr id="44" name="TextBox 43"/>
          <p:cNvSpPr txBox="1"/>
          <p:nvPr/>
        </p:nvSpPr>
        <p:spPr>
          <a:xfrm>
            <a:off x="6821424" y="428853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Kết quả và giao thức</a:t>
            </a:r>
          </a:p>
        </p:txBody>
      </p:sp>
      <p:sp>
        <p:nvSpPr>
          <p:cNvPr id="45" name="Oval 44"/>
          <p:cNvSpPr/>
          <p:nvPr/>
        </p:nvSpPr>
        <p:spPr>
          <a:xfrm>
            <a:off x="6245352" y="470001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480060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11</a:t>
            </a:r>
          </a:p>
        </p:txBody>
      </p:sp>
      <p:sp>
        <p:nvSpPr>
          <p:cNvPr id="47" name="TextBox 46"/>
          <p:cNvSpPr txBox="1"/>
          <p:nvPr/>
        </p:nvSpPr>
        <p:spPr>
          <a:xfrm>
            <a:off x="6821424" y="469087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Conclusion</a:t>
            </a:r>
          </a:p>
        </p:txBody>
      </p:sp>
      <p:sp>
        <p:nvSpPr>
          <p:cNvPr id="48" name="TextBox 47"/>
          <p:cNvSpPr txBox="1"/>
          <p:nvPr/>
        </p:nvSpPr>
        <p:spPr>
          <a:xfrm>
            <a:off x="6821424" y="502005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Kết luận và hướng đi</a:t>
            </a:r>
          </a:p>
        </p:txBody>
      </p:sp>
      <p:sp>
        <p:nvSpPr>
          <p:cNvPr id="49" name="Rounded Rectangle 4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10  Web Application / Demo được tách thành phụ lục, trang 39–40.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Bối cảnh và thực trạng thương mại điện tử</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03 / 40</a:t>
            </a:r>
          </a:p>
        </p:txBody>
      </p:sp>
      <p:sp>
        <p:nvSpPr>
          <p:cNvPr id="8" name="Rectangle 7"/>
          <p:cNvSpPr/>
          <p:nvPr/>
        </p:nvSpPr>
        <p:spPr>
          <a:xfrm>
            <a:off x="566928" y="6391656"/>
            <a:ext cx="82981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10512"/>
            <a:ext cx="5321808" cy="184708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93392"/>
            <a:ext cx="4919472"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&gt;25 tỷ USD</a:t>
            </a:r>
          </a:p>
        </p:txBody>
      </p:sp>
      <p:sp>
        <p:nvSpPr>
          <p:cNvPr id="11" name="TextBox 10"/>
          <p:cNvSpPr txBox="1"/>
          <p:nvPr/>
        </p:nvSpPr>
        <p:spPr>
          <a:xfrm>
            <a:off x="859536" y="2670048"/>
            <a:ext cx="4919472"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Quy mô TMĐT Việt Nam · 2024</a:t>
            </a:r>
          </a:p>
        </p:txBody>
      </p:sp>
      <p:sp>
        <p:nvSpPr>
          <p:cNvPr id="12" name="Rounded Rectangle 11"/>
          <p:cNvSpPr/>
          <p:nvPr/>
        </p:nvSpPr>
        <p:spPr>
          <a:xfrm>
            <a:off x="6217920" y="1810512"/>
            <a:ext cx="5321808" cy="184708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993392"/>
            <a:ext cx="4919472"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+20%</a:t>
            </a:r>
          </a:p>
        </p:txBody>
      </p:sp>
      <p:sp>
        <p:nvSpPr>
          <p:cNvPr id="14" name="TextBox 13"/>
          <p:cNvSpPr txBox="1"/>
          <p:nvPr/>
        </p:nvSpPr>
        <p:spPr>
          <a:xfrm>
            <a:off x="6419088" y="2670048"/>
            <a:ext cx="4919472"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Tăng trưởng so với năm 2023</a:t>
            </a:r>
          </a:p>
        </p:txBody>
      </p:sp>
      <p:sp>
        <p:nvSpPr>
          <p:cNvPr id="15" name="Oval 14"/>
          <p:cNvSpPr/>
          <p:nvPr/>
        </p:nvSpPr>
        <p:spPr>
          <a:xfrm>
            <a:off x="804672" y="409651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95928"/>
            <a:ext cx="10415015" cy="63093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Nhu cầu ứng dụng: giúp người mua khám phá sản phẩm phù hợp trong catalog đa dạng.</a:t>
            </a:r>
          </a:p>
        </p:txBody>
      </p:sp>
      <p:sp>
        <p:nvSpPr>
          <p:cNvPr id="17" name="Oval 16"/>
          <p:cNvSpPr/>
          <p:nvPr/>
        </p:nvSpPr>
        <p:spPr>
          <a:xfrm>
            <a:off x="804672" y="480974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709160"/>
            <a:ext cx="10415015" cy="63093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Bài toán nghiên cứu: khai thác dữ liệu hành vi và metadata cho gợi ý C2C.</a:t>
            </a:r>
          </a:p>
        </p:txBody>
      </p:sp>
      <p:sp>
        <p:nvSpPr>
          <p:cNvPr id="19" name="Rounded Rectangle 18"/>
          <p:cNvSpPr/>
          <p:nvPr/>
        </p:nvSpPr>
        <p:spPr>
          <a:xfrm>
            <a:off x="566928" y="5632704"/>
            <a:ext cx="11064240" cy="39319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715000"/>
            <a:ext cx="10698480" cy="28346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Bối cảnh: Việt Nam. Dữ liệu thực nghiệm: MerRec từ Mercari — hai phạm vi khác nhau.</a:t>
            </a:r>
          </a:p>
        </p:txBody>
      </p:sp>
      <p:sp>
        <p:nvSpPr>
          <p:cNvPr id="21" name="TextBox 20"/>
          <p:cNvSpPr txBox="1"/>
          <p:nvPr/>
        </p:nvSpPr>
        <p:spPr>
          <a:xfrm>
            <a:off x="777240" y="6117336"/>
            <a:ext cx="1069848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rPr>
                <a:hlinkClick r:id="rId2"/>
              </a:rPr>
              <a:t>Nguồn: Bộ Công Thương, báo cáo năm 2024 (18/02/2025); Li et al., MerRec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Vấn đề thực tiễn: tìm sản phẩm nào giữa catalog lớn?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04 / 40</a:t>
            </a:r>
          </a:p>
        </p:txBody>
      </p:sp>
      <p:sp>
        <p:nvSpPr>
          <p:cNvPr id="8" name="Rectangle 7"/>
          <p:cNvSpPr/>
          <p:nvPr/>
        </p:nvSpPr>
        <p:spPr>
          <a:xfrm>
            <a:off x="566928" y="6391656"/>
            <a:ext cx="110642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810512"/>
            <a:ext cx="5303520" cy="36301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66543"/>
            <a:ext cx="475488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GÓC NHÌN NGƯỜI DÙNG</a:t>
            </a:r>
          </a:p>
        </p:txBody>
      </p:sp>
      <p:sp>
        <p:nvSpPr>
          <p:cNvPr id="11" name="Oval 10"/>
          <p:cNvSpPr/>
          <p:nvPr/>
        </p:nvSpPr>
        <p:spPr>
          <a:xfrm>
            <a:off x="914400" y="278892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2688336"/>
            <a:ext cx="4498848" cy="7040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Cần thu hẹp lựa chọn theo mối quan tâm.</a:t>
            </a:r>
          </a:p>
        </p:txBody>
      </p:sp>
      <p:sp>
        <p:nvSpPr>
          <p:cNvPr id="13" name="Oval 12"/>
          <p:cNvSpPr/>
          <p:nvPr/>
        </p:nvSpPr>
        <p:spPr>
          <a:xfrm>
            <a:off x="914400" y="35753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3474720"/>
            <a:ext cx="4498848" cy="7040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Từ khóa cần diễn đạt rõ nhu cầu.</a:t>
            </a:r>
          </a:p>
        </p:txBody>
      </p:sp>
      <p:sp>
        <p:nvSpPr>
          <p:cNvPr id="15" name="Oval 14"/>
          <p:cNvSpPr/>
          <p:nvPr/>
        </p:nvSpPr>
        <p:spPr>
          <a:xfrm>
            <a:off x="914400" y="436168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4261104"/>
            <a:ext cx="4498848" cy="7040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Danh sách phổ biến không tự phản ánh sở thích riêng.</a:t>
            </a:r>
          </a:p>
        </p:txBody>
      </p:sp>
      <p:sp>
        <p:nvSpPr>
          <p:cNvPr id="17" name="Rounded Rectangle 16"/>
          <p:cNvSpPr/>
          <p:nvPr/>
        </p:nvSpPr>
        <p:spPr>
          <a:xfrm>
            <a:off x="6217920" y="1810512"/>
            <a:ext cx="5303520" cy="36301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066543"/>
            <a:ext cx="475488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BẰNG CHỨNG TỪ MERREC</a:t>
            </a:r>
          </a:p>
        </p:txBody>
      </p:sp>
      <p:sp>
        <p:nvSpPr>
          <p:cNvPr id="19" name="TextBox 18"/>
          <p:cNvSpPr txBox="1"/>
          <p:nvPr/>
        </p:nvSpPr>
        <p:spPr>
          <a:xfrm>
            <a:off x="6473952" y="2587752"/>
            <a:ext cx="1975104" cy="475488"/>
          </a:xfrm>
          <a:prstGeom prst="rect">
            <a:avLst/>
          </a:prstGeom>
          <a:noFill/>
        </p:spPr>
        <p:txBody>
          <a:bodyPr wrap="square" lIns="0" rIns="0" tIns="0" bIns="0">
            <a:spAutoFit/>
          </a:bodyPr>
          <a:lstStyle/>
          <a:p>
            <a:pPr algn="l">
              <a:spcBef>
                <a:spcPts val="0"/>
              </a:spcBef>
              <a:spcAft>
                <a:spcPts val="600"/>
              </a:spcAft>
              <a:defRPr sz="2900" b="1">
                <a:solidFill>
                  <a:srgbClr val="244BFF"/>
                </a:solidFill>
                <a:latin typeface="Arial"/>
              </a:defRPr>
            </a:pPr>
            <a:r>
              <a:t>30,05M</a:t>
            </a:r>
          </a:p>
        </p:txBody>
      </p:sp>
      <p:sp>
        <p:nvSpPr>
          <p:cNvPr id="20" name="TextBox 19"/>
          <p:cNvSpPr txBox="1"/>
          <p:nvPr/>
        </p:nvSpPr>
        <p:spPr>
          <a:xfrm>
            <a:off x="8522208" y="2688336"/>
            <a:ext cx="2606040"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item trong lát dữ liệu</a:t>
            </a:r>
          </a:p>
        </p:txBody>
      </p:sp>
      <p:sp>
        <p:nvSpPr>
          <p:cNvPr id="21" name="TextBox 20"/>
          <p:cNvSpPr txBox="1"/>
          <p:nvPr/>
        </p:nvSpPr>
        <p:spPr>
          <a:xfrm>
            <a:off x="6473952" y="3447288"/>
            <a:ext cx="1975104" cy="475488"/>
          </a:xfrm>
          <a:prstGeom prst="rect">
            <a:avLst/>
          </a:prstGeom>
          <a:noFill/>
        </p:spPr>
        <p:txBody>
          <a:bodyPr wrap="square" lIns="0" rIns="0" tIns="0" bIns="0">
            <a:spAutoFit/>
          </a:bodyPr>
          <a:lstStyle/>
          <a:p>
            <a:pPr algn="l">
              <a:spcBef>
                <a:spcPts val="0"/>
              </a:spcBef>
              <a:spcAft>
                <a:spcPts val="600"/>
              </a:spcAft>
              <a:defRPr sz="2900" b="1">
                <a:solidFill>
                  <a:srgbClr val="244BFF"/>
                </a:solidFill>
                <a:latin typeface="Arial"/>
              </a:defRPr>
            </a:pPr>
            <a:r>
              <a:t>71,17%</a:t>
            </a:r>
          </a:p>
        </p:txBody>
      </p:sp>
      <p:sp>
        <p:nvSpPr>
          <p:cNvPr id="22" name="TextBox 21"/>
          <p:cNvSpPr txBox="1"/>
          <p:nvPr/>
        </p:nvSpPr>
        <p:spPr>
          <a:xfrm>
            <a:off x="8522208" y="3547872"/>
            <a:ext cx="2606040"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item có dưới 5 tương tác</a:t>
            </a:r>
          </a:p>
        </p:txBody>
      </p:sp>
      <p:sp>
        <p:nvSpPr>
          <p:cNvPr id="23" name="TextBox 22"/>
          <p:cNvSpPr txBox="1"/>
          <p:nvPr/>
        </p:nvSpPr>
        <p:spPr>
          <a:xfrm>
            <a:off x="6473952" y="4306824"/>
            <a:ext cx="1975104" cy="475488"/>
          </a:xfrm>
          <a:prstGeom prst="rect">
            <a:avLst/>
          </a:prstGeom>
          <a:noFill/>
        </p:spPr>
        <p:txBody>
          <a:bodyPr wrap="square" lIns="0" rIns="0" tIns="0" bIns="0">
            <a:spAutoFit/>
          </a:bodyPr>
          <a:lstStyle/>
          <a:p>
            <a:pPr algn="l">
              <a:spcBef>
                <a:spcPts val="0"/>
              </a:spcBef>
              <a:spcAft>
                <a:spcPts val="600"/>
              </a:spcAft>
              <a:defRPr sz="2900" b="1">
                <a:solidFill>
                  <a:srgbClr val="244BFF"/>
                </a:solidFill>
                <a:latin typeface="Arial"/>
              </a:defRPr>
            </a:pPr>
            <a:r>
              <a:t>84,55%</a:t>
            </a:r>
          </a:p>
        </p:txBody>
      </p:sp>
      <p:sp>
        <p:nvSpPr>
          <p:cNvPr id="24" name="TextBox 23"/>
          <p:cNvSpPr txBox="1"/>
          <p:nvPr/>
        </p:nvSpPr>
        <p:spPr>
          <a:xfrm>
            <a:off x="8522208" y="4407408"/>
            <a:ext cx="2606040"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sự kiện là lượt xem</a:t>
            </a:r>
          </a:p>
        </p:txBody>
      </p:sp>
      <p:sp>
        <p:nvSpPr>
          <p:cNvPr id="25" name="Rounded Rectangle 24"/>
          <p:cNvSpPr/>
          <p:nvPr/>
        </p:nvSpPr>
        <p:spPr>
          <a:xfrm>
            <a:off x="566928" y="5733288"/>
            <a:ext cx="1106424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815583"/>
            <a:ext cx="10698480" cy="37490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Động lực: tận dụng nhiều tín hiệu để gợi ý một danh sách ngắn phù hợp hơn.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Lý do chọn đề tài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05 / 40</a:t>
            </a:r>
          </a:p>
        </p:txBody>
      </p:sp>
      <p:sp>
        <p:nvSpPr>
          <p:cNvPr id="8" name="Rectangle 7"/>
          <p:cNvSpPr/>
          <p:nvPr/>
        </p:nvSpPr>
        <p:spPr>
          <a:xfrm>
            <a:off x="566928" y="6391656"/>
            <a:ext cx="138303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810512"/>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20824"/>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01 · Tính thực tiễn</a:t>
            </a:r>
          </a:p>
        </p:txBody>
      </p:sp>
      <p:sp>
        <p:nvSpPr>
          <p:cNvPr id="11" name="TextBox 10"/>
          <p:cNvSpPr txBox="1"/>
          <p:nvPr/>
        </p:nvSpPr>
        <p:spPr>
          <a:xfrm>
            <a:off x="886968" y="2596896"/>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Hỗ trợ khám phá sản phẩm từ nhu cầu và lịch sử người dùng.</a:t>
            </a:r>
          </a:p>
        </p:txBody>
      </p:sp>
      <p:sp>
        <p:nvSpPr>
          <p:cNvPr id="12" name="Rounded Rectangle 11"/>
          <p:cNvSpPr/>
          <p:nvPr/>
        </p:nvSpPr>
        <p:spPr>
          <a:xfrm>
            <a:off x="6227064" y="1810512"/>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20824"/>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02 · Tính học thuật</a:t>
            </a:r>
          </a:p>
        </p:txBody>
      </p:sp>
      <p:sp>
        <p:nvSpPr>
          <p:cNvPr id="14" name="TextBox 13"/>
          <p:cNvSpPr txBox="1"/>
          <p:nvPr/>
        </p:nvSpPr>
        <p:spPr>
          <a:xfrm>
            <a:off x="6446520" y="2596896"/>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Nghiên cứu implicit feedback, long-tail, cold-start và chuỗi.</a:t>
            </a:r>
          </a:p>
        </p:txBody>
      </p:sp>
      <p:sp>
        <p:nvSpPr>
          <p:cNvPr id="15" name="Rounded Rectangle 14"/>
          <p:cNvSpPr/>
          <p:nvPr/>
        </p:nvSpPr>
        <p:spPr>
          <a:xfrm>
            <a:off x="667512" y="3703320"/>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913632"/>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03 · Dữ liệu phù hợp</a:t>
            </a:r>
          </a:p>
        </p:txBody>
      </p:sp>
      <p:sp>
        <p:nvSpPr>
          <p:cNvPr id="17" name="TextBox 16"/>
          <p:cNvSpPr txBox="1"/>
          <p:nvPr/>
        </p:nvSpPr>
        <p:spPr>
          <a:xfrm>
            <a:off x="886968" y="4489704"/>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MerRec có timestamp, nhiều hành vi và metadata để thực nghiệm.</a:t>
            </a:r>
          </a:p>
        </p:txBody>
      </p:sp>
      <p:sp>
        <p:nvSpPr>
          <p:cNvPr id="18" name="Rounded Rectangle 17"/>
          <p:cNvSpPr/>
          <p:nvPr/>
        </p:nvSpPr>
        <p:spPr>
          <a:xfrm>
            <a:off x="6227064" y="3703320"/>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13632"/>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04 · Khả năng ứng dụng</a:t>
            </a:r>
          </a:p>
        </p:txBody>
      </p:sp>
      <p:sp>
        <p:nvSpPr>
          <p:cNvPr id="20" name="TextBox 19"/>
          <p:cNvSpPr txBox="1"/>
          <p:nvPr/>
        </p:nvSpPr>
        <p:spPr>
          <a:xfrm>
            <a:off x="6446520" y="4489704"/>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Kết nối xử lý dữ liệu, mô hình và giao diện minh họa.</a:t>
            </a:r>
          </a:p>
        </p:txBody>
      </p:sp>
      <p:sp>
        <p:nvSpPr>
          <p:cNvPr id="21" name="Rounded Rectangle 20"/>
          <p:cNvSpPr/>
          <p:nvPr/>
        </p:nvSpPr>
        <p:spPr>
          <a:xfrm>
            <a:off x="566928" y="5788152"/>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870448"/>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Giá trị kỳ vọng của đề tài; chưa phải bằng chứng tăng doanh thu hoặc hiệu quả online.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Mục tiêu, ý nghĩa và phạm vi nghiên cứu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06 / 40</a:t>
            </a:r>
          </a:p>
        </p:txBody>
      </p:sp>
      <p:sp>
        <p:nvSpPr>
          <p:cNvPr id="8" name="Rectangle 7"/>
          <p:cNvSpPr/>
          <p:nvPr/>
        </p:nvSpPr>
        <p:spPr>
          <a:xfrm>
            <a:off x="566928" y="6391656"/>
            <a:ext cx="165963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792224"/>
            <a:ext cx="10853928" cy="950976"/>
          </a:xfrm>
          <a:prstGeom prst="roundRect">
            <a:avLst>
              <a:gd name="adj" fmla="val 9000"/>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02536"/>
            <a:ext cx="10369296" cy="585216"/>
          </a:xfrm>
          <a:prstGeom prst="rect">
            <a:avLst/>
          </a:prstGeom>
          <a:noFill/>
        </p:spPr>
        <p:txBody>
          <a:bodyPr wrap="square" lIns="0" rIns="0" tIns="0" bIns="0">
            <a:spAutoFit/>
          </a:bodyPr>
          <a:lstStyle/>
          <a:p>
            <a:pPr algn="ctr">
              <a:spcBef>
                <a:spcPts val="0"/>
              </a:spcBef>
              <a:spcAft>
                <a:spcPts val="600"/>
              </a:spcAft>
              <a:defRPr sz="2500" b="1">
                <a:solidFill>
                  <a:srgbClr val="FFFFFF"/>
                </a:solidFill>
                <a:latin typeface="Arial"/>
              </a:defRPr>
            </a:pPr>
            <a:r>
              <a:t>Xây dựng và đánh giá gợi ý Top-K từ dữ liệu hành vi MerRec</a:t>
            </a:r>
          </a:p>
        </p:txBody>
      </p:sp>
      <p:sp>
        <p:nvSpPr>
          <p:cNvPr id="11" name="Rounded Rectangle 10"/>
          <p:cNvSpPr/>
          <p:nvPr/>
        </p:nvSpPr>
        <p:spPr>
          <a:xfrm>
            <a:off x="667512" y="3136392"/>
            <a:ext cx="3392424" cy="215798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83280"/>
            <a:ext cx="2990088"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CÔNG VIỆC</a:t>
            </a:r>
          </a:p>
        </p:txBody>
      </p:sp>
      <p:sp>
        <p:nvSpPr>
          <p:cNvPr id="13" name="TextBox 12"/>
          <p:cNvSpPr txBox="1"/>
          <p:nvPr/>
        </p:nvSpPr>
        <p:spPr>
          <a:xfrm>
            <a:off x="868680" y="3886200"/>
            <a:ext cx="2990088" cy="130759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Xử lý dữ liệu và EDA.</a:t>
            </a:r>
          </a:p>
          <a:p>
            <a:pPr algn="l">
              <a:spcBef>
                <a:spcPts val="0"/>
              </a:spcBef>
              <a:spcAft>
                <a:spcPts val="600"/>
              </a:spcAft>
              <a:defRPr sz="1800" b="0">
                <a:solidFill>
                  <a:srgbClr val="172B49"/>
                </a:solidFill>
                <a:latin typeface="Arial"/>
              </a:defRPr>
            </a:pPr>
            <a:r>
              <a:t>Tạo đặc trưng.</a:t>
            </a:r>
          </a:p>
          <a:p>
            <a:pPr algn="l">
              <a:spcBef>
                <a:spcPts val="0"/>
              </a:spcBef>
              <a:spcAft>
                <a:spcPts val="600"/>
              </a:spcAft>
              <a:defRPr sz="1800" b="0">
                <a:solidFill>
                  <a:srgbClr val="172B49"/>
                </a:solidFill>
                <a:latin typeface="Arial"/>
              </a:defRPr>
            </a:pPr>
            <a:r>
              <a:t>Thực nghiệm mô hình.</a:t>
            </a:r>
          </a:p>
        </p:txBody>
      </p:sp>
      <p:sp>
        <p:nvSpPr>
          <p:cNvPr id="14" name="Rounded Rectangle 13"/>
          <p:cNvSpPr/>
          <p:nvPr/>
        </p:nvSpPr>
        <p:spPr>
          <a:xfrm>
            <a:off x="4398264" y="3136392"/>
            <a:ext cx="3392424" cy="215798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3383280"/>
            <a:ext cx="2990088"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Ý NGHĨA</a:t>
            </a:r>
          </a:p>
        </p:txBody>
      </p:sp>
      <p:sp>
        <p:nvSpPr>
          <p:cNvPr id="16" name="TextBox 15"/>
          <p:cNvSpPr txBox="1"/>
          <p:nvPr/>
        </p:nvSpPr>
        <p:spPr>
          <a:xfrm>
            <a:off x="4599432" y="3886200"/>
            <a:ext cx="2990088" cy="130759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Hiểu sparsity và cold-start.</a:t>
            </a:r>
          </a:p>
          <a:p>
            <a:pPr algn="l">
              <a:spcBef>
                <a:spcPts val="0"/>
              </a:spcBef>
              <a:spcAft>
                <a:spcPts val="600"/>
              </a:spcAft>
              <a:defRPr sz="1800" b="0">
                <a:solidFill>
                  <a:srgbClr val="172B49"/>
                </a:solidFill>
                <a:latin typeface="Arial"/>
              </a:defRPr>
            </a:pPr>
            <a:r>
              <a:t>Đọc đúng giao thức đánh giá.</a:t>
            </a:r>
          </a:p>
          <a:p>
            <a:pPr algn="l">
              <a:spcBef>
                <a:spcPts val="0"/>
              </a:spcBef>
              <a:spcAft>
                <a:spcPts val="600"/>
              </a:spcAft>
              <a:defRPr sz="1800" b="0">
                <a:solidFill>
                  <a:srgbClr val="172B49"/>
                </a:solidFill>
                <a:latin typeface="Arial"/>
              </a:defRPr>
            </a:pPr>
            <a:r>
              <a:t>Làm cơ sở tích hợp.</a:t>
            </a:r>
          </a:p>
        </p:txBody>
      </p:sp>
      <p:sp>
        <p:nvSpPr>
          <p:cNvPr id="17" name="Rounded Rectangle 16"/>
          <p:cNvSpPr/>
          <p:nvPr/>
        </p:nvSpPr>
        <p:spPr>
          <a:xfrm>
            <a:off x="8129016" y="3136392"/>
            <a:ext cx="3392424" cy="215798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0184" y="3383280"/>
            <a:ext cx="2990088"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PHẠM VI</a:t>
            </a:r>
          </a:p>
        </p:txBody>
      </p:sp>
      <p:sp>
        <p:nvSpPr>
          <p:cNvPr id="19" name="TextBox 18"/>
          <p:cNvSpPr txBox="1"/>
          <p:nvPr/>
        </p:nvSpPr>
        <p:spPr>
          <a:xfrm>
            <a:off x="8330184" y="3886200"/>
            <a:ext cx="2990088" cy="130759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Dữ liệu tháng 05/2023.</a:t>
            </a:r>
          </a:p>
          <a:p>
            <a:pPr algn="l">
              <a:spcBef>
                <a:spcPts val="0"/>
              </a:spcBef>
              <a:spcAft>
                <a:spcPts val="600"/>
              </a:spcAft>
              <a:defRPr sz="1800" b="0">
                <a:solidFill>
                  <a:srgbClr val="172B49"/>
                </a:solidFill>
                <a:latin typeface="Arial"/>
              </a:defRPr>
            </a:pPr>
            <a:r>
              <a:t>Đánh giá offline.</a:t>
            </a:r>
          </a:p>
          <a:p>
            <a:pPr algn="l">
              <a:spcBef>
                <a:spcPts val="0"/>
              </a:spcBef>
              <a:spcAft>
                <a:spcPts val="600"/>
              </a:spcAft>
              <a:defRPr sz="1800" b="0">
                <a:solidFill>
                  <a:srgbClr val="172B49"/>
                </a:solidFill>
                <a:latin typeface="Arial"/>
              </a:defRPr>
            </a:pPr>
            <a:r>
              <a:t>Demo web tách riêng.</a:t>
            </a:r>
          </a:p>
        </p:txBody>
      </p:sp>
      <p:sp>
        <p:nvSpPr>
          <p:cNvPr id="20" name="Rounded Rectangle 19"/>
          <p:cNvSpPr/>
          <p:nvPr/>
        </p:nvSpPr>
        <p:spPr>
          <a:xfrm>
            <a:off x="566928" y="5733288"/>
            <a:ext cx="11064240" cy="47548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815583"/>
            <a:ext cx="10698480" cy="36576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SASRec, DCN và LightGBM chưa hoàn tất; chưa có A/B test hoặc kiểm chứng kinh doanh.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02 PROBLEM DEFINITION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Bài toán gợi ý và các thách thức</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07 / 40</a:t>
            </a:r>
          </a:p>
        </p:txBody>
      </p:sp>
      <p:sp>
        <p:nvSpPr>
          <p:cNvPr id="8" name="Rectangle 7"/>
          <p:cNvSpPr/>
          <p:nvPr/>
        </p:nvSpPr>
        <p:spPr>
          <a:xfrm>
            <a:off x="566928" y="6391656"/>
            <a:ext cx="193624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819656"/>
            <a:ext cx="3462528" cy="1591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56816"/>
            <a:ext cx="3188208"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67712"/>
            <a:ext cx="3151632"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Đầu vào</a:t>
            </a:r>
          </a:p>
        </p:txBody>
      </p:sp>
      <p:sp>
        <p:nvSpPr>
          <p:cNvPr id="12" name="TextBox 11"/>
          <p:cNvSpPr txBox="1"/>
          <p:nvPr/>
        </p:nvSpPr>
        <p:spPr>
          <a:xfrm>
            <a:off x="749808" y="2770632"/>
            <a:ext cx="3151632" cy="58521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Lịch sử + hành vi + metadata</a:t>
            </a:r>
          </a:p>
        </p:txBody>
      </p:sp>
      <p:sp>
        <p:nvSpPr>
          <p:cNvPr id="13" name="Chevron 12"/>
          <p:cNvSpPr/>
          <p:nvPr/>
        </p:nvSpPr>
        <p:spPr>
          <a:xfrm>
            <a:off x="4098036" y="252374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49496" y="1819656"/>
            <a:ext cx="3462528" cy="1591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4944" y="1956816"/>
            <a:ext cx="3188208"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4504944" y="2267712"/>
            <a:ext cx="3151632"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Mô hình</a:t>
            </a:r>
          </a:p>
        </p:txBody>
      </p:sp>
      <p:sp>
        <p:nvSpPr>
          <p:cNvPr id="17" name="TextBox 16"/>
          <p:cNvSpPr txBox="1"/>
          <p:nvPr/>
        </p:nvSpPr>
        <p:spPr>
          <a:xfrm>
            <a:off x="4504944" y="2770632"/>
            <a:ext cx="3151632" cy="58521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Retrieval / next-item</a:t>
            </a:r>
          </a:p>
        </p:txBody>
      </p:sp>
      <p:sp>
        <p:nvSpPr>
          <p:cNvPr id="18" name="Chevron 17"/>
          <p:cNvSpPr/>
          <p:nvPr/>
        </p:nvSpPr>
        <p:spPr>
          <a:xfrm>
            <a:off x="7853172" y="252374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04632" y="1819656"/>
            <a:ext cx="3462528" cy="1591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0080" y="1956816"/>
            <a:ext cx="3188208"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8260080" y="2267712"/>
            <a:ext cx="3151632"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a:t>
            </a:r>
          </a:p>
        </p:txBody>
      </p:sp>
      <p:sp>
        <p:nvSpPr>
          <p:cNvPr id="22" name="TextBox 21"/>
          <p:cNvSpPr txBox="1"/>
          <p:nvPr/>
        </p:nvSpPr>
        <p:spPr>
          <a:xfrm>
            <a:off x="8260080" y="2770632"/>
            <a:ext cx="3151632" cy="58521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Danh sách item xếp hạng</a:t>
            </a:r>
          </a:p>
        </p:txBody>
      </p:sp>
      <p:sp>
        <p:nvSpPr>
          <p:cNvPr id="23" name="TextBox 22"/>
          <p:cNvSpPr txBox="1"/>
          <p:nvPr/>
        </p:nvSpPr>
        <p:spPr>
          <a:xfrm>
            <a:off x="813816" y="3831336"/>
            <a:ext cx="4736592" cy="566928"/>
          </a:xfrm>
          <a:prstGeom prst="rect">
            <a:avLst/>
          </a:prstGeom>
          <a:noFill/>
        </p:spPr>
        <p:txBody>
          <a:bodyPr wrap="square" lIns="0" rIns="0" tIns="0" bIns="0">
            <a:spAutoFit/>
          </a:bodyPr>
          <a:lstStyle/>
          <a:p>
            <a:pPr algn="l">
              <a:spcBef>
                <a:spcPts val="0"/>
              </a:spcBef>
              <a:spcAft>
                <a:spcPts val="600"/>
              </a:spcAft>
              <a:defRPr sz="3400" b="1">
                <a:solidFill>
                  <a:srgbClr val="244BFF"/>
                </a:solidFill>
                <a:latin typeface="Arial"/>
              </a:defRPr>
            </a:pPr>
            <a:r>
              <a:t>99,999843%</a:t>
            </a:r>
          </a:p>
        </p:txBody>
      </p:sp>
      <p:sp>
        <p:nvSpPr>
          <p:cNvPr id="24" name="TextBox 23"/>
          <p:cNvSpPr txBox="1"/>
          <p:nvPr/>
        </p:nvSpPr>
        <p:spPr>
          <a:xfrm>
            <a:off x="813816" y="4562856"/>
            <a:ext cx="4736592" cy="384048"/>
          </a:xfrm>
          <a:prstGeom prst="rect">
            <a:avLst/>
          </a:prstGeom>
          <a:noFill/>
        </p:spPr>
        <p:txBody>
          <a:bodyPr wrap="square" lIns="0" rIns="0" tIns="0" bIns="0">
            <a:spAutoFit/>
          </a:bodyPr>
          <a:lstStyle/>
          <a:p>
            <a:pPr algn="l">
              <a:spcBef>
                <a:spcPts val="0"/>
              </a:spcBef>
              <a:spcAft>
                <a:spcPts val="600"/>
              </a:spcAft>
              <a:defRPr sz="1900" b="0">
                <a:solidFill>
                  <a:srgbClr val="5B6B83"/>
                </a:solidFill>
                <a:latin typeface="Arial"/>
              </a:defRPr>
            </a:pPr>
            <a:r>
              <a:t>Độ thưa user–item</a:t>
            </a:r>
          </a:p>
        </p:txBody>
      </p:sp>
      <p:sp>
        <p:nvSpPr>
          <p:cNvPr id="25" name="TextBox 24"/>
          <p:cNvSpPr txBox="1"/>
          <p:nvPr/>
        </p:nvSpPr>
        <p:spPr>
          <a:xfrm>
            <a:off x="6464808" y="3831336"/>
            <a:ext cx="4736592" cy="566928"/>
          </a:xfrm>
          <a:prstGeom prst="rect">
            <a:avLst/>
          </a:prstGeom>
          <a:noFill/>
        </p:spPr>
        <p:txBody>
          <a:bodyPr wrap="square" lIns="0" rIns="0" tIns="0" bIns="0">
            <a:spAutoFit/>
          </a:bodyPr>
          <a:lstStyle/>
          <a:p>
            <a:pPr algn="l">
              <a:spcBef>
                <a:spcPts val="0"/>
              </a:spcBef>
              <a:spcAft>
                <a:spcPts val="600"/>
              </a:spcAft>
              <a:defRPr sz="3400" b="1">
                <a:solidFill>
                  <a:srgbClr val="244BFF"/>
                </a:solidFill>
                <a:latin typeface="Arial"/>
              </a:defRPr>
            </a:pPr>
            <a:r>
              <a:t>32,75%</a:t>
            </a:r>
          </a:p>
        </p:txBody>
      </p:sp>
      <p:sp>
        <p:nvSpPr>
          <p:cNvPr id="26" name="TextBox 25"/>
          <p:cNvSpPr txBox="1"/>
          <p:nvPr/>
        </p:nvSpPr>
        <p:spPr>
          <a:xfrm>
            <a:off x="6464808" y="4562856"/>
            <a:ext cx="4736592" cy="384048"/>
          </a:xfrm>
          <a:prstGeom prst="rect">
            <a:avLst/>
          </a:prstGeom>
          <a:noFill/>
        </p:spPr>
        <p:txBody>
          <a:bodyPr wrap="square" lIns="0" rIns="0" tIns="0" bIns="0">
            <a:spAutoFit/>
          </a:bodyPr>
          <a:lstStyle/>
          <a:p>
            <a:pPr algn="l">
              <a:spcBef>
                <a:spcPts val="0"/>
              </a:spcBef>
              <a:spcAft>
                <a:spcPts val="600"/>
              </a:spcAft>
              <a:defRPr sz="1900" b="0">
                <a:solidFill>
                  <a:srgbClr val="5B6B83"/>
                </a:solidFill>
                <a:latin typeface="Arial"/>
              </a:defRPr>
            </a:pPr>
            <a:r>
              <a:t>Dòng TEST chứa cold item</a:t>
            </a:r>
          </a:p>
        </p:txBody>
      </p:sp>
      <p:sp>
        <p:nvSpPr>
          <p:cNvPr id="27" name="Rounded Rectangle 26"/>
          <p:cNvSpPr/>
          <p:nvPr/>
        </p:nvSpPr>
        <p:spPr>
          <a:xfrm>
            <a:off x="566928" y="5596128"/>
            <a:ext cx="11064240" cy="60350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678424"/>
            <a:ext cx="10698480" cy="493776"/>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Recall@K · HitRate@K · NDCG@K — đọc cùng coverage, tập user và candidate universe.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03 DATASET DESCRIPTION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MerRec: quy mô và cấu trúc dữ liệu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08 / 40</a:t>
            </a:r>
          </a:p>
        </p:txBody>
      </p:sp>
      <p:sp>
        <p:nvSpPr>
          <p:cNvPr id="8" name="Rectangle 7"/>
          <p:cNvSpPr/>
          <p:nvPr/>
        </p:nvSpPr>
        <p:spPr>
          <a:xfrm>
            <a:off x="566928" y="6391656"/>
            <a:ext cx="221284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1773936"/>
            <a:ext cx="3374136" cy="11795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47672"/>
            <a:ext cx="2990088" cy="512064"/>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174,87M</a:t>
            </a:r>
          </a:p>
        </p:txBody>
      </p:sp>
      <p:sp>
        <p:nvSpPr>
          <p:cNvPr id="11" name="TextBox 10"/>
          <p:cNvSpPr txBox="1"/>
          <p:nvPr/>
        </p:nvSpPr>
        <p:spPr>
          <a:xfrm>
            <a:off x="859536" y="2560320"/>
            <a:ext cx="2990088" cy="237744"/>
          </a:xfrm>
          <a:prstGeom prst="rect">
            <a:avLst/>
          </a:prstGeom>
          <a:noFill/>
        </p:spPr>
        <p:txBody>
          <a:bodyPr wrap="square" lIns="0" rIns="0" tIns="0" bIns="0">
            <a:spAutoFit/>
          </a:bodyPr>
          <a:lstStyle/>
          <a:p>
            <a:pPr algn="l">
              <a:spcBef>
                <a:spcPts val="0"/>
              </a:spcBef>
              <a:spcAft>
                <a:spcPts val="600"/>
              </a:spcAft>
              <a:defRPr sz="1500" b="0">
                <a:solidFill>
                  <a:srgbClr val="172B49"/>
                </a:solidFill>
                <a:latin typeface="Arial"/>
              </a:defRPr>
            </a:pPr>
            <a:r>
              <a:t>tương tác</a:t>
            </a:r>
          </a:p>
        </p:txBody>
      </p:sp>
      <p:sp>
        <p:nvSpPr>
          <p:cNvPr id="12" name="Rounded Rectangle 11"/>
          <p:cNvSpPr/>
          <p:nvPr/>
        </p:nvSpPr>
        <p:spPr>
          <a:xfrm>
            <a:off x="4416552" y="1773936"/>
            <a:ext cx="3374136" cy="11795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947672"/>
            <a:ext cx="2990088" cy="512064"/>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2,77M</a:t>
            </a:r>
          </a:p>
        </p:txBody>
      </p:sp>
      <p:sp>
        <p:nvSpPr>
          <p:cNvPr id="14" name="TextBox 13"/>
          <p:cNvSpPr txBox="1"/>
          <p:nvPr/>
        </p:nvSpPr>
        <p:spPr>
          <a:xfrm>
            <a:off x="4599432" y="2560320"/>
            <a:ext cx="2990088" cy="237744"/>
          </a:xfrm>
          <a:prstGeom prst="rect">
            <a:avLst/>
          </a:prstGeom>
          <a:noFill/>
        </p:spPr>
        <p:txBody>
          <a:bodyPr wrap="square" lIns="0" rIns="0" tIns="0" bIns="0">
            <a:spAutoFit/>
          </a:bodyPr>
          <a:lstStyle/>
          <a:p>
            <a:pPr algn="l">
              <a:spcBef>
                <a:spcPts val="0"/>
              </a:spcBef>
              <a:spcAft>
                <a:spcPts val="600"/>
              </a:spcAft>
              <a:defRPr sz="1500" b="0">
                <a:solidFill>
                  <a:srgbClr val="172B49"/>
                </a:solidFill>
                <a:latin typeface="Arial"/>
              </a:defRPr>
            </a:pPr>
            <a:r>
              <a:t>người dùng</a:t>
            </a:r>
          </a:p>
        </p:txBody>
      </p:sp>
      <p:sp>
        <p:nvSpPr>
          <p:cNvPr id="15" name="Rounded Rectangle 14"/>
          <p:cNvSpPr/>
          <p:nvPr/>
        </p:nvSpPr>
        <p:spPr>
          <a:xfrm>
            <a:off x="8156448" y="1773936"/>
            <a:ext cx="3374136" cy="11795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7" y="1947672"/>
            <a:ext cx="2990088" cy="512064"/>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30,05M</a:t>
            </a:r>
          </a:p>
        </p:txBody>
      </p:sp>
      <p:sp>
        <p:nvSpPr>
          <p:cNvPr id="17" name="TextBox 16"/>
          <p:cNvSpPr txBox="1"/>
          <p:nvPr/>
        </p:nvSpPr>
        <p:spPr>
          <a:xfrm>
            <a:off x="8339327" y="2560320"/>
            <a:ext cx="2990088" cy="237744"/>
          </a:xfrm>
          <a:prstGeom prst="rect">
            <a:avLst/>
          </a:prstGeom>
          <a:noFill/>
        </p:spPr>
        <p:txBody>
          <a:bodyPr wrap="square" lIns="0" rIns="0" tIns="0" bIns="0">
            <a:spAutoFit/>
          </a:bodyPr>
          <a:lstStyle/>
          <a:p>
            <a:pPr algn="l">
              <a:spcBef>
                <a:spcPts val="0"/>
              </a:spcBef>
              <a:spcAft>
                <a:spcPts val="600"/>
              </a:spcAft>
              <a:defRPr sz="1500" b="0">
                <a:solidFill>
                  <a:srgbClr val="172B49"/>
                </a:solidFill>
                <a:latin typeface="Arial"/>
              </a:defRPr>
            </a:pPr>
            <a:r>
              <a:t>item_id duy nhất</a:t>
            </a:r>
          </a:p>
        </p:txBody>
      </p:sp>
      <p:graphicFrame>
        <p:nvGraphicFramePr>
          <p:cNvPr id="18" name="Table 17"/>
          <p:cNvGraphicFramePr>
            <a:graphicFrameLocks noGrp="1"/>
          </p:cNvGraphicFramePr>
          <p:nvPr/>
        </p:nvGraphicFramePr>
        <p:xfrm>
          <a:off x="676656" y="3264408"/>
          <a:ext cx="10863072" cy="1993392"/>
        </p:xfrm>
        <a:graphic>
          <a:graphicData uri="http://schemas.openxmlformats.org/drawingml/2006/table">
            <a:tbl>
              <a:tblPr firstRow="1" bandRow="1">
                <a:tableStyleId>{5C22544A-7EE6-4342-B048-85BDC9FD1C3A}</a:tableStyleId>
              </a:tblPr>
              <a:tblGrid>
                <a:gridCol w="3008376"/>
                <a:gridCol w="7854696"/>
              </a:tblGrid>
              <a:tr h="498348">
                <a:tc>
                  <a:txBody>
                    <a:bodyPr/>
                    <a:lstStyle/>
                    <a:p>
                      <a:pPr>
                        <a:defRPr sz="1700" b="1">
                          <a:solidFill>
                            <a:srgbClr val="FFFFFF"/>
                          </a:solidFill>
                          <a:latin typeface="Arial"/>
                        </a:defRPr>
                      </a:pPr>
                      <a:r>
                        <a:t>Nhóm trường</a:t>
                      </a:r>
                    </a:p>
                  </a:txBody>
                  <a:tcPr marL="128016" marR="91440" marT="91440" marB="64008" anchor="ctr">
                    <a:solidFill>
                      <a:srgbClr val="244BFF"/>
                    </a:solidFill>
                  </a:tcPr>
                </a:tc>
                <a:tc>
                  <a:txBody>
                    <a:bodyPr/>
                    <a:lstStyle/>
                    <a:p>
                      <a:pPr>
                        <a:defRPr sz="1700" b="1">
                          <a:solidFill>
                            <a:srgbClr val="FFFFFF"/>
                          </a:solidFill>
                          <a:latin typeface="Arial"/>
                        </a:defRPr>
                      </a:pPr>
                      <a:r>
                        <a:t>Thông tin chính</a:t>
                      </a:r>
                    </a:p>
                  </a:txBody>
                  <a:tcPr marL="128016" marR="91440" marT="91440" marB="64008" anchor="ctr">
                    <a:solidFill>
                      <a:srgbClr val="244BFF"/>
                    </a:solidFill>
                  </a:tcPr>
                </a:tc>
              </a:tr>
              <a:tr h="498348">
                <a:tc>
                  <a:txBody>
                    <a:bodyPr/>
                    <a:lstStyle/>
                    <a:p>
                      <a:pPr>
                        <a:defRPr sz="1700" b="0">
                          <a:solidFill>
                            <a:srgbClr val="172B49"/>
                          </a:solidFill>
                          <a:latin typeface="Arial"/>
                        </a:defRPr>
                      </a:pPr>
                      <a:r>
                        <a:t>Định danh</a:t>
                      </a:r>
                    </a:p>
                  </a:txBody>
                  <a:tcPr marL="128016" marR="91440" marT="91440" marB="64008" anchor="ctr">
                    <a:solidFill>
                      <a:srgbClr val="F0F4FC"/>
                    </a:solidFill>
                  </a:tcPr>
                </a:tc>
                <a:tc>
                  <a:txBody>
                    <a:bodyPr/>
                    <a:lstStyle/>
                    <a:p>
                      <a:pPr>
                        <a:defRPr sz="1700" b="0">
                          <a:solidFill>
                            <a:srgbClr val="172B49"/>
                          </a:solidFill>
                          <a:latin typeface="Arial"/>
                        </a:defRPr>
                      </a:pPr>
                      <a:r>
                        <a:t>user_id · item_id · product_id</a:t>
                      </a:r>
                    </a:p>
                  </a:txBody>
                  <a:tcPr marL="128016" marR="91440" marT="91440" marB="64008" anchor="ctr">
                    <a:solidFill>
                      <a:srgbClr val="F0F4FC"/>
                    </a:solidFill>
                  </a:tcPr>
                </a:tc>
              </a:tr>
              <a:tr h="498348">
                <a:tc>
                  <a:txBody>
                    <a:bodyPr/>
                    <a:lstStyle/>
                    <a:p>
                      <a:pPr>
                        <a:defRPr sz="1700" b="0">
                          <a:solidFill>
                            <a:srgbClr val="172B49"/>
                          </a:solidFill>
                          <a:latin typeface="Arial"/>
                        </a:defRPr>
                      </a:pPr>
                      <a:r>
                        <a:t>Hành vi / thời gian</a:t>
                      </a:r>
                    </a:p>
                  </a:txBody>
                  <a:tcPr marL="128016" marR="91440" marT="91440" marB="64008" anchor="ctr">
                    <a:solidFill>
                      <a:srgbClr val="FFFFFF"/>
                    </a:solidFill>
                  </a:tcPr>
                </a:tc>
                <a:tc>
                  <a:txBody>
                    <a:bodyPr/>
                    <a:lstStyle/>
                    <a:p>
                      <a:pPr>
                        <a:defRPr sz="1700" b="0">
                          <a:solidFill>
                            <a:srgbClr val="172B49"/>
                          </a:solidFill>
                          <a:latin typeface="Arial"/>
                        </a:defRPr>
                      </a:pPr>
                      <a:r>
                        <a:t>event_id · stime · session_id · sequence_id</a:t>
                      </a:r>
                    </a:p>
                  </a:txBody>
                  <a:tcPr marL="128016" marR="91440" marT="91440" marB="64008" anchor="ctr">
                    <a:solidFill>
                      <a:srgbClr val="FFFFFF"/>
                    </a:solidFill>
                  </a:tcPr>
                </a:tc>
              </a:tr>
              <a:tr h="498348">
                <a:tc>
                  <a:txBody>
                    <a:bodyPr/>
                    <a:lstStyle/>
                    <a:p>
                      <a:pPr>
                        <a:defRPr sz="1700" b="0">
                          <a:solidFill>
                            <a:srgbClr val="172B49"/>
                          </a:solidFill>
                          <a:latin typeface="Arial"/>
                        </a:defRPr>
                      </a:pPr>
                      <a:r>
                        <a:t>Metadata</a:t>
                      </a:r>
                    </a:p>
                  </a:txBody>
                  <a:tcPr marL="128016" marR="91440" marT="91440" marB="64008" anchor="ctr">
                    <a:solidFill>
                      <a:srgbClr val="F0F4FC"/>
                    </a:solidFill>
                  </a:tcPr>
                </a:tc>
                <a:tc>
                  <a:txBody>
                    <a:bodyPr/>
                    <a:lstStyle/>
                    <a:p>
                      <a:pPr>
                        <a:defRPr sz="1700" b="0">
                          <a:solidFill>
                            <a:srgbClr val="172B49"/>
                          </a:solidFill>
                          <a:latin typeface="Arial"/>
                        </a:defRPr>
                      </a:pPr>
                      <a:r>
                        <a:t>name · price · category · brand · condition</a:t>
                      </a:r>
                    </a:p>
                  </a:txBody>
                  <a:tcPr marL="128016" marR="91440" marT="91440" marB="64008" anchor="ctr">
                    <a:solidFill>
                      <a:srgbClr val="F0F4FC"/>
                    </a:solidFill>
                  </a:tcPr>
                </a:tc>
              </a:tr>
            </a:tbl>
          </a:graphicData>
        </a:graphic>
      </p:graphicFrame>
      <p:sp>
        <p:nvSpPr>
          <p:cNvPr id="19" name="Rounded Rectangle 18"/>
          <p:cNvSpPr/>
          <p:nvPr/>
        </p:nvSpPr>
        <p:spPr>
          <a:xfrm>
            <a:off x="566928" y="5513832"/>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596128"/>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312 file · ~21,57 GB · 913.718 product_id · Đồ án dùng lát tháng 05/2023.</a:t>
            </a:r>
          </a:p>
        </p:txBody>
      </p:sp>
      <p:sp>
        <p:nvSpPr>
          <p:cNvPr id="21" name="TextBox 20"/>
          <p:cNvSpPr txBox="1"/>
          <p:nvPr/>
        </p:nvSpPr>
        <p:spPr>
          <a:xfrm>
            <a:off x="777240" y="6071616"/>
            <a:ext cx="10698480" cy="228600"/>
          </a:xfrm>
          <a:prstGeom prst="rect">
            <a:avLst/>
          </a:prstGeom>
          <a:noFill/>
        </p:spPr>
        <p:txBody>
          <a:bodyPr wrap="square" lIns="0" rIns="0" tIns="0" bIns="0">
            <a:spAutoFit/>
          </a:bodyPr>
          <a:lstStyle/>
          <a:p>
            <a:pPr algn="l">
              <a:spcBef>
                <a:spcPts val="0"/>
              </a:spcBef>
              <a:spcAft>
                <a:spcPts val="600"/>
              </a:spcAft>
              <a:defRPr sz="1000" b="0">
                <a:solidFill>
                  <a:srgbClr val="5B6B83"/>
                </a:solidFill>
                <a:latin typeface="Arial"/>
              </a:defRPr>
            </a:pPr>
            <a:r>
              <a:rPr>
                <a:hlinkClick r:id="rId2"/>
              </a:rPr>
              <a:t>Nguồn: Li et al., MerRec (2024) và bảng tổng hợp local. Dataset gốc 6 tháng; đồ án dùng 1 tháng.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03 DATASET DESCRIPTION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Sáu loại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09 / 40</a:t>
            </a:r>
          </a:p>
        </p:txBody>
      </p:sp>
      <p:sp>
        <p:nvSpPr>
          <p:cNvPr id="8" name="Rectangle 7"/>
          <p:cNvSpPr/>
          <p:nvPr/>
        </p:nvSpPr>
        <p:spPr>
          <a:xfrm>
            <a:off x="566928" y="6391656"/>
            <a:ext cx="248945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12648" y="1773936"/>
          <a:ext cx="10972800" cy="4142232"/>
        </p:xfrm>
        <a:graphic>
          <a:graphicData uri="http://schemas.openxmlformats.org/drawingml/2006/table">
            <a:tbl>
              <a:tblPr firstRow="1" bandRow="1">
                <a:tableStyleId>{5C22544A-7EE6-4342-B048-85BDC9FD1C3A}</a:tableStyleId>
              </a:tblPr>
              <a:tblGrid>
                <a:gridCol w="4572000"/>
                <a:gridCol w="2103120"/>
                <a:gridCol w="4297680"/>
              </a:tblGrid>
              <a:tr h="591747">
                <a:tc>
                  <a:txBody>
                    <a:bodyPr/>
                    <a:lstStyle/>
                    <a:p>
                      <a:pPr>
                        <a:defRPr sz="1800" b="1">
                          <a:solidFill>
                            <a:srgbClr val="FFFFFF"/>
                          </a:solidFill>
                          <a:latin typeface="Arial"/>
                        </a:defRPr>
                      </a:pPr>
                      <a:r>
                        <a:t>Tên sự kiện gốc</a:t>
                      </a:r>
                    </a:p>
                  </a:txBody>
                  <a:tcPr marL="128016" marR="91440" marT="91440" marB="64008" anchor="ctr">
                    <a:solidFill>
                      <a:srgbClr val="244BFF"/>
                    </a:solidFill>
                  </a:tcPr>
                </a:tc>
                <a:tc>
                  <a:txBody>
                    <a:bodyPr/>
                    <a:lstStyle/>
                    <a:p>
                      <a:pPr>
                        <a:defRPr sz="1800" b="1">
                          <a:solidFill>
                            <a:srgbClr val="FFFFFF"/>
                          </a:solidFill>
                          <a:latin typeface="Arial"/>
                        </a:defRPr>
                      </a:pPr>
                      <a:r>
                        <a:t>Tên chuẩn</a:t>
                      </a:r>
                    </a:p>
                  </a:txBody>
                  <a:tcPr marL="128016" marR="91440" marT="91440" marB="64008" anchor="ctr">
                    <a:solidFill>
                      <a:srgbClr val="244BFF"/>
                    </a:solidFill>
                  </a:tcPr>
                </a:tc>
                <a:tc>
                  <a:txBody>
                    <a:bodyPr/>
                    <a:lstStyle/>
                    <a:p>
                      <a:pPr>
                        <a:defRPr sz="1800" b="1">
                          <a:solidFill>
                            <a:srgbClr val="FFFFFF"/>
                          </a:solidFill>
                          <a:latin typeface="Arial"/>
                        </a:defRPr>
                      </a:pPr>
                      <a:r>
                        <a:t>Ý nghĩa</a:t>
                      </a:r>
                    </a:p>
                  </a:txBody>
                  <a:tcPr marL="128016" marR="91440" marT="91440" marB="64008" anchor="ctr">
                    <a:solidFill>
                      <a:srgbClr val="244BFF"/>
                    </a:solidFill>
                  </a:tcPr>
                </a:tc>
              </a:tr>
              <a:tr h="591747">
                <a:tc>
                  <a:txBody>
                    <a:bodyPr/>
                    <a:lstStyle/>
                    <a:p>
                      <a:pPr>
                        <a:defRPr sz="1800" b="0">
                          <a:solidFill>
                            <a:srgbClr val="172B49"/>
                          </a:solidFill>
                          <a:latin typeface="Arial"/>
                        </a:defRPr>
                      </a:pPr>
                      <a:r>
                        <a:t>item_view</a:t>
                      </a:r>
                    </a:p>
                  </a:txBody>
                  <a:tcPr marL="128016" marR="91440" marT="91440" marB="64008" anchor="ctr">
                    <a:solidFill>
                      <a:srgbClr val="F0F4FC"/>
                    </a:solidFill>
                  </a:tcPr>
                </a:tc>
                <a:tc>
                  <a:txBody>
                    <a:bodyPr/>
                    <a:lstStyle/>
                    <a:p>
                      <a:pPr>
                        <a:defRPr sz="1800" b="0">
                          <a:solidFill>
                            <a:srgbClr val="172B49"/>
                          </a:solidFill>
                          <a:latin typeface="Arial"/>
                        </a:defRPr>
                      </a:pPr>
                      <a:r>
                        <a:t>view</a:t>
                      </a:r>
                    </a:p>
                  </a:txBody>
                  <a:tcPr marL="128016" marR="91440" marT="91440" marB="64008" anchor="ctr">
                    <a:solidFill>
                      <a:srgbClr val="F0F4FC"/>
                    </a:solidFill>
                  </a:tcPr>
                </a:tc>
                <a:tc>
                  <a:txBody>
                    <a:bodyPr/>
                    <a:lstStyle/>
                    <a:p>
                      <a:pPr>
                        <a:defRPr sz="1800" b="0">
                          <a:solidFill>
                            <a:srgbClr val="172B49"/>
                          </a:solidFill>
                          <a:latin typeface="Arial"/>
                        </a:defRPr>
                      </a:pPr>
                      <a:r>
                        <a:t>Xem sản phẩm</a:t>
                      </a:r>
                    </a:p>
                  </a:txBody>
                  <a:tcPr marL="128016" marR="91440" marT="91440" marB="64008" anchor="ctr">
                    <a:solidFill>
                      <a:srgbClr val="F0F4FC"/>
                    </a:solidFill>
                  </a:tcPr>
                </a:tc>
              </a:tr>
              <a:tr h="591747">
                <a:tc>
                  <a:txBody>
                    <a:bodyPr/>
                    <a:lstStyle/>
                    <a:p>
                      <a:pPr>
                        <a:defRPr sz="1800" b="0">
                          <a:solidFill>
                            <a:srgbClr val="172B49"/>
                          </a:solidFill>
                          <a:latin typeface="Arial"/>
                        </a:defRPr>
                      </a:pPr>
                      <a:r>
                        <a:t>item_like</a:t>
                      </a:r>
                    </a:p>
                  </a:txBody>
                  <a:tcPr marL="128016" marR="91440" marT="91440" marB="64008" anchor="ctr">
                    <a:solidFill>
                      <a:srgbClr val="FFFFFF"/>
                    </a:solidFill>
                  </a:tcPr>
                </a:tc>
                <a:tc>
                  <a:txBody>
                    <a:bodyPr/>
                    <a:lstStyle/>
                    <a:p>
                      <a:pPr>
                        <a:defRPr sz="1800" b="0">
                          <a:solidFill>
                            <a:srgbClr val="172B49"/>
                          </a:solidFill>
                          <a:latin typeface="Arial"/>
                        </a:defRPr>
                      </a:pPr>
                      <a:r>
                        <a:t>like</a:t>
                      </a:r>
                    </a:p>
                  </a:txBody>
                  <a:tcPr marL="128016" marR="91440" marT="91440" marB="64008" anchor="ctr">
                    <a:solidFill>
                      <a:srgbClr val="FFFFFF"/>
                    </a:solidFill>
                  </a:tcPr>
                </a:tc>
                <a:tc>
                  <a:txBody>
                    <a:bodyPr/>
                    <a:lstStyle/>
                    <a:p>
                      <a:pPr>
                        <a:defRPr sz="1800" b="0">
                          <a:solidFill>
                            <a:srgbClr val="172B49"/>
                          </a:solidFill>
                          <a:latin typeface="Arial"/>
                        </a:defRPr>
                      </a:pPr>
                      <a:r>
                        <a:t>Thích sản phẩm</a:t>
                      </a:r>
                    </a:p>
                  </a:txBody>
                  <a:tcPr marL="128016" marR="91440" marT="91440" marB="64008" anchor="ctr">
                    <a:solidFill>
                      <a:srgbClr val="FFFFFF"/>
                    </a:solidFill>
                  </a:tcPr>
                </a:tc>
              </a:tr>
              <a:tr h="591747">
                <a:tc>
                  <a:txBody>
                    <a:bodyPr/>
                    <a:lstStyle/>
                    <a:p>
                      <a:pPr>
                        <a:defRPr sz="1800" b="0">
                          <a:solidFill>
                            <a:srgbClr val="172B49"/>
                          </a:solidFill>
                          <a:latin typeface="Arial"/>
                        </a:defRPr>
                      </a:pPr>
                      <a:r>
                        <a:t>item_add_to_cart_tap</a:t>
                      </a:r>
                    </a:p>
                  </a:txBody>
                  <a:tcPr marL="128016" marR="91440" marT="91440" marB="64008" anchor="ctr">
                    <a:solidFill>
                      <a:srgbClr val="F0F4FC"/>
                    </a:solidFill>
                  </a:tcPr>
                </a:tc>
                <a:tc>
                  <a:txBody>
                    <a:bodyPr/>
                    <a:lstStyle/>
                    <a:p>
                      <a:pPr>
                        <a:defRPr sz="1800" b="0">
                          <a:solidFill>
                            <a:srgbClr val="172B49"/>
                          </a:solidFill>
                          <a:latin typeface="Arial"/>
                        </a:defRPr>
                      </a:pPr>
                      <a:r>
                        <a:t>cart</a:t>
                      </a:r>
                    </a:p>
                  </a:txBody>
                  <a:tcPr marL="128016" marR="91440" marT="91440" marB="64008" anchor="ctr">
                    <a:solidFill>
                      <a:srgbClr val="F0F4FC"/>
                    </a:solidFill>
                  </a:tcPr>
                </a:tc>
                <a:tc>
                  <a:txBody>
                    <a:bodyPr/>
                    <a:lstStyle/>
                    <a:p>
                      <a:pPr>
                        <a:defRPr sz="1800" b="0">
                          <a:solidFill>
                            <a:srgbClr val="172B49"/>
                          </a:solidFill>
                          <a:latin typeface="Arial"/>
                        </a:defRPr>
                      </a:pPr>
                      <a:r>
                        <a:t>Thêm vào giỏ</a:t>
                      </a:r>
                    </a:p>
                  </a:txBody>
                  <a:tcPr marL="128016" marR="91440" marT="91440" marB="64008" anchor="ctr">
                    <a:solidFill>
                      <a:srgbClr val="F0F4FC"/>
                    </a:solidFill>
                  </a:tcPr>
                </a:tc>
              </a:tr>
              <a:tr h="591747">
                <a:tc>
                  <a:txBody>
                    <a:bodyPr/>
                    <a:lstStyle/>
                    <a:p>
                      <a:pPr>
                        <a:defRPr sz="1800" b="0">
                          <a:solidFill>
                            <a:srgbClr val="172B49"/>
                          </a:solidFill>
                          <a:latin typeface="Arial"/>
                        </a:defRPr>
                      </a:pPr>
                      <a:r>
                        <a:t>offer_make</a:t>
                      </a:r>
                    </a:p>
                  </a:txBody>
                  <a:tcPr marL="128016" marR="91440" marT="91440" marB="64008" anchor="ctr">
                    <a:solidFill>
                      <a:srgbClr val="FFFFFF"/>
                    </a:solidFill>
                  </a:tcPr>
                </a:tc>
                <a:tc>
                  <a:txBody>
                    <a:bodyPr/>
                    <a:lstStyle/>
                    <a:p>
                      <a:pPr>
                        <a:defRPr sz="1800" b="0">
                          <a:solidFill>
                            <a:srgbClr val="172B49"/>
                          </a:solidFill>
                          <a:latin typeface="Arial"/>
                        </a:defRPr>
                      </a:pPr>
                      <a:r>
                        <a:t>offer</a:t>
                      </a:r>
                    </a:p>
                  </a:txBody>
                  <a:tcPr marL="128016" marR="91440" marT="91440" marB="64008" anchor="ctr">
                    <a:solidFill>
                      <a:srgbClr val="FFFFFF"/>
                    </a:solidFill>
                  </a:tcPr>
                </a:tc>
                <a:tc>
                  <a:txBody>
                    <a:bodyPr/>
                    <a:lstStyle/>
                    <a:p>
                      <a:pPr>
                        <a:defRPr sz="1800" b="0">
                          <a:solidFill>
                            <a:srgbClr val="172B49"/>
                          </a:solidFill>
                          <a:latin typeface="Arial"/>
                        </a:defRPr>
                      </a:pPr>
                      <a:r>
                        <a:t>Đưa ra đề nghị</a:t>
                      </a:r>
                    </a:p>
                  </a:txBody>
                  <a:tcPr marL="128016" marR="91440" marT="91440" marB="64008" anchor="ctr">
                    <a:solidFill>
                      <a:srgbClr val="FFFFFF"/>
                    </a:solidFill>
                  </a:tcPr>
                </a:tc>
              </a:tr>
              <a:tr h="591747">
                <a:tc>
                  <a:txBody>
                    <a:bodyPr/>
                    <a:lstStyle/>
                    <a:p>
                      <a:pPr>
                        <a:defRPr sz="1800" b="0">
                          <a:solidFill>
                            <a:srgbClr val="172B49"/>
                          </a:solidFill>
                          <a:latin typeface="Arial"/>
                        </a:defRPr>
                      </a:pPr>
                      <a:r>
                        <a:t>buy_start</a:t>
                      </a:r>
                    </a:p>
                  </a:txBody>
                  <a:tcPr marL="128016" marR="91440" marT="91440" marB="64008" anchor="ctr">
                    <a:solidFill>
                      <a:srgbClr val="F0F4FC"/>
                    </a:solidFill>
                  </a:tcPr>
                </a:tc>
                <a:tc>
                  <a:txBody>
                    <a:bodyPr/>
                    <a:lstStyle/>
                    <a:p>
                      <a:pPr>
                        <a:defRPr sz="1800" b="0">
                          <a:solidFill>
                            <a:srgbClr val="172B49"/>
                          </a:solidFill>
                          <a:latin typeface="Arial"/>
                        </a:defRPr>
                      </a:pPr>
                      <a:r>
                        <a:t>buy_start</a:t>
                      </a:r>
                    </a:p>
                  </a:txBody>
                  <a:tcPr marL="128016" marR="91440" marT="91440" marB="64008" anchor="ctr">
                    <a:solidFill>
                      <a:srgbClr val="F0F4FC"/>
                    </a:solidFill>
                  </a:tcPr>
                </a:tc>
                <a:tc>
                  <a:txBody>
                    <a:bodyPr/>
                    <a:lstStyle/>
                    <a:p>
                      <a:pPr>
                        <a:defRPr sz="1800" b="0">
                          <a:solidFill>
                            <a:srgbClr val="172B49"/>
                          </a:solidFill>
                          <a:latin typeface="Arial"/>
                        </a:defRPr>
                      </a:pPr>
                      <a:r>
                        <a:t>Bắt đầu mua</a:t>
                      </a:r>
                    </a:p>
                  </a:txBody>
                  <a:tcPr marL="128016" marR="91440" marT="91440" marB="64008" anchor="ctr">
                    <a:solidFill>
                      <a:srgbClr val="F0F4FC"/>
                    </a:solidFill>
                  </a:tcPr>
                </a:tc>
              </a:tr>
              <a:tr h="591750">
                <a:tc>
                  <a:txBody>
                    <a:bodyPr/>
                    <a:lstStyle/>
                    <a:p>
                      <a:pPr>
                        <a:defRPr sz="1800" b="0">
                          <a:solidFill>
                            <a:srgbClr val="172B49"/>
                          </a:solidFill>
                          <a:latin typeface="Arial"/>
                        </a:defRPr>
                      </a:pPr>
                      <a:r>
                        <a:t>buy_comp</a:t>
                      </a:r>
                    </a:p>
                  </a:txBody>
                  <a:tcPr marL="128016" marR="91440" marT="91440" marB="64008" anchor="ctr">
                    <a:solidFill>
                      <a:srgbClr val="FFFFFF"/>
                    </a:solidFill>
                  </a:tcPr>
                </a:tc>
                <a:tc>
                  <a:txBody>
                    <a:bodyPr/>
                    <a:lstStyle/>
                    <a:p>
                      <a:pPr>
                        <a:defRPr sz="1800" b="0">
                          <a:solidFill>
                            <a:srgbClr val="172B49"/>
                          </a:solidFill>
                          <a:latin typeface="Arial"/>
                        </a:defRPr>
                      </a:pPr>
                      <a:r>
                        <a:t>buy_comp</a:t>
                      </a:r>
                    </a:p>
                  </a:txBody>
                  <a:tcPr marL="128016" marR="91440" marT="91440" marB="64008" anchor="ctr">
                    <a:solidFill>
                      <a:srgbClr val="FFFFFF"/>
                    </a:solidFill>
                  </a:tcPr>
                </a:tc>
                <a:tc>
                  <a:txBody>
                    <a:bodyPr/>
                    <a:lstStyle/>
                    <a:p>
                      <a:pPr>
                        <a:defRPr sz="1800" b="0">
                          <a:solidFill>
                            <a:srgbClr val="172B49"/>
                          </a:solidFill>
                          <a:latin typeface="Arial"/>
                        </a:defRPr>
                      </a:pPr>
                      <a:r>
                        <a:t>Hoàn tất mua</a:t>
                      </a:r>
                    </a:p>
                  </a:txBody>
                  <a:tcPr marL="128016" marR="91440" marT="91440" marB="64008"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Pipeline tiền xử lý</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10 / 40</a:t>
            </a:r>
          </a:p>
        </p:txBody>
      </p:sp>
      <p:sp>
        <p:nvSpPr>
          <p:cNvPr id="8" name="Rectangle 7"/>
          <p:cNvSpPr/>
          <p:nvPr/>
        </p:nvSpPr>
        <p:spPr>
          <a:xfrm>
            <a:off x="566928" y="6391656"/>
            <a:ext cx="276606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828800"/>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984248"/>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01</a:t>
            </a:r>
          </a:p>
        </p:txBody>
      </p:sp>
      <p:sp>
        <p:nvSpPr>
          <p:cNvPr id="11" name="TextBox 10"/>
          <p:cNvSpPr txBox="1"/>
          <p:nvPr/>
        </p:nvSpPr>
        <p:spPr>
          <a:xfrm>
            <a:off x="804672" y="2377440"/>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Parquet → VIEW</a:t>
            </a:r>
          </a:p>
        </p:txBody>
      </p:sp>
      <p:sp>
        <p:nvSpPr>
          <p:cNvPr id="12" name="TextBox 11"/>
          <p:cNvSpPr txBox="1"/>
          <p:nvPr/>
        </p:nvSpPr>
        <p:spPr>
          <a:xfrm>
            <a:off x="804672" y="2916936"/>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Đọc bằng DuckDB</a:t>
            </a:r>
          </a:p>
        </p:txBody>
      </p:sp>
      <p:sp>
        <p:nvSpPr>
          <p:cNvPr id="13" name="Rounded Rectangle 12"/>
          <p:cNvSpPr/>
          <p:nvPr/>
        </p:nvSpPr>
        <p:spPr>
          <a:xfrm>
            <a:off x="4407407" y="1828800"/>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984248"/>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02</a:t>
            </a:r>
          </a:p>
        </p:txBody>
      </p:sp>
      <p:sp>
        <p:nvSpPr>
          <p:cNvPr id="15" name="TextBox 14"/>
          <p:cNvSpPr txBox="1"/>
          <p:nvPr/>
        </p:nvSpPr>
        <p:spPr>
          <a:xfrm>
            <a:off x="4590288" y="2377440"/>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Chuẩn hóa</a:t>
            </a:r>
          </a:p>
        </p:txBody>
      </p:sp>
      <p:sp>
        <p:nvSpPr>
          <p:cNvPr id="16" name="TextBox 15"/>
          <p:cNvSpPr txBox="1"/>
          <p:nvPr/>
        </p:nvSpPr>
        <p:spPr>
          <a:xfrm>
            <a:off x="4590288" y="2916936"/>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ID · thời gian · metadata</a:t>
            </a:r>
          </a:p>
        </p:txBody>
      </p:sp>
      <p:sp>
        <p:nvSpPr>
          <p:cNvPr id="17" name="Rounded Rectangle 16"/>
          <p:cNvSpPr/>
          <p:nvPr/>
        </p:nvSpPr>
        <p:spPr>
          <a:xfrm>
            <a:off x="8193023" y="1828800"/>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3" y="1984248"/>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03</a:t>
            </a:r>
          </a:p>
        </p:txBody>
      </p:sp>
      <p:sp>
        <p:nvSpPr>
          <p:cNvPr id="19" name="TextBox 18"/>
          <p:cNvSpPr txBox="1"/>
          <p:nvPr/>
        </p:nvSpPr>
        <p:spPr>
          <a:xfrm>
            <a:off x="8375903" y="2377440"/>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Làm sạch</a:t>
            </a:r>
          </a:p>
        </p:txBody>
      </p:sp>
      <p:sp>
        <p:nvSpPr>
          <p:cNvPr id="20" name="TextBox 19"/>
          <p:cNvSpPr txBox="1"/>
          <p:nvPr/>
        </p:nvSpPr>
        <p:spPr>
          <a:xfrm>
            <a:off x="8375903" y="2916936"/>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Lọc lỗi và khử trùng</a:t>
            </a:r>
          </a:p>
        </p:txBody>
      </p:sp>
      <p:sp>
        <p:nvSpPr>
          <p:cNvPr id="21" name="Rounded Rectangle 20"/>
          <p:cNvSpPr/>
          <p:nvPr/>
        </p:nvSpPr>
        <p:spPr>
          <a:xfrm>
            <a:off x="621792" y="3694176"/>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849624"/>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04</a:t>
            </a:r>
          </a:p>
        </p:txBody>
      </p:sp>
      <p:sp>
        <p:nvSpPr>
          <p:cNvPr id="23" name="TextBox 22"/>
          <p:cNvSpPr txBox="1"/>
          <p:nvPr/>
        </p:nvSpPr>
        <p:spPr>
          <a:xfrm>
            <a:off x="804672" y="4242816"/>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Temporal split</a:t>
            </a:r>
          </a:p>
        </p:txBody>
      </p:sp>
      <p:sp>
        <p:nvSpPr>
          <p:cNvPr id="24" name="TextBox 23"/>
          <p:cNvSpPr txBox="1"/>
          <p:nvPr/>
        </p:nvSpPr>
        <p:spPr>
          <a:xfrm>
            <a:off x="804672" y="4782312"/>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TRAIN → VAL → TEST</a:t>
            </a:r>
          </a:p>
        </p:txBody>
      </p:sp>
      <p:sp>
        <p:nvSpPr>
          <p:cNvPr id="25" name="Rounded Rectangle 24"/>
          <p:cNvSpPr/>
          <p:nvPr/>
        </p:nvSpPr>
        <p:spPr>
          <a:xfrm>
            <a:off x="4407407" y="3694176"/>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0288" y="3849624"/>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05</a:t>
            </a:r>
          </a:p>
        </p:txBody>
      </p:sp>
      <p:sp>
        <p:nvSpPr>
          <p:cNvPr id="27" name="TextBox 26"/>
          <p:cNvSpPr txBox="1"/>
          <p:nvPr/>
        </p:nvSpPr>
        <p:spPr>
          <a:xfrm>
            <a:off x="4590288" y="4242816"/>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Đặc trưng</a:t>
            </a:r>
          </a:p>
        </p:txBody>
      </p:sp>
      <p:sp>
        <p:nvSpPr>
          <p:cNvPr id="28" name="TextBox 27"/>
          <p:cNvSpPr txBox="1"/>
          <p:nvPr/>
        </p:nvSpPr>
        <p:spPr>
          <a:xfrm>
            <a:off x="4590288" y="4782312"/>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ID maps · CF pairs · catalog</a:t>
            </a:r>
          </a:p>
        </p:txBody>
      </p:sp>
      <p:sp>
        <p:nvSpPr>
          <p:cNvPr id="29" name="Rounded Rectangle 28"/>
          <p:cNvSpPr/>
          <p:nvPr/>
        </p:nvSpPr>
        <p:spPr>
          <a:xfrm>
            <a:off x="8193023" y="3694176"/>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75903" y="3849624"/>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06</a:t>
            </a:r>
          </a:p>
        </p:txBody>
      </p:sp>
      <p:sp>
        <p:nvSpPr>
          <p:cNvPr id="31" name="TextBox 30"/>
          <p:cNvSpPr txBox="1"/>
          <p:nvPr/>
        </p:nvSpPr>
        <p:spPr>
          <a:xfrm>
            <a:off x="8375903" y="4242816"/>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Đầu ra</a:t>
            </a:r>
          </a:p>
        </p:txBody>
      </p:sp>
      <p:sp>
        <p:nvSpPr>
          <p:cNvPr id="32" name="TextBox 31"/>
          <p:cNvSpPr txBox="1"/>
          <p:nvPr/>
        </p:nvSpPr>
        <p:spPr>
          <a:xfrm>
            <a:off x="8375903" y="4782312"/>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Snapshots · cold-start cohorts</a:t>
            </a:r>
          </a:p>
        </p:txBody>
      </p:sp>
      <p:sp>
        <p:nvSpPr>
          <p:cNvPr id="33" name="Rounded Rectangle 32"/>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Không nạp toàn bộ raw vào Pandas; xử lý theo VIEW, batch và file Parquet.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Làm sạch và khử trùng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11 / 40</a:t>
            </a:r>
          </a:p>
        </p:txBody>
      </p:sp>
      <p:sp>
        <p:nvSpPr>
          <p:cNvPr id="8" name="Rectangle 7"/>
          <p:cNvSpPr/>
          <p:nvPr/>
        </p:nvSpPr>
        <p:spPr>
          <a:xfrm>
            <a:off x="566928" y="6391656"/>
            <a:ext cx="304266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819656"/>
            <a:ext cx="4754880" cy="177393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02536"/>
            <a:ext cx="4352544"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174.872.167</a:t>
            </a:r>
          </a:p>
        </p:txBody>
      </p:sp>
      <p:sp>
        <p:nvSpPr>
          <p:cNvPr id="11" name="TextBox 10"/>
          <p:cNvSpPr txBox="1"/>
          <p:nvPr/>
        </p:nvSpPr>
        <p:spPr>
          <a:xfrm>
            <a:off x="822960" y="2679191"/>
            <a:ext cx="4352544"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Dòng trước xử lý</a:t>
            </a:r>
          </a:p>
        </p:txBody>
      </p:sp>
      <p:sp>
        <p:nvSpPr>
          <p:cNvPr id="12" name="Chevron 11"/>
          <p:cNvSpPr/>
          <p:nvPr/>
        </p:nvSpPr>
        <p:spPr>
          <a:xfrm>
            <a:off x="5669280" y="2487168"/>
            <a:ext cx="640080" cy="45720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66560" y="1819656"/>
            <a:ext cx="4754880" cy="177393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67728" y="2002536"/>
            <a:ext cx="4352544"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174.725.659</a:t>
            </a:r>
          </a:p>
        </p:txBody>
      </p:sp>
      <p:sp>
        <p:nvSpPr>
          <p:cNvPr id="15" name="TextBox 14"/>
          <p:cNvSpPr txBox="1"/>
          <p:nvPr/>
        </p:nvSpPr>
        <p:spPr>
          <a:xfrm>
            <a:off x="6967728" y="2679191"/>
            <a:ext cx="4352544"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Dòng sau làm sạch</a:t>
            </a:r>
          </a:p>
        </p:txBody>
      </p:sp>
      <p:sp>
        <p:nvSpPr>
          <p:cNvPr id="16" name="TextBox 15"/>
          <p:cNvSpPr txBox="1"/>
          <p:nvPr/>
        </p:nvSpPr>
        <p:spPr>
          <a:xfrm>
            <a:off x="731520" y="3886200"/>
            <a:ext cx="107899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KHÓA KHỬ TRÙNG</a:t>
            </a:r>
          </a:p>
        </p:txBody>
      </p:sp>
      <p:sp>
        <p:nvSpPr>
          <p:cNvPr id="17" name="Rounded Rectangle 16"/>
          <p:cNvSpPr/>
          <p:nvPr/>
        </p:nvSpPr>
        <p:spPr>
          <a:xfrm>
            <a:off x="658368" y="4279392"/>
            <a:ext cx="10872216" cy="60350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453128"/>
            <a:ext cx="10424160" cy="356616"/>
          </a:xfrm>
          <a:prstGeom prst="rect">
            <a:avLst/>
          </a:prstGeom>
          <a:noFill/>
        </p:spPr>
        <p:txBody>
          <a:bodyPr wrap="square" lIns="0" rIns="0" tIns="0" bIns="0">
            <a:spAutoFit/>
          </a:bodyPr>
          <a:lstStyle/>
          <a:p>
            <a:pPr algn="ctr">
              <a:spcBef>
                <a:spcPts val="0"/>
              </a:spcBef>
              <a:spcAft>
                <a:spcPts val="600"/>
              </a:spcAft>
              <a:defRPr sz="2100" b="1">
                <a:solidFill>
                  <a:srgbClr val="FFFFFF"/>
                </a:solidFill>
                <a:latin typeface="Arial"/>
              </a:defRPr>
            </a:pPr>
            <a:r>
              <a:t>user · item · event · timestamp · session · sequence</a:t>
            </a:r>
          </a:p>
        </p:txBody>
      </p:sp>
      <p:sp>
        <p:nvSpPr>
          <p:cNvPr id="19" name="TextBox 18"/>
          <p:cNvSpPr txBox="1"/>
          <p:nvPr/>
        </p:nvSpPr>
        <p:spPr>
          <a:xfrm>
            <a:off x="731520" y="5138928"/>
            <a:ext cx="10607040" cy="49377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Tổng giảm 146.508 dòng; giữ một sự kiện trên mỗi khóa sau bước lọc hợp lệ.</a:t>
            </a:r>
          </a:p>
        </p:txBody>
      </p:sp>
      <p:sp>
        <p:nvSpPr>
          <p:cNvPr id="20" name="Rounded Rectangle 19"/>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Chuẩn hóa kiểu ID, trim chuỗi và parse timestamp theo đúng kiểu dữ liệu nguồn.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Xử lý metadata thiếu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12 / 40</a:t>
            </a:r>
          </a:p>
        </p:txBody>
      </p:sp>
      <p:sp>
        <p:nvSpPr>
          <p:cNvPr id="8" name="Rectangle 7"/>
          <p:cNvSpPr/>
          <p:nvPr/>
        </p:nvSpPr>
        <p:spPr>
          <a:xfrm>
            <a:off x="566928" y="6391656"/>
            <a:ext cx="331927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_missing_percentage.png"/>
          <p:cNvPicPr>
            <a:picLocks noChangeAspect="1"/>
          </p:cNvPicPr>
          <p:nvPr/>
        </p:nvPicPr>
        <p:blipFill>
          <a:blip r:embed="rId2"/>
          <a:stretch>
            <a:fillRect/>
          </a:stretch>
        </p:blipFill>
        <p:spPr>
          <a:xfrm>
            <a:off x="676655" y="1971700"/>
            <a:ext cx="6775704" cy="3362654"/>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Color thiếu 95,61%; size_name thiếu 62,74%.</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Brand_name thiếu 19,20%; các trường tùy chọn không đồng nghĩa sự kiện vô dụng.</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Danh mục dùng cấp cha; brand/condition/shipper dùng __UNK__.</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Color không xuất vào interactions train/val/test.</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Tỷ lệ missing theo dòng tương tác; giữ NULL của size ở bước chuẩn hóa.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Chia TRAIN / VAL / TEST theo thời gian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13 / 40</a:t>
            </a:r>
          </a:p>
        </p:txBody>
      </p:sp>
      <p:sp>
        <p:nvSpPr>
          <p:cNvPr id="8" name="Rectangle 7"/>
          <p:cNvSpPr/>
          <p:nvPr/>
        </p:nvSpPr>
        <p:spPr>
          <a:xfrm>
            <a:off x="566928" y="6391656"/>
            <a:ext cx="3595877"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13_temporal_split.png"/>
          <p:cNvPicPr>
            <a:picLocks noChangeAspect="1"/>
          </p:cNvPicPr>
          <p:nvPr/>
        </p:nvPicPr>
        <p:blipFill>
          <a:blip r:embed="rId2"/>
          <a:stretch>
            <a:fillRect/>
          </a:stretch>
        </p:blipFill>
        <p:spPr>
          <a:xfrm>
            <a:off x="3921389" y="1691640"/>
            <a:ext cx="4318741" cy="2084831"/>
          </a:xfrm>
          <a:prstGeom prst="rect">
            <a:avLst/>
          </a:prstGeom>
        </p:spPr>
      </p:pic>
      <p:graphicFrame>
        <p:nvGraphicFramePr>
          <p:cNvPr id="10" name="Table 9"/>
          <p:cNvGraphicFramePr>
            <a:graphicFrameLocks noGrp="1"/>
          </p:cNvGraphicFramePr>
          <p:nvPr/>
        </p:nvGraphicFramePr>
        <p:xfrm>
          <a:off x="658368" y="3931920"/>
          <a:ext cx="10881359" cy="1481328"/>
        </p:xfrm>
        <a:graphic>
          <a:graphicData uri="http://schemas.openxmlformats.org/drawingml/2006/table">
            <a:tbl>
              <a:tblPr firstRow="1" bandRow="1">
                <a:tableStyleId>{5C22544A-7EE6-4342-B048-85BDC9FD1C3A}</a:tableStyleId>
              </a:tblPr>
              <a:tblGrid>
                <a:gridCol w="1920240"/>
                <a:gridCol w="5212080"/>
                <a:gridCol w="3749039"/>
              </a:tblGrid>
              <a:tr h="370332">
                <a:tc>
                  <a:txBody>
                    <a:bodyPr/>
                    <a:lstStyle/>
                    <a:p>
                      <a:pPr>
                        <a:defRPr sz="1600" b="1">
                          <a:solidFill>
                            <a:srgbClr val="FFFFFF"/>
                          </a:solidFill>
                          <a:latin typeface="Arial"/>
                        </a:defRPr>
                      </a:pPr>
                      <a:r>
                        <a:t>Tập</a:t>
                      </a:r>
                    </a:p>
                  </a:txBody>
                  <a:tcPr marL="128016" marR="91440" marT="91440" marB="64008" anchor="ctr">
                    <a:solidFill>
                      <a:srgbClr val="244BFF"/>
                    </a:solidFill>
                  </a:tcPr>
                </a:tc>
                <a:tc>
                  <a:txBody>
                    <a:bodyPr/>
                    <a:lstStyle/>
                    <a:p>
                      <a:pPr>
                        <a:defRPr sz="1600" b="1">
                          <a:solidFill>
                            <a:srgbClr val="FFFFFF"/>
                          </a:solidFill>
                          <a:latin typeface="Arial"/>
                        </a:defRPr>
                      </a:pPr>
                      <a:r>
                        <a:t>Thời gian UTC</a:t>
                      </a:r>
                    </a:p>
                  </a:txBody>
                  <a:tcPr marL="128016" marR="91440" marT="91440" marB="64008" anchor="ctr">
                    <a:solidFill>
                      <a:srgbClr val="244BFF"/>
                    </a:solidFill>
                  </a:tcPr>
                </a:tc>
                <a:tc>
                  <a:txBody>
                    <a:bodyPr/>
                    <a:lstStyle/>
                    <a:p>
                      <a:pPr>
                        <a:defRPr sz="1600" b="1">
                          <a:solidFill>
                            <a:srgbClr val="FFFFFF"/>
                          </a:solidFill>
                          <a:latin typeface="Arial"/>
                        </a:defRPr>
                      </a:pPr>
                      <a:r>
                        <a:t>Số tương tác</a:t>
                      </a:r>
                    </a:p>
                  </a:txBody>
                  <a:tcPr marL="128016" marR="91440" marT="91440" marB="64008" anchor="ctr">
                    <a:solidFill>
                      <a:srgbClr val="244BFF"/>
                    </a:solidFill>
                  </a:tcPr>
                </a:tc>
              </a:tr>
              <a:tr h="370332">
                <a:tc>
                  <a:txBody>
                    <a:bodyPr/>
                    <a:lstStyle/>
                    <a:p>
                      <a:pPr>
                        <a:defRPr sz="1600" b="0">
                          <a:solidFill>
                            <a:srgbClr val="172B49"/>
                          </a:solidFill>
                          <a:latin typeface="Arial"/>
                        </a:defRPr>
                      </a:pPr>
                      <a:r>
                        <a:t>TRAIN</a:t>
                      </a:r>
                    </a:p>
                  </a:txBody>
                  <a:tcPr marL="128016" marR="91440" marT="91440" marB="64008" anchor="ctr">
                    <a:solidFill>
                      <a:srgbClr val="F0F4FC"/>
                    </a:solidFill>
                  </a:tcPr>
                </a:tc>
                <a:tc>
                  <a:txBody>
                    <a:bodyPr/>
                    <a:lstStyle/>
                    <a:p>
                      <a:pPr>
                        <a:defRPr sz="1600" b="0">
                          <a:solidFill>
                            <a:srgbClr val="172B49"/>
                          </a:solidFill>
                          <a:latin typeface="Arial"/>
                        </a:defRPr>
                      </a:pPr>
                      <a:r>
                        <a:t>01–25/05</a:t>
                      </a:r>
                    </a:p>
                  </a:txBody>
                  <a:tcPr marL="128016" marR="91440" marT="91440" marB="64008" anchor="ctr">
                    <a:solidFill>
                      <a:srgbClr val="F0F4FC"/>
                    </a:solidFill>
                  </a:tcPr>
                </a:tc>
                <a:tc>
                  <a:txBody>
                    <a:bodyPr/>
                    <a:lstStyle/>
                    <a:p>
                      <a:pPr>
                        <a:defRPr sz="1600" b="0">
                          <a:solidFill>
                            <a:srgbClr val="172B49"/>
                          </a:solidFill>
                          <a:latin typeface="Arial"/>
                        </a:defRPr>
                      </a:pPr>
                      <a:r>
                        <a:t>145.998.253</a:t>
                      </a:r>
                    </a:p>
                  </a:txBody>
                  <a:tcPr marL="128016" marR="91440" marT="91440" marB="64008" anchor="ctr">
                    <a:solidFill>
                      <a:srgbClr val="F0F4FC"/>
                    </a:solidFill>
                  </a:tcPr>
                </a:tc>
              </a:tr>
              <a:tr h="370332">
                <a:tc>
                  <a:txBody>
                    <a:bodyPr/>
                    <a:lstStyle/>
                    <a:p>
                      <a:pPr>
                        <a:defRPr sz="1600" b="0">
                          <a:solidFill>
                            <a:srgbClr val="172B49"/>
                          </a:solidFill>
                          <a:latin typeface="Arial"/>
                        </a:defRPr>
                      </a:pPr>
                      <a:r>
                        <a:t>VAL</a:t>
                      </a:r>
                    </a:p>
                  </a:txBody>
                  <a:tcPr marL="128016" marR="91440" marT="91440" marB="64008" anchor="ctr">
                    <a:solidFill>
                      <a:srgbClr val="FFFFFF"/>
                    </a:solidFill>
                  </a:tcPr>
                </a:tc>
                <a:tc>
                  <a:txBody>
                    <a:bodyPr/>
                    <a:lstStyle/>
                    <a:p>
                      <a:pPr>
                        <a:defRPr sz="1600" b="0">
                          <a:solidFill>
                            <a:srgbClr val="172B49"/>
                          </a:solidFill>
                          <a:latin typeface="Arial"/>
                        </a:defRPr>
                      </a:pPr>
                      <a:r>
                        <a:t>26–28/05</a:t>
                      </a:r>
                    </a:p>
                  </a:txBody>
                  <a:tcPr marL="128016" marR="91440" marT="91440" marB="64008" anchor="ctr">
                    <a:solidFill>
                      <a:srgbClr val="FFFFFF"/>
                    </a:solidFill>
                  </a:tcPr>
                </a:tc>
                <a:tc>
                  <a:txBody>
                    <a:bodyPr/>
                    <a:lstStyle/>
                    <a:p>
                      <a:pPr>
                        <a:defRPr sz="1600" b="0">
                          <a:solidFill>
                            <a:srgbClr val="172B49"/>
                          </a:solidFill>
                          <a:latin typeface="Arial"/>
                        </a:defRPr>
                      </a:pPr>
                      <a:r>
                        <a:t>16.885.121</a:t>
                      </a:r>
                    </a:p>
                  </a:txBody>
                  <a:tcPr marL="128016" marR="91440" marT="91440" marB="64008" anchor="ctr">
                    <a:solidFill>
                      <a:srgbClr val="FFFFFF"/>
                    </a:solidFill>
                  </a:tcPr>
                </a:tc>
              </a:tr>
              <a:tr h="370332">
                <a:tc>
                  <a:txBody>
                    <a:bodyPr/>
                    <a:lstStyle/>
                    <a:p>
                      <a:pPr>
                        <a:defRPr sz="1600" b="0">
                          <a:solidFill>
                            <a:srgbClr val="172B49"/>
                          </a:solidFill>
                          <a:latin typeface="Arial"/>
                        </a:defRPr>
                      </a:pPr>
                      <a:r>
                        <a:t>TEST</a:t>
                      </a:r>
                    </a:p>
                  </a:txBody>
                  <a:tcPr marL="128016" marR="91440" marT="91440" marB="64008" anchor="ctr">
                    <a:solidFill>
                      <a:srgbClr val="F0F4FC"/>
                    </a:solidFill>
                  </a:tcPr>
                </a:tc>
                <a:tc>
                  <a:txBody>
                    <a:bodyPr/>
                    <a:lstStyle/>
                    <a:p>
                      <a:pPr>
                        <a:defRPr sz="1600" b="0">
                          <a:solidFill>
                            <a:srgbClr val="172B49"/>
                          </a:solidFill>
                          <a:latin typeface="Arial"/>
                        </a:defRPr>
                      </a:pPr>
                      <a:r>
                        <a:t>29/05–31/05 00:00</a:t>
                      </a:r>
                    </a:p>
                  </a:txBody>
                  <a:tcPr marL="128016" marR="91440" marT="91440" marB="64008" anchor="ctr">
                    <a:solidFill>
                      <a:srgbClr val="F0F4FC"/>
                    </a:solidFill>
                  </a:tcPr>
                </a:tc>
                <a:tc>
                  <a:txBody>
                    <a:bodyPr/>
                    <a:lstStyle/>
                    <a:p>
                      <a:pPr>
                        <a:defRPr sz="1600" b="0">
                          <a:solidFill>
                            <a:srgbClr val="172B49"/>
                          </a:solidFill>
                          <a:latin typeface="Arial"/>
                        </a:defRPr>
                      </a:pPr>
                      <a:r>
                        <a:t>11.842.285</a:t>
                      </a:r>
                    </a:p>
                  </a:txBody>
                  <a:tcPr marL="128016" marR="91440" marT="91440" marB="64008" anchor="ctr">
                    <a:solidFill>
                      <a:srgbClr val="F0F4FC"/>
                    </a:solidFill>
                  </a:tcPr>
                </a:tc>
              </a:tr>
            </a:tbl>
          </a:graphicData>
        </a:graphic>
      </p:graphicFrame>
      <p:sp>
        <p:nvSpPr>
          <p:cNvPr id="11" name="Rounded Rectangle 10"/>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Integrity đã lưu: TRAIN kết thúc trước VAL; VAL kết thúc trước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ID mapping và cold-start</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14 / 40</a:t>
            </a:r>
          </a:p>
        </p:txBody>
      </p:sp>
      <p:sp>
        <p:nvSpPr>
          <p:cNvPr id="8" name="Rectangle 7"/>
          <p:cNvSpPr/>
          <p:nvPr/>
        </p:nvSpPr>
        <p:spPr>
          <a:xfrm>
            <a:off x="566928" y="6391656"/>
            <a:ext cx="387248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14_cold_start.png"/>
          <p:cNvPicPr>
            <a:picLocks noChangeAspect="1"/>
          </p:cNvPicPr>
          <p:nvPr/>
        </p:nvPicPr>
        <p:blipFill>
          <a:blip r:embed="rId2"/>
          <a:stretch>
            <a:fillRect/>
          </a:stretch>
        </p:blipFill>
        <p:spPr>
          <a:xfrm>
            <a:off x="792341" y="1847088"/>
            <a:ext cx="6544332" cy="3611880"/>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Mapping chỉ xây từ TRAIN.</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2.581.378 user và 27.328.461 item.</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TEST cold-item: 32,75% dòng.</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Tách warm, cold-user, cold-item và cold-both.</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Cold-user và cold-item có phần giao nhau; không cộng ba cột thành tổng.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mất cân bằng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15 / 40</a:t>
            </a:r>
          </a:p>
        </p:txBody>
      </p:sp>
      <p:sp>
        <p:nvSpPr>
          <p:cNvPr id="8" name="Rectangle 7"/>
          <p:cNvSpPr/>
          <p:nvPr/>
        </p:nvSpPr>
        <p:spPr>
          <a:xfrm>
            <a:off x="566928" y="6391656"/>
            <a:ext cx="414908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15_event_mapping_corrected.png"/>
          <p:cNvPicPr>
            <a:picLocks noChangeAspect="1"/>
          </p:cNvPicPr>
          <p:nvPr/>
        </p:nvPicPr>
        <p:blipFill>
          <a:blip r:embed="rId2"/>
          <a:stretch>
            <a:fillRect/>
          </a:stretch>
        </p:blipFill>
        <p:spPr>
          <a:xfrm>
            <a:off x="1812466" y="1609344"/>
            <a:ext cx="8591451" cy="4279392"/>
          </a:xfrm>
          <a:prstGeom prst="rect">
            <a:avLst/>
          </a:prstGeom>
        </p:spPr>
      </p:pic>
      <p:sp>
        <p:nvSpPr>
          <p:cNvPr id="10" name="Rounded Rectangle 9"/>
          <p:cNvSpPr/>
          <p:nvPr/>
        </p:nvSpPr>
        <p:spPr>
          <a:xfrm>
            <a:off x="566928" y="5897880"/>
            <a:ext cx="11064240" cy="36576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980176"/>
            <a:ext cx="10698480" cy="256032"/>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Tỷ lệ đếm hành vi, không phải conversion rate. Cart và offer đã dùng mapping đúng.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người dùng có phân bố dài đuôi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16 / 40</a:t>
            </a:r>
          </a:p>
        </p:txBody>
      </p:sp>
      <p:sp>
        <p:nvSpPr>
          <p:cNvPr id="8" name="Rectangle 7"/>
          <p:cNvSpPr/>
          <p:nvPr/>
        </p:nvSpPr>
        <p:spPr>
          <a:xfrm>
            <a:off x="566928" y="6391656"/>
            <a:ext cx="442569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user_interactions_log.png"/>
          <p:cNvPicPr>
            <a:picLocks noChangeAspect="1"/>
          </p:cNvPicPr>
          <p:nvPr/>
        </p:nvPicPr>
        <p:blipFill>
          <a:blip r:embed="rId2"/>
          <a:stretch>
            <a:fillRect/>
          </a:stretch>
        </p:blipFill>
        <p:spPr>
          <a:xfrm>
            <a:off x="676656" y="2169890"/>
            <a:ext cx="6775703" cy="2966275"/>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Mean 63,23; median chỉ 12 tương tác/user.</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P95 = 275; P99 = 791.</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13,31% user có đúng một tương tác.</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31,36% user có dưới 5 tương tác.</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Histogram trên mẫu 100.000 user; các số thống kê từ toàn bộ user.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long-tail của sản phẩm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17 / 40</a:t>
            </a:r>
          </a:p>
        </p:txBody>
      </p:sp>
      <p:sp>
        <p:nvSpPr>
          <p:cNvPr id="8" name="Rectangle 7"/>
          <p:cNvSpPr/>
          <p:nvPr/>
        </p:nvSpPr>
        <p:spPr>
          <a:xfrm>
            <a:off x="566928" y="6391656"/>
            <a:ext cx="470230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6_item_interactions_log.png"/>
          <p:cNvPicPr>
            <a:picLocks noChangeAspect="1"/>
          </p:cNvPicPr>
          <p:nvPr/>
        </p:nvPicPr>
        <p:blipFill>
          <a:blip r:embed="rId2"/>
          <a:stretch>
            <a:fillRect/>
          </a:stretch>
        </p:blipFill>
        <p:spPr>
          <a:xfrm>
            <a:off x="640080" y="2279529"/>
            <a:ext cx="5376671" cy="2353805"/>
          </a:xfrm>
          <a:prstGeom prst="rect">
            <a:avLst/>
          </a:prstGeom>
        </p:spPr>
      </p:pic>
      <p:pic>
        <p:nvPicPr>
          <p:cNvPr id="10" name="Picture 9" descr="06_popularity_pareto.png"/>
          <p:cNvPicPr>
            <a:picLocks noChangeAspect="1"/>
          </p:cNvPicPr>
          <p:nvPr/>
        </p:nvPicPr>
        <p:blipFill>
          <a:blip r:embed="rId3"/>
          <a:stretch>
            <a:fillRect/>
          </a:stretch>
        </p:blipFill>
        <p:spPr>
          <a:xfrm>
            <a:off x="6490632" y="1746503"/>
            <a:ext cx="4812958" cy="3419856"/>
          </a:xfrm>
          <a:prstGeom prst="rect">
            <a:avLst/>
          </a:prstGeom>
        </p:spPr>
      </p:pic>
      <p:sp>
        <p:nvSpPr>
          <p:cNvPr id="11" name="TextBox 10"/>
          <p:cNvSpPr txBox="1"/>
          <p:nvPr/>
        </p:nvSpPr>
        <p:spPr>
          <a:xfrm>
            <a:off x="768096" y="5257800"/>
            <a:ext cx="3291840" cy="457200"/>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2</a:t>
            </a:r>
          </a:p>
        </p:txBody>
      </p:sp>
      <p:sp>
        <p:nvSpPr>
          <p:cNvPr id="12" name="TextBox 11"/>
          <p:cNvSpPr txBox="1"/>
          <p:nvPr/>
        </p:nvSpPr>
        <p:spPr>
          <a:xfrm>
            <a:off x="768096" y="5797296"/>
            <a:ext cx="329184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Trung vị tương tác/item</a:t>
            </a:r>
          </a:p>
        </p:txBody>
      </p:sp>
      <p:sp>
        <p:nvSpPr>
          <p:cNvPr id="13" name="TextBox 12"/>
          <p:cNvSpPr txBox="1"/>
          <p:nvPr/>
        </p:nvSpPr>
        <p:spPr>
          <a:xfrm>
            <a:off x="4507992" y="5257800"/>
            <a:ext cx="3291840" cy="457200"/>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71,17%</a:t>
            </a:r>
          </a:p>
        </p:txBody>
      </p:sp>
      <p:sp>
        <p:nvSpPr>
          <p:cNvPr id="14" name="TextBox 13"/>
          <p:cNvSpPr txBox="1"/>
          <p:nvPr/>
        </p:nvSpPr>
        <p:spPr>
          <a:xfrm>
            <a:off x="4507992" y="5797296"/>
            <a:ext cx="329184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Item có dưới 5 tương tác</a:t>
            </a:r>
          </a:p>
        </p:txBody>
      </p:sp>
      <p:sp>
        <p:nvSpPr>
          <p:cNvPr id="15" name="TextBox 14"/>
          <p:cNvSpPr txBox="1"/>
          <p:nvPr/>
        </p:nvSpPr>
        <p:spPr>
          <a:xfrm>
            <a:off x="8266175" y="5257800"/>
            <a:ext cx="3291840" cy="457200"/>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85,59%</a:t>
            </a:r>
          </a:p>
        </p:txBody>
      </p:sp>
      <p:sp>
        <p:nvSpPr>
          <p:cNvPr id="16" name="TextBox 15"/>
          <p:cNvSpPr txBox="1"/>
          <p:nvPr/>
        </p:nvSpPr>
        <p:spPr>
          <a:xfrm>
            <a:off x="8266175" y="5797296"/>
            <a:ext cx="329184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Item có dưới 10 tương tác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các phiên tương tác thường ngắn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18 / 40</a:t>
            </a:r>
          </a:p>
        </p:txBody>
      </p:sp>
      <p:sp>
        <p:nvSpPr>
          <p:cNvPr id="8" name="Rectangle 7"/>
          <p:cNvSpPr/>
          <p:nvPr/>
        </p:nvSpPr>
        <p:spPr>
          <a:xfrm>
            <a:off x="566928" y="6391656"/>
            <a:ext cx="4978907"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7_session_length.png"/>
          <p:cNvPicPr>
            <a:picLocks noChangeAspect="1"/>
          </p:cNvPicPr>
          <p:nvPr/>
        </p:nvPicPr>
        <p:blipFill>
          <a:blip r:embed="rId2"/>
          <a:stretch>
            <a:fillRect/>
          </a:stretch>
        </p:blipFill>
        <p:spPr>
          <a:xfrm>
            <a:off x="676656" y="2188079"/>
            <a:ext cx="5285232" cy="2317248"/>
          </a:xfrm>
          <a:prstGeom prst="rect">
            <a:avLst/>
          </a:prstGeom>
        </p:spPr>
      </p:pic>
      <p:pic>
        <p:nvPicPr>
          <p:cNvPr id="10" name="Picture 9" descr="07_session_duration.png"/>
          <p:cNvPicPr>
            <a:picLocks noChangeAspect="1"/>
          </p:cNvPicPr>
          <p:nvPr/>
        </p:nvPicPr>
        <p:blipFill>
          <a:blip r:embed="rId3"/>
          <a:stretch>
            <a:fillRect/>
          </a:stretch>
        </p:blipFill>
        <p:spPr>
          <a:xfrm>
            <a:off x="6254496" y="2188079"/>
            <a:ext cx="5285232" cy="2317248"/>
          </a:xfrm>
          <a:prstGeom prst="rect">
            <a:avLst/>
          </a:prstGeom>
        </p:spPr>
      </p:pic>
      <p:sp>
        <p:nvSpPr>
          <p:cNvPr id="11" name="TextBox 10"/>
          <p:cNvSpPr txBox="1"/>
          <p:nvPr/>
        </p:nvSpPr>
        <p:spPr>
          <a:xfrm>
            <a:off x="768096" y="5175504"/>
            <a:ext cx="3291840" cy="475488"/>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34,83M</a:t>
            </a:r>
          </a:p>
        </p:txBody>
      </p:sp>
      <p:sp>
        <p:nvSpPr>
          <p:cNvPr id="12" name="TextBox 11"/>
          <p:cNvSpPr txBox="1"/>
          <p:nvPr/>
        </p:nvSpPr>
        <p:spPr>
          <a:xfrm>
            <a:off x="768096" y="5724144"/>
            <a:ext cx="3291840" cy="393192"/>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Session theo user + session_id</a:t>
            </a:r>
          </a:p>
        </p:txBody>
      </p:sp>
      <p:sp>
        <p:nvSpPr>
          <p:cNvPr id="13" name="TextBox 12"/>
          <p:cNvSpPr txBox="1"/>
          <p:nvPr/>
        </p:nvSpPr>
        <p:spPr>
          <a:xfrm>
            <a:off x="4507992" y="5175504"/>
            <a:ext cx="3291840" cy="475488"/>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2</a:t>
            </a:r>
          </a:p>
        </p:txBody>
      </p:sp>
      <p:sp>
        <p:nvSpPr>
          <p:cNvPr id="14" name="TextBox 13"/>
          <p:cNvSpPr txBox="1"/>
          <p:nvPr/>
        </p:nvSpPr>
        <p:spPr>
          <a:xfrm>
            <a:off x="4507992" y="5724144"/>
            <a:ext cx="3291840" cy="393192"/>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Trung vị tương tác/session</a:t>
            </a:r>
          </a:p>
        </p:txBody>
      </p:sp>
      <p:sp>
        <p:nvSpPr>
          <p:cNvPr id="15" name="TextBox 14"/>
          <p:cNvSpPr txBox="1"/>
          <p:nvPr/>
        </p:nvSpPr>
        <p:spPr>
          <a:xfrm>
            <a:off x="8266175" y="5175504"/>
            <a:ext cx="3291840" cy="475488"/>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37 giây</a:t>
            </a:r>
          </a:p>
        </p:txBody>
      </p:sp>
      <p:sp>
        <p:nvSpPr>
          <p:cNvPr id="16" name="TextBox 15"/>
          <p:cNvSpPr txBox="1"/>
          <p:nvPr/>
        </p:nvSpPr>
        <p:spPr>
          <a:xfrm>
            <a:off x="8266175" y="5724144"/>
            <a:ext cx="3291840" cy="393192"/>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Trung vị thời lượng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thời gian và biên dữ liệu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19 / 40</a:t>
            </a:r>
          </a:p>
        </p:txBody>
      </p:sp>
      <p:sp>
        <p:nvSpPr>
          <p:cNvPr id="8" name="Rectangle 7"/>
          <p:cNvSpPr/>
          <p:nvPr/>
        </p:nvSpPr>
        <p:spPr>
          <a:xfrm>
            <a:off x="566928" y="6391656"/>
            <a:ext cx="525551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_daily_interactions.png"/>
          <p:cNvPicPr>
            <a:picLocks noChangeAspect="1"/>
          </p:cNvPicPr>
          <p:nvPr/>
        </p:nvPicPr>
        <p:blipFill>
          <a:blip r:embed="rId2"/>
          <a:stretch>
            <a:fillRect/>
          </a:stretch>
        </p:blipFill>
        <p:spPr>
          <a:xfrm>
            <a:off x="986986" y="1755648"/>
            <a:ext cx="10224123" cy="3346704"/>
          </a:xfrm>
          <a:prstGeom prst="rect">
            <a:avLst/>
          </a:prstGeom>
        </p:spPr>
      </p:pic>
      <p:sp>
        <p:nvSpPr>
          <p:cNvPr id="10" name="Rounded Rectangle 9"/>
          <p:cNvSpPr/>
          <p:nvPr/>
        </p:nvSpPr>
        <p:spPr>
          <a:xfrm>
            <a:off x="667512" y="5321808"/>
            <a:ext cx="10835640" cy="7223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468112"/>
            <a:ext cx="1975104" cy="365760"/>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31/05: 88</a:t>
            </a:r>
          </a:p>
        </p:txBody>
      </p:sp>
      <p:sp>
        <p:nvSpPr>
          <p:cNvPr id="12" name="TextBox 11"/>
          <p:cNvSpPr txBox="1"/>
          <p:nvPr/>
        </p:nvSpPr>
        <p:spPr>
          <a:xfrm>
            <a:off x="2907792" y="5468112"/>
            <a:ext cx="8229600" cy="384048"/>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Ngày cuối không đầy đủ; không diễn giải là nhu cầu thị trường giảm.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mức độ quan tâm theo danh mục</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20 / 40</a:t>
            </a:r>
          </a:p>
        </p:txBody>
      </p:sp>
      <p:sp>
        <p:nvSpPr>
          <p:cNvPr id="8" name="Rectangle 7"/>
          <p:cNvSpPr/>
          <p:nvPr/>
        </p:nvSpPr>
        <p:spPr>
          <a:xfrm>
            <a:off x="566928" y="6391656"/>
            <a:ext cx="553212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0_top_category0.png"/>
          <p:cNvPicPr>
            <a:picLocks noChangeAspect="1"/>
          </p:cNvPicPr>
          <p:nvPr/>
        </p:nvPicPr>
        <p:blipFill>
          <a:blip r:embed="rId2"/>
          <a:stretch>
            <a:fillRect/>
          </a:stretch>
        </p:blipFill>
        <p:spPr>
          <a:xfrm>
            <a:off x="676656" y="1976235"/>
            <a:ext cx="6775703" cy="3353585"/>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Women: 59,15 triệu tương tác, khoảng 33,83%.</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Toys &amp; Collectibles: 32,90 triệu.</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Men: 15,67 triệu.</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Category phân cấp hỗ trợ biểu diễn nội dung và retrieval.</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Trục số liệu là tương tác, không phải số item hoặc số người mua.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phân bố giá lệch phải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21 / 40</a:t>
            </a:r>
          </a:p>
        </p:txBody>
      </p:sp>
      <p:sp>
        <p:nvSpPr>
          <p:cNvPr id="8" name="Rectangle 7"/>
          <p:cNvSpPr/>
          <p:nvPr/>
        </p:nvSpPr>
        <p:spPr>
          <a:xfrm>
            <a:off x="566928" y="6391656"/>
            <a:ext cx="580872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1_price_log_hist.png"/>
          <p:cNvPicPr>
            <a:picLocks noChangeAspect="1"/>
          </p:cNvPicPr>
          <p:nvPr/>
        </p:nvPicPr>
        <p:blipFill>
          <a:blip r:embed="rId2"/>
          <a:stretch>
            <a:fillRect/>
          </a:stretch>
        </p:blipFill>
        <p:spPr>
          <a:xfrm>
            <a:off x="676656" y="2168777"/>
            <a:ext cx="6775704" cy="2968500"/>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Mean 62,69; median 25.</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P95 = 225; P99 = 636.</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Giá quan sát từ 1 đến 5.000.</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Two-Tower dùng log(1+price), sau đó chuẩn hóa.</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Theo đơn vị gốc của dataset; số liệu tổng hợp trên dòng tương tác.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Từ EDA đến quyết định mô hình hóa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22 / 40</a:t>
            </a:r>
          </a:p>
        </p:txBody>
      </p:sp>
      <p:sp>
        <p:nvSpPr>
          <p:cNvPr id="8" name="Rectangle 7"/>
          <p:cNvSpPr/>
          <p:nvPr/>
        </p:nvSpPr>
        <p:spPr>
          <a:xfrm>
            <a:off x="566928" y="6391656"/>
            <a:ext cx="6085331"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810512"/>
          <a:ext cx="10881360" cy="3465576"/>
        </p:xfrm>
        <a:graphic>
          <a:graphicData uri="http://schemas.openxmlformats.org/drawingml/2006/table">
            <a:tbl>
              <a:tblPr firstRow="1" bandRow="1">
                <a:tableStyleId>{5C22544A-7EE6-4342-B048-85BDC9FD1C3A}</a:tableStyleId>
              </a:tblPr>
              <a:tblGrid>
                <a:gridCol w="4937760"/>
                <a:gridCol w="5943600"/>
              </a:tblGrid>
              <a:tr h="693115">
                <a:tc>
                  <a:txBody>
                    <a:bodyPr/>
                    <a:lstStyle/>
                    <a:p>
                      <a:pPr>
                        <a:defRPr sz="1800" b="1">
                          <a:solidFill>
                            <a:srgbClr val="FFFFFF"/>
                          </a:solidFill>
                          <a:latin typeface="Arial"/>
                        </a:defRPr>
                      </a:pPr>
                      <a:r>
                        <a:t>Phát hiện</a:t>
                      </a:r>
                    </a:p>
                  </a:txBody>
                  <a:tcPr marL="128016" marR="91440" marT="91440" marB="64008" anchor="ctr">
                    <a:solidFill>
                      <a:srgbClr val="244BFF"/>
                    </a:solidFill>
                  </a:tcPr>
                </a:tc>
                <a:tc>
                  <a:txBody>
                    <a:bodyPr/>
                    <a:lstStyle/>
                    <a:p>
                      <a:pPr>
                        <a:defRPr sz="1800" b="1">
                          <a:solidFill>
                            <a:srgbClr val="FFFFFF"/>
                          </a:solidFill>
                          <a:latin typeface="Arial"/>
                        </a:defRPr>
                      </a:pPr>
                      <a:r>
                        <a:t>Quyết định / hướng xử lý</a:t>
                      </a:r>
                    </a:p>
                  </a:txBody>
                  <a:tcPr marL="128016" marR="91440" marT="91440" marB="64008" anchor="ctr">
                    <a:solidFill>
                      <a:srgbClr val="244BFF"/>
                    </a:solidFill>
                  </a:tcPr>
                </a:tc>
              </a:tr>
              <a:tr h="693115">
                <a:tc>
                  <a:txBody>
                    <a:bodyPr/>
                    <a:lstStyle/>
                    <a:p>
                      <a:pPr>
                        <a:defRPr sz="1800" b="0">
                          <a:solidFill>
                            <a:srgbClr val="172B49"/>
                          </a:solidFill>
                          <a:latin typeface="Arial"/>
                        </a:defRPr>
                      </a:pPr>
                      <a:r>
                        <a:t>Sparsity ≈ 99,999843%</a:t>
                      </a:r>
                    </a:p>
                  </a:txBody>
                  <a:tcPr marL="128016" marR="91440" marT="91440" marB="64008" anchor="ctr">
                    <a:solidFill>
                      <a:srgbClr val="F0F4FC"/>
                    </a:solidFill>
                  </a:tcPr>
                </a:tc>
                <a:tc>
                  <a:txBody>
                    <a:bodyPr/>
                    <a:lstStyle/>
                    <a:p>
                      <a:pPr>
                        <a:defRPr sz="1800" b="0">
                          <a:solidFill>
                            <a:srgbClr val="172B49"/>
                          </a:solidFill>
                          <a:latin typeface="Arial"/>
                        </a:defRPr>
                      </a:pPr>
                      <a:r>
                        <a:t>Thử implicit CF và biểu diễn metadata</a:t>
                      </a:r>
                    </a:p>
                  </a:txBody>
                  <a:tcPr marL="128016" marR="91440" marT="91440" marB="64008" anchor="ctr">
                    <a:solidFill>
                      <a:srgbClr val="F0F4FC"/>
                    </a:solidFill>
                  </a:tcPr>
                </a:tc>
              </a:tr>
              <a:tr h="693115">
                <a:tc>
                  <a:txBody>
                    <a:bodyPr/>
                    <a:lstStyle/>
                    <a:p>
                      <a:pPr>
                        <a:defRPr sz="1800" b="0">
                          <a:solidFill>
                            <a:srgbClr val="172B49"/>
                          </a:solidFill>
                          <a:latin typeface="Arial"/>
                        </a:defRPr>
                      </a:pPr>
                      <a:r>
                        <a:t>25,53% tương tác là lặp thêm</a:t>
                      </a:r>
                    </a:p>
                  </a:txBody>
                  <a:tcPr marL="128016" marR="91440" marT="91440" marB="64008" anchor="ctr">
                    <a:solidFill>
                      <a:srgbClr val="FFFFFF"/>
                    </a:solidFill>
                  </a:tcPr>
                </a:tc>
                <a:tc>
                  <a:txBody>
                    <a:bodyPr/>
                    <a:lstStyle/>
                    <a:p>
                      <a:pPr>
                        <a:defRPr sz="1800" b="0">
                          <a:solidFill>
                            <a:srgbClr val="172B49"/>
                          </a:solidFill>
                          <a:latin typeface="Arial"/>
                        </a:defRPr>
                      </a:pPr>
                      <a:r>
                        <a:t>Tổng hợp tín hiệu theo cặp user–item</a:t>
                      </a:r>
                    </a:p>
                  </a:txBody>
                  <a:tcPr marL="128016" marR="91440" marT="91440" marB="64008" anchor="ctr">
                    <a:solidFill>
                      <a:srgbClr val="FFFFFF"/>
                    </a:solidFill>
                  </a:tcPr>
                </a:tc>
              </a:tr>
              <a:tr h="693115">
                <a:tc>
                  <a:txBody>
                    <a:bodyPr/>
                    <a:lstStyle/>
                    <a:p>
                      <a:pPr>
                        <a:defRPr sz="1800" b="0">
                          <a:solidFill>
                            <a:srgbClr val="172B49"/>
                          </a:solidFill>
                          <a:latin typeface="Arial"/>
                        </a:defRPr>
                      </a:pPr>
                      <a:r>
                        <a:t>Nhiều user/item ít lịch sử</a:t>
                      </a:r>
                    </a:p>
                  </a:txBody>
                  <a:tcPr marL="128016" marR="91440" marT="91440" marB="64008" anchor="ctr">
                    <a:solidFill>
                      <a:srgbClr val="F0F4FC"/>
                    </a:solidFill>
                  </a:tcPr>
                </a:tc>
                <a:tc>
                  <a:txBody>
                    <a:bodyPr/>
                    <a:lstStyle/>
                    <a:p>
                      <a:pPr>
                        <a:defRPr sz="1800" b="0">
                          <a:solidFill>
                            <a:srgbClr val="172B49"/>
                          </a:solidFill>
                          <a:latin typeface="Arial"/>
                        </a:defRPr>
                      </a:pPr>
                      <a:r>
                        <a:t>Phân tích cold-start và phương án fallback</a:t>
                      </a:r>
                    </a:p>
                  </a:txBody>
                  <a:tcPr marL="128016" marR="91440" marT="91440" marB="64008" anchor="ctr">
                    <a:solidFill>
                      <a:srgbClr val="F0F4FC"/>
                    </a:solidFill>
                  </a:tcPr>
                </a:tc>
              </a:tr>
              <a:tr h="693116">
                <a:tc>
                  <a:txBody>
                    <a:bodyPr/>
                    <a:lstStyle/>
                    <a:p>
                      <a:pPr>
                        <a:defRPr sz="1800" b="0">
                          <a:solidFill>
                            <a:srgbClr val="172B49"/>
                          </a:solidFill>
                          <a:latin typeface="Arial"/>
                        </a:defRPr>
                      </a:pPr>
                      <a:r>
                        <a:t>One-pass 5-core loại 22,33%</a:t>
                      </a:r>
                    </a:p>
                  </a:txBody>
                  <a:tcPr marL="128016" marR="91440" marT="91440" marB="64008" anchor="ctr">
                    <a:solidFill>
                      <a:srgbClr val="FFFFFF"/>
                    </a:solidFill>
                  </a:tcPr>
                </a:tc>
                <a:tc>
                  <a:txBody>
                    <a:bodyPr/>
                    <a:lstStyle/>
                    <a:p>
                      <a:pPr>
                        <a:defRPr sz="1800" b="0">
                          <a:solidFill>
                            <a:srgbClr val="172B49"/>
                          </a:solidFill>
                          <a:latin typeface="Arial"/>
                        </a:defRPr>
                      </a:pPr>
                      <a:r>
                        <a:t>Chỉ là chẩn đoán, chưa áp dụng như bộ lọc cuối</a:t>
                      </a:r>
                    </a:p>
                  </a:txBody>
                  <a:tcPr marL="128016" marR="91440" marT="91440" marB="64008" anchor="ctr">
                    <a:solidFill>
                      <a:srgbClr val="FFFFFF"/>
                    </a:solidFill>
                  </a:tcPr>
                </a:tc>
              </a:tr>
            </a:tbl>
          </a:graphicData>
        </a:graphic>
      </p:graphicFrame>
      <p:sp>
        <p:nvSpPr>
          <p:cNvPr id="10" name="Rounded Rectangle 9"/>
          <p:cNvSpPr/>
          <p:nvPr/>
        </p:nvSpPr>
        <p:spPr>
          <a:xfrm>
            <a:off x="566928" y="5632704"/>
            <a:ext cx="11064240" cy="53949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715000"/>
            <a:ext cx="10698480" cy="429768"/>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Không loại bỏ hàng loạt long-tail trước khi đánh giá ảnh hưởng tới coverage.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06 FEATURE ENGINEERING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Implicit feedback có trọng số</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23 / 40</a:t>
            </a:r>
          </a:p>
        </p:txBody>
      </p:sp>
      <p:sp>
        <p:nvSpPr>
          <p:cNvPr id="8" name="Rectangle 7"/>
          <p:cNvSpPr/>
          <p:nvPr/>
        </p:nvSpPr>
        <p:spPr>
          <a:xfrm>
            <a:off x="566928" y="6391656"/>
            <a:ext cx="636193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23_event_weights.png"/>
          <p:cNvPicPr>
            <a:picLocks noChangeAspect="1"/>
          </p:cNvPicPr>
          <p:nvPr/>
        </p:nvPicPr>
        <p:blipFill>
          <a:blip r:embed="rId2"/>
          <a:stretch>
            <a:fillRect/>
          </a:stretch>
        </p:blipFill>
        <p:spPr>
          <a:xfrm>
            <a:off x="676656" y="1977316"/>
            <a:ext cx="6775704" cy="3351423"/>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implicit_score(u,i) = tổng trọng số sự kiện.</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Giữ thêm số sự kiện theo loại.</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Giữ thời điểm tương tác cuối.</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109.718.519 cặp user–item trong TRAIN.</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Trọng số do dự án đặt; không phải tham số mô hình tự học.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06 FEATURE ENGINEERING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Biểu diễn nội dung và metadata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24 / 40</a:t>
            </a:r>
          </a:p>
        </p:txBody>
      </p:sp>
      <p:sp>
        <p:nvSpPr>
          <p:cNvPr id="8" name="Rectangle 7"/>
          <p:cNvSpPr/>
          <p:nvPr/>
        </p:nvSpPr>
        <p:spPr>
          <a:xfrm>
            <a:off x="566928" y="6391656"/>
            <a:ext cx="663854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01368"/>
            <a:ext cx="5312664" cy="362102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57400"/>
            <a:ext cx="475488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CONTENT-BASED</a:t>
            </a:r>
          </a:p>
        </p:txBody>
      </p:sp>
      <p:sp>
        <p:nvSpPr>
          <p:cNvPr id="11" name="Oval 10"/>
          <p:cNvSpPr/>
          <p:nvPr/>
        </p:nvSpPr>
        <p:spPr>
          <a:xfrm>
            <a:off x="914400" y="284378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274320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Name · category · brand · condition</a:t>
            </a:r>
          </a:p>
        </p:txBody>
      </p:sp>
      <p:sp>
        <p:nvSpPr>
          <p:cNvPr id="13" name="Oval 12"/>
          <p:cNvSpPr/>
          <p:nvPr/>
        </p:nvSpPr>
        <p:spPr>
          <a:xfrm>
            <a:off x="914400" y="343814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333756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Hashing TF-IDF</a:t>
            </a:r>
          </a:p>
        </p:txBody>
      </p:sp>
      <p:sp>
        <p:nvSpPr>
          <p:cNvPr id="15" name="Oval 14"/>
          <p:cNvSpPr/>
          <p:nvPr/>
        </p:nvSpPr>
        <p:spPr>
          <a:xfrm>
            <a:off x="914400" y="40325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393192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262.144 chiều</a:t>
            </a:r>
          </a:p>
        </p:txBody>
      </p:sp>
      <p:sp>
        <p:nvSpPr>
          <p:cNvPr id="17" name="Oval 16"/>
          <p:cNvSpPr/>
          <p:nvPr/>
        </p:nvSpPr>
        <p:spPr>
          <a:xfrm>
            <a:off x="914400"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452628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Unigram + bigram</a:t>
            </a:r>
          </a:p>
        </p:txBody>
      </p:sp>
      <p:sp>
        <p:nvSpPr>
          <p:cNvPr id="19" name="Rounded Rectangle 18"/>
          <p:cNvSpPr/>
          <p:nvPr/>
        </p:nvSpPr>
        <p:spPr>
          <a:xfrm>
            <a:off x="6217920" y="1801368"/>
            <a:ext cx="5312664" cy="362102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057400"/>
            <a:ext cx="475488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TWO-TOWER</a:t>
            </a:r>
          </a:p>
        </p:txBody>
      </p:sp>
      <p:sp>
        <p:nvSpPr>
          <p:cNvPr id="21" name="Oval 20"/>
          <p:cNvSpPr/>
          <p:nvPr/>
        </p:nvSpPr>
        <p:spPr>
          <a:xfrm>
            <a:off x="6473952" y="284378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5976" y="274320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7 trường metadata + price</a:t>
            </a:r>
          </a:p>
        </p:txBody>
      </p:sp>
      <p:sp>
        <p:nvSpPr>
          <p:cNvPr id="23" name="Oval 22"/>
          <p:cNvSpPr/>
          <p:nvPr/>
        </p:nvSpPr>
        <p:spPr>
          <a:xfrm>
            <a:off x="6473952" y="343814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65976" y="333756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Hashed embeddings</a:t>
            </a:r>
          </a:p>
        </p:txBody>
      </p:sp>
      <p:sp>
        <p:nvSpPr>
          <p:cNvPr id="25" name="Oval 24"/>
          <p:cNvSpPr/>
          <p:nvPr/>
        </p:nvSpPr>
        <p:spPr>
          <a:xfrm>
            <a:off x="6473952" y="40325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5976" y="393192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Log-price chuẩn hóa</a:t>
            </a:r>
          </a:p>
        </p:txBody>
      </p:sp>
      <p:sp>
        <p:nvSpPr>
          <p:cNvPr id="27" name="Oval 26"/>
          <p:cNvSpPr/>
          <p:nvPr/>
        </p:nvSpPr>
        <p:spPr>
          <a:xfrm>
            <a:off x="6473952"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65976" y="452628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Ghép vector → MLP</a:t>
            </a:r>
          </a:p>
        </p:txBody>
      </p:sp>
      <p:sp>
        <p:nvSpPr>
          <p:cNvPr id="29" name="Rounded Rectangle 2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Hashing và xử lý theo batch giúp kiểm soát vocabulary và bộ nhớ.</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06 FEATURE ENGINEERING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Chuỗi item và hành vi cho GRU4Rec</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25 / 40</a:t>
            </a:r>
          </a:p>
        </p:txBody>
      </p:sp>
      <p:sp>
        <p:nvSpPr>
          <p:cNvPr id="8" name="Rectangle 7"/>
          <p:cNvSpPr/>
          <p:nvPr/>
        </p:nvSpPr>
        <p:spPr>
          <a:xfrm>
            <a:off x="566928" y="6391656"/>
            <a:ext cx="691515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i₁ / view</a:t>
            </a:r>
          </a:p>
        </p:txBody>
      </p:sp>
      <p:sp>
        <p:nvSpPr>
          <p:cNvPr id="12" name="TextBox 11"/>
          <p:cNvSpPr txBox="1"/>
          <p:nvPr/>
        </p:nvSpPr>
        <p:spPr>
          <a:xfrm>
            <a:off x="749808"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Item + event</a:t>
            </a:r>
          </a:p>
        </p:txBody>
      </p:sp>
      <p:sp>
        <p:nvSpPr>
          <p:cNvPr id="13" name="Chevron 12"/>
          <p:cNvSpPr/>
          <p:nvPr/>
        </p:nvSpPr>
        <p:spPr>
          <a:xfrm>
            <a:off x="3159251" y="2766060"/>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i₂ / like</a:t>
            </a:r>
          </a:p>
        </p:txBody>
      </p:sp>
      <p:sp>
        <p:nvSpPr>
          <p:cNvPr id="17" name="TextBox 16"/>
          <p:cNvSpPr txBox="1"/>
          <p:nvPr/>
        </p:nvSpPr>
        <p:spPr>
          <a:xfrm>
            <a:off x="3566159"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Item + event</a:t>
            </a:r>
          </a:p>
        </p:txBody>
      </p:sp>
      <p:sp>
        <p:nvSpPr>
          <p:cNvPr id="18" name="Chevron 17"/>
          <p:cNvSpPr/>
          <p:nvPr/>
        </p:nvSpPr>
        <p:spPr>
          <a:xfrm>
            <a:off x="5975603" y="2766060"/>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i₃ / cart</a:t>
            </a:r>
          </a:p>
        </p:txBody>
      </p:sp>
      <p:sp>
        <p:nvSpPr>
          <p:cNvPr id="22" name="TextBox 21"/>
          <p:cNvSpPr txBox="1"/>
          <p:nvPr/>
        </p:nvSpPr>
        <p:spPr>
          <a:xfrm>
            <a:off x="6382512"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Item + event</a:t>
            </a:r>
          </a:p>
        </p:txBody>
      </p:sp>
      <p:sp>
        <p:nvSpPr>
          <p:cNvPr id="23" name="Chevron 22"/>
          <p:cNvSpPr/>
          <p:nvPr/>
        </p:nvSpPr>
        <p:spPr>
          <a:xfrm>
            <a:off x="8791956" y="2766060"/>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i₄ ?</a:t>
            </a:r>
          </a:p>
        </p:txBody>
      </p:sp>
      <p:sp>
        <p:nvSpPr>
          <p:cNvPr id="27" name="TextBox 26"/>
          <p:cNvSpPr txBox="1"/>
          <p:nvPr/>
        </p:nvSpPr>
        <p:spPr>
          <a:xfrm>
            <a:off x="9198863"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Target tiếp theo</a:t>
            </a:r>
          </a:p>
        </p:txBody>
      </p:sp>
      <p:sp>
        <p:nvSpPr>
          <p:cNvPr id="28" name="TextBox 27"/>
          <p:cNvSpPr txBox="1"/>
          <p:nvPr/>
        </p:nvSpPr>
        <p:spPr>
          <a:xfrm>
            <a:off x="758952" y="4206240"/>
            <a:ext cx="3291840" cy="566928"/>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32 chiều</a:t>
            </a:r>
          </a:p>
        </p:txBody>
      </p:sp>
      <p:sp>
        <p:nvSpPr>
          <p:cNvPr id="29" name="TextBox 28"/>
          <p:cNvSpPr txBox="1"/>
          <p:nvPr/>
        </p:nvSpPr>
        <p:spPr>
          <a:xfrm>
            <a:off x="758952" y="4837176"/>
            <a:ext cx="3291840" cy="40233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Item embedding</a:t>
            </a:r>
          </a:p>
        </p:txBody>
      </p:sp>
      <p:sp>
        <p:nvSpPr>
          <p:cNvPr id="30" name="TextBox 29"/>
          <p:cNvSpPr txBox="1"/>
          <p:nvPr/>
        </p:nvSpPr>
        <p:spPr>
          <a:xfrm>
            <a:off x="4526280" y="4206240"/>
            <a:ext cx="3291840" cy="566928"/>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16 chiều</a:t>
            </a:r>
          </a:p>
        </p:txBody>
      </p:sp>
      <p:sp>
        <p:nvSpPr>
          <p:cNvPr id="31" name="TextBox 30"/>
          <p:cNvSpPr txBox="1"/>
          <p:nvPr/>
        </p:nvSpPr>
        <p:spPr>
          <a:xfrm>
            <a:off x="4526280" y="4837176"/>
            <a:ext cx="3291840" cy="40233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Event embedding</a:t>
            </a:r>
          </a:p>
        </p:txBody>
      </p:sp>
      <p:sp>
        <p:nvSpPr>
          <p:cNvPr id="32" name="TextBox 31"/>
          <p:cNvSpPr txBox="1"/>
          <p:nvPr/>
        </p:nvSpPr>
        <p:spPr>
          <a:xfrm>
            <a:off x="8247888" y="4206240"/>
            <a:ext cx="3291840" cy="566928"/>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100 bước</a:t>
            </a:r>
          </a:p>
        </p:txBody>
      </p:sp>
      <p:sp>
        <p:nvSpPr>
          <p:cNvPr id="33" name="TextBox 32"/>
          <p:cNvSpPr txBox="1"/>
          <p:nvPr/>
        </p:nvSpPr>
        <p:spPr>
          <a:xfrm>
            <a:off x="8247888" y="4837176"/>
            <a:ext cx="3291840" cy="40233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Giới hạn chuỗi</a:t>
            </a:r>
          </a:p>
        </p:txBody>
      </p:sp>
      <p:sp>
        <p:nvSpPr>
          <p:cNvPr id="34" name="Rounded Rectangle 33"/>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PAD = 0 · OOV = 1 · Hành vi là feature, nhãn là item tiếp theo.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Các nhóm mô hình và phạm vi thực nghiệm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26 / 40</a:t>
            </a:r>
          </a:p>
        </p:txBody>
      </p:sp>
      <p:sp>
        <p:nvSpPr>
          <p:cNvPr id="8" name="Rectangle 7"/>
          <p:cNvSpPr/>
          <p:nvPr/>
        </p:nvSpPr>
        <p:spPr>
          <a:xfrm>
            <a:off x="566928" y="6391656"/>
            <a:ext cx="719175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9224" y="1883664"/>
            <a:ext cx="3529584" cy="2743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12264"/>
            <a:ext cx="310896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NHÓM 01</a:t>
            </a:r>
          </a:p>
        </p:txBody>
      </p:sp>
      <p:sp>
        <p:nvSpPr>
          <p:cNvPr id="11" name="TextBox 10"/>
          <p:cNvSpPr txBox="1"/>
          <p:nvPr/>
        </p:nvSpPr>
        <p:spPr>
          <a:xfrm>
            <a:off x="841247" y="2660904"/>
            <a:ext cx="3136392" cy="694944"/>
          </a:xfrm>
          <a:prstGeom prst="rect">
            <a:avLst/>
          </a:prstGeom>
          <a:noFill/>
        </p:spPr>
        <p:txBody>
          <a:bodyPr wrap="square" lIns="0" rIns="0" tIns="0" bIns="0">
            <a:spAutoFit/>
          </a:bodyPr>
          <a:lstStyle/>
          <a:p>
            <a:pPr algn="l">
              <a:spcBef>
                <a:spcPts val="0"/>
              </a:spcBef>
              <a:spcAft>
                <a:spcPts val="600"/>
              </a:spcAft>
              <a:defRPr sz="2300" b="1">
                <a:solidFill>
                  <a:srgbClr val="172B49"/>
                </a:solidFill>
                <a:latin typeface="Arial"/>
              </a:defRPr>
            </a:pPr>
            <a:r>
              <a:t>Baseline / fallback</a:t>
            </a:r>
          </a:p>
        </p:txBody>
      </p:sp>
      <p:sp>
        <p:nvSpPr>
          <p:cNvPr id="12" name="TextBox 11"/>
          <p:cNvSpPr txBox="1"/>
          <p:nvPr/>
        </p:nvSpPr>
        <p:spPr>
          <a:xfrm>
            <a:off x="841247" y="3557016"/>
            <a:ext cx="3136392" cy="530352"/>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Popularity · Trending</a:t>
            </a:r>
          </a:p>
        </p:txBody>
      </p:sp>
      <p:sp>
        <p:nvSpPr>
          <p:cNvPr id="13" name="TextBox 12"/>
          <p:cNvSpPr txBox="1"/>
          <p:nvPr/>
        </p:nvSpPr>
        <p:spPr>
          <a:xfrm>
            <a:off x="841247" y="4270248"/>
            <a:ext cx="3136392" cy="256032"/>
          </a:xfrm>
          <a:prstGeom prst="rect">
            <a:avLst/>
          </a:prstGeom>
          <a:noFill/>
        </p:spPr>
        <p:txBody>
          <a:bodyPr wrap="square" lIns="0" rIns="0" tIns="0" bIns="0">
            <a:spAutoFit/>
          </a:bodyPr>
          <a:lstStyle/>
          <a:p>
            <a:pPr algn="l">
              <a:spcBef>
                <a:spcPts val="0"/>
              </a:spcBef>
              <a:spcAft>
                <a:spcPts val="600"/>
              </a:spcAft>
              <a:defRPr sz="1200" b="0">
                <a:solidFill>
                  <a:srgbClr val="008E89"/>
                </a:solidFill>
                <a:latin typeface="Arial"/>
              </a:defRPr>
            </a:pPr>
            <a:r>
              <a:t>Đã có snapshot</a:t>
            </a:r>
          </a:p>
        </p:txBody>
      </p:sp>
      <p:sp>
        <p:nvSpPr>
          <p:cNvPr id="14" name="Rounded Rectangle 13"/>
          <p:cNvSpPr/>
          <p:nvPr/>
        </p:nvSpPr>
        <p:spPr>
          <a:xfrm>
            <a:off x="4416552" y="1883664"/>
            <a:ext cx="3529584" cy="2743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2112264"/>
            <a:ext cx="310896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NHÓM 02</a:t>
            </a:r>
          </a:p>
        </p:txBody>
      </p:sp>
      <p:sp>
        <p:nvSpPr>
          <p:cNvPr id="16" name="TextBox 15"/>
          <p:cNvSpPr txBox="1"/>
          <p:nvPr/>
        </p:nvSpPr>
        <p:spPr>
          <a:xfrm>
            <a:off x="4608576" y="2660904"/>
            <a:ext cx="3136392" cy="694944"/>
          </a:xfrm>
          <a:prstGeom prst="rect">
            <a:avLst/>
          </a:prstGeom>
          <a:noFill/>
        </p:spPr>
        <p:txBody>
          <a:bodyPr wrap="square" lIns="0" rIns="0" tIns="0" bIns="0">
            <a:spAutoFit/>
          </a:bodyPr>
          <a:lstStyle/>
          <a:p>
            <a:pPr algn="l">
              <a:spcBef>
                <a:spcPts val="0"/>
              </a:spcBef>
              <a:spcAft>
                <a:spcPts val="600"/>
              </a:spcAft>
              <a:defRPr sz="2300" b="1">
                <a:solidFill>
                  <a:srgbClr val="172B49"/>
                </a:solidFill>
                <a:latin typeface="Arial"/>
              </a:defRPr>
            </a:pPr>
            <a:r>
              <a:t>Nội dung / đồng xuất hiện</a:t>
            </a:r>
          </a:p>
        </p:txBody>
      </p:sp>
      <p:sp>
        <p:nvSpPr>
          <p:cNvPr id="17" name="TextBox 16"/>
          <p:cNvSpPr txBox="1"/>
          <p:nvPr/>
        </p:nvSpPr>
        <p:spPr>
          <a:xfrm>
            <a:off x="4608576" y="3557016"/>
            <a:ext cx="3136392" cy="530352"/>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Content-Based · Co-visitation</a:t>
            </a:r>
          </a:p>
        </p:txBody>
      </p:sp>
      <p:sp>
        <p:nvSpPr>
          <p:cNvPr id="18" name="TextBox 17"/>
          <p:cNvSpPr txBox="1"/>
          <p:nvPr/>
        </p:nvSpPr>
        <p:spPr>
          <a:xfrm>
            <a:off x="4608576" y="4270248"/>
            <a:ext cx="3136392" cy="256032"/>
          </a:xfrm>
          <a:prstGeom prst="rect">
            <a:avLst/>
          </a:prstGeom>
          <a:noFill/>
        </p:spPr>
        <p:txBody>
          <a:bodyPr wrap="square" lIns="0" rIns="0" tIns="0" bIns="0">
            <a:spAutoFit/>
          </a:bodyPr>
          <a:lstStyle/>
          <a:p>
            <a:pPr algn="l">
              <a:spcBef>
                <a:spcPts val="0"/>
              </a:spcBef>
              <a:spcAft>
                <a:spcPts val="600"/>
              </a:spcAft>
              <a:defRPr sz="1200" b="0">
                <a:solidFill>
                  <a:srgbClr val="008E89"/>
                </a:solidFill>
                <a:latin typeface="Arial"/>
              </a:defRPr>
            </a:pPr>
            <a:r>
              <a:t>Đã có kết quả TEST</a:t>
            </a:r>
          </a:p>
        </p:txBody>
      </p:sp>
      <p:sp>
        <p:nvSpPr>
          <p:cNvPr id="19" name="Rounded Rectangle 18"/>
          <p:cNvSpPr/>
          <p:nvPr/>
        </p:nvSpPr>
        <p:spPr>
          <a:xfrm>
            <a:off x="8183879" y="1883664"/>
            <a:ext cx="3529584" cy="2743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5904" y="2112264"/>
            <a:ext cx="310896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NHÓM 03</a:t>
            </a:r>
          </a:p>
        </p:txBody>
      </p:sp>
      <p:sp>
        <p:nvSpPr>
          <p:cNvPr id="21" name="TextBox 20"/>
          <p:cNvSpPr txBox="1"/>
          <p:nvPr/>
        </p:nvSpPr>
        <p:spPr>
          <a:xfrm>
            <a:off x="8375904" y="2660904"/>
            <a:ext cx="3136392" cy="694944"/>
          </a:xfrm>
          <a:prstGeom prst="rect">
            <a:avLst/>
          </a:prstGeom>
          <a:noFill/>
        </p:spPr>
        <p:txBody>
          <a:bodyPr wrap="square" lIns="0" rIns="0" tIns="0" bIns="0">
            <a:spAutoFit/>
          </a:bodyPr>
          <a:lstStyle/>
          <a:p>
            <a:pPr algn="l">
              <a:spcBef>
                <a:spcPts val="0"/>
              </a:spcBef>
              <a:spcAft>
                <a:spcPts val="600"/>
              </a:spcAft>
              <a:defRPr sz="2300" b="1">
                <a:solidFill>
                  <a:srgbClr val="172B49"/>
                </a:solidFill>
                <a:latin typeface="Arial"/>
              </a:defRPr>
            </a:pPr>
            <a:r>
              <a:t>Học biểu diễn</a:t>
            </a:r>
          </a:p>
        </p:txBody>
      </p:sp>
      <p:sp>
        <p:nvSpPr>
          <p:cNvPr id="22" name="TextBox 21"/>
          <p:cNvSpPr txBox="1"/>
          <p:nvPr/>
        </p:nvSpPr>
        <p:spPr>
          <a:xfrm>
            <a:off x="8375904" y="3557016"/>
            <a:ext cx="3136392" cy="530352"/>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ALS · GRU4Rec · Two-Tower</a:t>
            </a:r>
          </a:p>
        </p:txBody>
      </p:sp>
      <p:sp>
        <p:nvSpPr>
          <p:cNvPr id="23" name="TextBox 22"/>
          <p:cNvSpPr txBox="1"/>
          <p:nvPr/>
        </p:nvSpPr>
        <p:spPr>
          <a:xfrm>
            <a:off x="8375904" y="4270248"/>
            <a:ext cx="3136392" cy="256032"/>
          </a:xfrm>
          <a:prstGeom prst="rect">
            <a:avLst/>
          </a:prstGeom>
          <a:noFill/>
        </p:spPr>
        <p:txBody>
          <a:bodyPr wrap="square" lIns="0" rIns="0" tIns="0" bIns="0">
            <a:spAutoFit/>
          </a:bodyPr>
          <a:lstStyle/>
          <a:p>
            <a:pPr algn="l">
              <a:spcBef>
                <a:spcPts val="0"/>
              </a:spcBef>
              <a:spcAft>
                <a:spcPts val="600"/>
              </a:spcAft>
              <a:defRPr sz="1200" b="0">
                <a:solidFill>
                  <a:srgbClr val="008E89"/>
                </a:solidFill>
                <a:latin typeface="Arial"/>
              </a:defRPr>
            </a:pPr>
            <a:r>
              <a:t>Metric theo từng giao thức</a:t>
            </a:r>
          </a:p>
        </p:txBody>
      </p:sp>
      <p:sp>
        <p:nvSpPr>
          <p:cNvPr id="24" name="Rounded Rectangle 23"/>
          <p:cNvSpPr/>
          <p:nvPr/>
        </p:nvSpPr>
        <p:spPr>
          <a:xfrm>
            <a:off x="566928" y="5248656"/>
            <a:ext cx="11064240" cy="75895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330952"/>
            <a:ext cx="10698480" cy="64922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Chưa hoàn tất: SASRec · DCN · LightGBM Ranker — không có số liệu trong bảng kết quả.</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Popularity và Trending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27 / 40</a:t>
            </a:r>
          </a:p>
        </p:txBody>
      </p:sp>
      <p:sp>
        <p:nvSpPr>
          <p:cNvPr id="8" name="Rectangle 7"/>
          <p:cNvSpPr/>
          <p:nvPr/>
        </p:nvSpPr>
        <p:spPr>
          <a:xfrm>
            <a:off x="566928" y="6391656"/>
            <a:ext cx="746836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1865376"/>
            <a:ext cx="10817352" cy="1124712"/>
          </a:xfrm>
          <a:prstGeom prst="roundRect">
            <a:avLst>
              <a:gd name="adj" fmla="val 9000"/>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212848"/>
            <a:ext cx="10387584" cy="502920"/>
          </a:xfrm>
          <a:prstGeom prst="rect">
            <a:avLst/>
          </a:prstGeom>
          <a:noFill/>
        </p:spPr>
        <p:txBody>
          <a:bodyPr wrap="square" lIns="0" rIns="0" tIns="0" bIns="0">
            <a:spAutoFit/>
          </a:bodyPr>
          <a:lstStyle/>
          <a:p>
            <a:pPr algn="ctr">
              <a:spcBef>
                <a:spcPts val="0"/>
              </a:spcBef>
              <a:spcAft>
                <a:spcPts val="600"/>
              </a:spcAft>
              <a:defRPr sz="2700" b="1">
                <a:solidFill>
                  <a:srgbClr val="FFFFFF"/>
                </a:solidFill>
                <a:latin typeface="Arial"/>
              </a:defRPr>
            </a:pPr>
            <a:r>
              <a:t>Trending = Σ weight × 0,5 ^ (tuổi sự kiện / 3 ngày)</a:t>
            </a:r>
          </a:p>
        </p:txBody>
      </p:sp>
      <p:sp>
        <p:nvSpPr>
          <p:cNvPr id="11" name="TextBox 10"/>
          <p:cNvSpPr txBox="1"/>
          <p:nvPr/>
        </p:nvSpPr>
        <p:spPr>
          <a:xfrm>
            <a:off x="795528"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100%</a:t>
            </a:r>
          </a:p>
        </p:txBody>
      </p:sp>
      <p:sp>
        <p:nvSpPr>
          <p:cNvPr id="12" name="TextBox 11"/>
          <p:cNvSpPr txBox="1"/>
          <p:nvPr/>
        </p:nvSpPr>
        <p:spPr>
          <a:xfrm>
            <a:off x="795528"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0 ngày</a:t>
            </a:r>
          </a:p>
        </p:txBody>
      </p:sp>
      <p:sp>
        <p:nvSpPr>
          <p:cNvPr id="13" name="TextBox 12"/>
          <p:cNvSpPr txBox="1"/>
          <p:nvPr/>
        </p:nvSpPr>
        <p:spPr>
          <a:xfrm>
            <a:off x="3611880"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50%</a:t>
            </a:r>
          </a:p>
        </p:txBody>
      </p:sp>
      <p:sp>
        <p:nvSpPr>
          <p:cNvPr id="14" name="TextBox 13"/>
          <p:cNvSpPr txBox="1"/>
          <p:nvPr/>
        </p:nvSpPr>
        <p:spPr>
          <a:xfrm>
            <a:off x="3611880"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3 ngày</a:t>
            </a:r>
          </a:p>
        </p:txBody>
      </p:sp>
      <p:sp>
        <p:nvSpPr>
          <p:cNvPr id="15" name="TextBox 14"/>
          <p:cNvSpPr txBox="1"/>
          <p:nvPr/>
        </p:nvSpPr>
        <p:spPr>
          <a:xfrm>
            <a:off x="6428232"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25%</a:t>
            </a:r>
          </a:p>
        </p:txBody>
      </p:sp>
      <p:sp>
        <p:nvSpPr>
          <p:cNvPr id="16" name="TextBox 15"/>
          <p:cNvSpPr txBox="1"/>
          <p:nvPr/>
        </p:nvSpPr>
        <p:spPr>
          <a:xfrm>
            <a:off x="6428232"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6 ngày</a:t>
            </a:r>
          </a:p>
        </p:txBody>
      </p:sp>
      <p:sp>
        <p:nvSpPr>
          <p:cNvPr id="17" name="TextBox 16"/>
          <p:cNvSpPr txBox="1"/>
          <p:nvPr/>
        </p:nvSpPr>
        <p:spPr>
          <a:xfrm>
            <a:off x="9244584"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12,5%</a:t>
            </a:r>
          </a:p>
        </p:txBody>
      </p:sp>
      <p:sp>
        <p:nvSpPr>
          <p:cNvPr id="18" name="TextBox 17"/>
          <p:cNvSpPr txBox="1"/>
          <p:nvPr/>
        </p:nvSpPr>
        <p:spPr>
          <a:xfrm>
            <a:off x="9244584"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9 ngày</a:t>
            </a:r>
          </a:p>
        </p:txBody>
      </p:sp>
      <p:sp>
        <p:nvSpPr>
          <p:cNvPr id="19" name="TextBox 18"/>
          <p:cNvSpPr txBox="1"/>
          <p:nvPr/>
        </p:nvSpPr>
        <p:spPr>
          <a:xfrm>
            <a:off x="777240" y="4956048"/>
            <a:ext cx="10652760" cy="512064"/>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Minh họa hệ số time-decay; không phải số liệu đo từ một mô hình.</a:t>
            </a:r>
          </a:p>
        </p:txBody>
      </p:sp>
      <p:sp>
        <p:nvSpPr>
          <p:cNvPr id="20" name="Rounded Rectangle 19"/>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Snapshot TRAIN dùng offline; snapshot toàn bộ processed phục vụ catalog/demo.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Content-Based: gợi ý từ hồ sơ nội dung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28 / 40</a:t>
            </a:r>
          </a:p>
        </p:txBody>
      </p:sp>
      <p:sp>
        <p:nvSpPr>
          <p:cNvPr id="8" name="Rectangle 7"/>
          <p:cNvSpPr/>
          <p:nvPr/>
        </p:nvSpPr>
        <p:spPr>
          <a:xfrm>
            <a:off x="566928" y="6391656"/>
            <a:ext cx="774496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Metadata</a:t>
            </a:r>
          </a:p>
        </p:txBody>
      </p:sp>
      <p:sp>
        <p:nvSpPr>
          <p:cNvPr id="12" name="TextBox 11"/>
          <p:cNvSpPr txBox="1"/>
          <p:nvPr/>
        </p:nvSpPr>
        <p:spPr>
          <a:xfrm>
            <a:off x="749808"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TF-IDF sản phẩm</a:t>
            </a:r>
          </a:p>
        </p:txBody>
      </p:sp>
      <p:sp>
        <p:nvSpPr>
          <p:cNvPr id="13" name="Chevron 12"/>
          <p:cNvSpPr/>
          <p:nvPr/>
        </p:nvSpPr>
        <p:spPr>
          <a:xfrm>
            <a:off x="3159251" y="270205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Hồ sơ user</a:t>
            </a:r>
          </a:p>
        </p:txBody>
      </p:sp>
      <p:sp>
        <p:nvSpPr>
          <p:cNvPr id="17" name="TextBox 16"/>
          <p:cNvSpPr txBox="1"/>
          <p:nvPr/>
        </p:nvSpPr>
        <p:spPr>
          <a:xfrm>
            <a:off x="3566159"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≤100 item lịch sử</a:t>
            </a:r>
          </a:p>
        </p:txBody>
      </p:sp>
      <p:sp>
        <p:nvSpPr>
          <p:cNvPr id="18" name="Chevron 17"/>
          <p:cNvSpPr/>
          <p:nvPr/>
        </p:nvSpPr>
        <p:spPr>
          <a:xfrm>
            <a:off x="5975603" y="270205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So khớp</a:t>
            </a:r>
          </a:p>
        </p:txBody>
      </p:sp>
      <p:sp>
        <p:nvSpPr>
          <p:cNvPr id="22" name="TextBox 21"/>
          <p:cNvSpPr txBox="1"/>
          <p:nvPr/>
        </p:nvSpPr>
        <p:spPr>
          <a:xfrm>
            <a:off x="6382512"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Vector chuẩn hóa</a:t>
            </a:r>
          </a:p>
        </p:txBody>
      </p:sp>
      <p:sp>
        <p:nvSpPr>
          <p:cNvPr id="23" name="Chevron 22"/>
          <p:cNvSpPr/>
          <p:nvPr/>
        </p:nvSpPr>
        <p:spPr>
          <a:xfrm>
            <a:off x="8791956" y="270205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a:t>
            </a:r>
          </a:p>
        </p:txBody>
      </p:sp>
      <p:sp>
        <p:nvSpPr>
          <p:cNvPr id="27" name="TextBox 26"/>
          <p:cNvSpPr txBox="1"/>
          <p:nvPr/>
        </p:nvSpPr>
        <p:spPr>
          <a:xfrm>
            <a:off x="9198863"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Lọc item đã xem</a:t>
            </a:r>
          </a:p>
        </p:txBody>
      </p:sp>
      <p:sp>
        <p:nvSpPr>
          <p:cNvPr id="28" name="Oval 27"/>
          <p:cNvSpPr/>
          <p:nvPr/>
        </p:nvSpPr>
        <p:spPr>
          <a:xfrm>
            <a:off x="758952" y="414223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4041648"/>
            <a:ext cx="10506455" cy="603504"/>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Recency decay = 0,97 để tăng vai trò lịch sử gần.</a:t>
            </a:r>
          </a:p>
        </p:txBody>
      </p:sp>
      <p:sp>
        <p:nvSpPr>
          <p:cNvPr id="30" name="Oval 29"/>
          <p:cNvSpPr/>
          <p:nvPr/>
        </p:nvSpPr>
        <p:spPr>
          <a:xfrm>
            <a:off x="758952" y="482803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 y="4727448"/>
            <a:ext cx="10506455" cy="603504"/>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VAL: lịch sử TRAIN. TEST: lịch sử TRAIN + VAL.</a:t>
            </a:r>
          </a:p>
        </p:txBody>
      </p:sp>
      <p:sp>
        <p:nvSpPr>
          <p:cNvPr id="32" name="Rounded Rectangle 31"/>
          <p:cNvSpPr/>
          <p:nvPr/>
        </p:nvSpPr>
        <p:spPr>
          <a:xfrm>
            <a:off x="566928" y="5687568"/>
            <a:ext cx="11064240" cy="521207"/>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5769864"/>
            <a:ext cx="10698480" cy="411479"/>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Metadata và IDF dùng full catalog; cần ghi rõ giới hạn của temporal evaluation.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Co-visitation: quan hệ đồng xuất hiện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29 / 40</a:t>
            </a:r>
          </a:p>
        </p:txBody>
      </p:sp>
      <p:sp>
        <p:nvSpPr>
          <p:cNvPr id="8" name="Rectangle 7"/>
          <p:cNvSpPr/>
          <p:nvPr/>
        </p:nvSpPr>
        <p:spPr>
          <a:xfrm>
            <a:off x="566928" y="6391656"/>
            <a:ext cx="802157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Session</a:t>
            </a:r>
          </a:p>
        </p:txBody>
      </p:sp>
      <p:sp>
        <p:nvSpPr>
          <p:cNvPr id="12" name="TextBox 11"/>
          <p:cNvSpPr txBox="1"/>
          <p:nvPr/>
        </p:nvSpPr>
        <p:spPr>
          <a:xfrm>
            <a:off x="749808"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Bucket tương tác</a:t>
            </a:r>
          </a:p>
        </p:txBody>
      </p:sp>
      <p:sp>
        <p:nvSpPr>
          <p:cNvPr id="13" name="Chevron 12"/>
          <p:cNvSpPr/>
          <p:nvPr/>
        </p:nvSpPr>
        <p:spPr>
          <a:xfrm>
            <a:off x="3159251" y="263347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Sliding window</a:t>
            </a:r>
          </a:p>
        </p:txBody>
      </p:sp>
      <p:sp>
        <p:nvSpPr>
          <p:cNvPr id="17" name="TextBox 16"/>
          <p:cNvSpPr txBox="1"/>
          <p:nvPr/>
        </p:nvSpPr>
        <p:spPr>
          <a:xfrm>
            <a:off x="3566159"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Tạo cặp item</a:t>
            </a:r>
          </a:p>
        </p:txBody>
      </p:sp>
      <p:sp>
        <p:nvSpPr>
          <p:cNvPr id="18" name="Chevron 17"/>
          <p:cNvSpPr/>
          <p:nvPr/>
        </p:nvSpPr>
        <p:spPr>
          <a:xfrm>
            <a:off x="5975603" y="263347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 láng giềng</a:t>
            </a:r>
          </a:p>
        </p:txBody>
      </p:sp>
      <p:sp>
        <p:nvSpPr>
          <p:cNvPr id="22" name="TextBox 21"/>
          <p:cNvSpPr txBox="1"/>
          <p:nvPr/>
        </p:nvSpPr>
        <p:spPr>
          <a:xfrm>
            <a:off x="6382512"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Reduce / checkpoint</a:t>
            </a:r>
          </a:p>
        </p:txBody>
      </p:sp>
      <p:sp>
        <p:nvSpPr>
          <p:cNvPr id="23" name="Chevron 22"/>
          <p:cNvSpPr/>
          <p:nvPr/>
        </p:nvSpPr>
        <p:spPr>
          <a:xfrm>
            <a:off x="8791956" y="263347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Gợi ý</a:t>
            </a:r>
          </a:p>
        </p:txBody>
      </p:sp>
      <p:sp>
        <p:nvSpPr>
          <p:cNvPr id="27" name="TextBox 26"/>
          <p:cNvSpPr txBox="1"/>
          <p:nvPr/>
        </p:nvSpPr>
        <p:spPr>
          <a:xfrm>
            <a:off x="9198863"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Tổng hợp từ lịch sử</a:t>
            </a:r>
          </a:p>
        </p:txBody>
      </p:sp>
      <p:graphicFrame>
        <p:nvGraphicFramePr>
          <p:cNvPr id="28" name="Table 27"/>
          <p:cNvGraphicFramePr>
            <a:graphicFrameLocks noGrp="1"/>
          </p:cNvGraphicFramePr>
          <p:nvPr/>
        </p:nvGraphicFramePr>
        <p:xfrm>
          <a:off x="694944" y="3904487"/>
          <a:ext cx="10799063" cy="1435608"/>
        </p:xfrm>
        <a:graphic>
          <a:graphicData uri="http://schemas.openxmlformats.org/drawingml/2006/table">
            <a:tbl>
              <a:tblPr firstRow="1" bandRow="1">
                <a:tableStyleId>{5C22544A-7EE6-4342-B048-85BDC9FD1C3A}</a:tableStyleId>
              </a:tblPr>
              <a:tblGrid>
                <a:gridCol w="2057400"/>
                <a:gridCol w="1645920"/>
                <a:gridCol w="2377440"/>
                <a:gridCol w="2880360"/>
                <a:gridCol w="1837943"/>
              </a:tblGrid>
              <a:tr h="717804">
                <a:tc>
                  <a:txBody>
                    <a:bodyPr/>
                    <a:lstStyle/>
                    <a:p>
                      <a:pPr>
                        <a:defRPr sz="1600" b="1">
                          <a:solidFill>
                            <a:srgbClr val="FFFFFF"/>
                          </a:solidFill>
                          <a:latin typeface="Arial"/>
                        </a:defRPr>
                      </a:pPr>
                      <a:r>
                        <a:t>History</a:t>
                      </a:r>
                    </a:p>
                  </a:txBody>
                  <a:tcPr marL="128016" marR="91440" marT="91440" marB="64008" anchor="ctr">
                    <a:solidFill>
                      <a:srgbClr val="244BFF"/>
                    </a:solidFill>
                  </a:tcPr>
                </a:tc>
                <a:tc>
                  <a:txBody>
                    <a:bodyPr/>
                    <a:lstStyle/>
                    <a:p>
                      <a:pPr>
                        <a:defRPr sz="1600" b="1">
                          <a:solidFill>
                            <a:srgbClr val="FFFFFF"/>
                          </a:solidFill>
                          <a:latin typeface="Arial"/>
                        </a:defRPr>
                      </a:pPr>
                      <a:r>
                        <a:t>Decay</a:t>
                      </a:r>
                    </a:p>
                  </a:txBody>
                  <a:tcPr marL="128016" marR="91440" marT="91440" marB="64008" anchor="ctr">
                    <a:solidFill>
                      <a:srgbClr val="244BFF"/>
                    </a:solidFill>
                  </a:tcPr>
                </a:tc>
                <a:tc>
                  <a:txBody>
                    <a:bodyPr/>
                    <a:lstStyle/>
                    <a:p>
                      <a:pPr>
                        <a:defRPr sz="1600" b="1">
                          <a:solidFill>
                            <a:srgbClr val="FFFFFF"/>
                          </a:solidFill>
                          <a:latin typeface="Arial"/>
                        </a:defRPr>
                      </a:pPr>
                      <a:r>
                        <a:t>Reverse weight</a:t>
                      </a:r>
                    </a:p>
                  </a:txBody>
                  <a:tcPr marL="128016" marR="91440" marT="91440" marB="64008" anchor="ctr">
                    <a:solidFill>
                      <a:srgbClr val="244BFF"/>
                    </a:solidFill>
                  </a:tcPr>
                </a:tc>
                <a:tc>
                  <a:txBody>
                    <a:bodyPr/>
                    <a:lstStyle/>
                    <a:p>
                      <a:pPr>
                        <a:defRPr sz="1600" b="1">
                          <a:solidFill>
                            <a:srgbClr val="FFFFFF"/>
                          </a:solidFill>
                          <a:latin typeface="Arial"/>
                        </a:defRPr>
                      </a:pPr>
                      <a:r>
                        <a:t>Popularity penalty</a:t>
                      </a:r>
                    </a:p>
                  </a:txBody>
                  <a:tcPr marL="128016" marR="91440" marT="91440" marB="64008" anchor="ctr">
                    <a:solidFill>
                      <a:srgbClr val="244BFF"/>
                    </a:solidFill>
                  </a:tcPr>
                </a:tc>
                <a:tc>
                  <a:txBody>
                    <a:bodyPr/>
                    <a:lstStyle/>
                    <a:p>
                      <a:pPr>
                        <a:defRPr sz="1600" b="1">
                          <a:solidFill>
                            <a:srgbClr val="FFFFFF"/>
                          </a:solidFill>
                          <a:latin typeface="Arial"/>
                        </a:defRPr>
                      </a:pPr>
                      <a:r>
                        <a:t>Window</a:t>
                      </a:r>
                    </a:p>
                  </a:txBody>
                  <a:tcPr marL="128016" marR="91440" marT="91440" marB="64008" anchor="ctr">
                    <a:solidFill>
                      <a:srgbClr val="244BFF"/>
                    </a:solidFill>
                  </a:tcPr>
                </a:tc>
              </a:tr>
              <a:tr h="717804">
                <a:tc>
                  <a:txBody>
                    <a:bodyPr/>
                    <a:lstStyle/>
                    <a:p>
                      <a:pPr>
                        <a:defRPr sz="1600" b="0">
                          <a:solidFill>
                            <a:srgbClr val="172B49"/>
                          </a:solidFill>
                          <a:latin typeface="Arial"/>
                        </a:defRPr>
                      </a:pPr>
                      <a:r>
                        <a:t>30 item</a:t>
                      </a:r>
                    </a:p>
                  </a:txBody>
                  <a:tcPr marL="128016" marR="91440" marT="91440" marB="64008" anchor="ctr">
                    <a:solidFill>
                      <a:srgbClr val="F0F4FC"/>
                    </a:solidFill>
                  </a:tcPr>
                </a:tc>
                <a:tc>
                  <a:txBody>
                    <a:bodyPr/>
                    <a:lstStyle/>
                    <a:p>
                      <a:pPr>
                        <a:defRPr sz="1600" b="0">
                          <a:solidFill>
                            <a:srgbClr val="172B49"/>
                          </a:solidFill>
                          <a:latin typeface="Arial"/>
                        </a:defRPr>
                      </a:pPr>
                      <a:r>
                        <a:t>0,9</a:t>
                      </a:r>
                    </a:p>
                  </a:txBody>
                  <a:tcPr marL="128016" marR="91440" marT="91440" marB="64008" anchor="ctr">
                    <a:solidFill>
                      <a:srgbClr val="F0F4FC"/>
                    </a:solidFill>
                  </a:tcPr>
                </a:tc>
                <a:tc>
                  <a:txBody>
                    <a:bodyPr/>
                    <a:lstStyle/>
                    <a:p>
                      <a:pPr>
                        <a:defRPr sz="1600" b="0">
                          <a:solidFill>
                            <a:srgbClr val="172B49"/>
                          </a:solidFill>
                          <a:latin typeface="Arial"/>
                        </a:defRPr>
                      </a:pPr>
                      <a:r>
                        <a:t>0,4</a:t>
                      </a:r>
                    </a:p>
                  </a:txBody>
                  <a:tcPr marL="128016" marR="91440" marT="91440" marB="64008" anchor="ctr">
                    <a:solidFill>
                      <a:srgbClr val="F0F4FC"/>
                    </a:solidFill>
                  </a:tcPr>
                </a:tc>
                <a:tc>
                  <a:txBody>
                    <a:bodyPr/>
                    <a:lstStyle/>
                    <a:p>
                      <a:pPr>
                        <a:defRPr sz="1600" b="0">
                          <a:solidFill>
                            <a:srgbClr val="172B49"/>
                          </a:solidFill>
                          <a:latin typeface="Arial"/>
                        </a:defRPr>
                      </a:pPr>
                      <a:r>
                        <a:t>0,1</a:t>
                      </a:r>
                    </a:p>
                  </a:txBody>
                  <a:tcPr marL="128016" marR="91440" marT="91440" marB="64008" anchor="ctr">
                    <a:solidFill>
                      <a:srgbClr val="F0F4FC"/>
                    </a:solidFill>
                  </a:tcPr>
                </a:tc>
                <a:tc>
                  <a:txBody>
                    <a:bodyPr/>
                    <a:lstStyle/>
                    <a:p>
                      <a:pPr>
                        <a:defRPr sz="1600" b="0">
                          <a:solidFill>
                            <a:srgbClr val="172B49"/>
                          </a:solidFill>
                          <a:latin typeface="Arial"/>
                        </a:defRPr>
                      </a:pPr>
                      <a:r>
                        <a:t>5</a:t>
                      </a:r>
                    </a:p>
                  </a:txBody>
                  <a:tcPr marL="128016" marR="91440" marT="91440" marB="64008" anchor="ctr">
                    <a:solidFill>
                      <a:srgbClr val="F0F4FC"/>
                    </a:solidFill>
                  </a:tcPr>
                </a:tc>
              </a:tr>
            </a:tbl>
          </a:graphicData>
        </a:graphic>
      </p:graphicFrame>
      <p:sp>
        <p:nvSpPr>
          <p:cNvPr id="29" name="Rounded Rectangle 2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Chọn cấu hình trên VAL; refit TRAIN + VAL trước đánh giá TEST.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ALS: collaborative filtering cho implicit data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30 / 40</a:t>
            </a:r>
          </a:p>
        </p:txBody>
      </p:sp>
      <p:sp>
        <p:nvSpPr>
          <p:cNvPr id="8" name="Rectangle 7"/>
          <p:cNvSpPr/>
          <p:nvPr/>
        </p:nvSpPr>
        <p:spPr>
          <a:xfrm>
            <a:off x="566928" y="6391656"/>
            <a:ext cx="829817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21308"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28216"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5124"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42032"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8940"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21308"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28216"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35124"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42032"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48940"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321308" y="2752344"/>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28216"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35124"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42032" y="2752344"/>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48940"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3159252"/>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21308"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28216"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35124" y="3159252"/>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42032"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48940"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00600"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07508" y="1938528"/>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00600" y="2345436"/>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207508" y="2345436"/>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00600" y="2752344"/>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207508" y="2752344"/>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00600" y="3159252"/>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207508" y="3159252"/>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52360"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859268"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66176"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73084"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79992"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86900"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52360"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859268"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66176"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73084"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079992"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486900"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30168" y="2423160"/>
            <a:ext cx="731520" cy="676656"/>
          </a:xfrm>
          <a:prstGeom prst="rect">
            <a:avLst/>
          </a:prstGeom>
          <a:noFill/>
        </p:spPr>
        <p:txBody>
          <a:bodyPr wrap="square" lIns="0" rIns="0" tIns="0" bIns="0">
            <a:spAutoFit/>
          </a:bodyPr>
          <a:lstStyle/>
          <a:p>
            <a:pPr algn="l">
              <a:spcBef>
                <a:spcPts val="0"/>
              </a:spcBef>
              <a:spcAft>
                <a:spcPts val="600"/>
              </a:spcAft>
              <a:defRPr sz="4000" b="1">
                <a:solidFill>
                  <a:srgbClr val="5B6B83"/>
                </a:solidFill>
                <a:latin typeface="Arial"/>
              </a:defRPr>
            </a:pPr>
            <a:r>
              <a:t>≈</a:t>
            </a:r>
          </a:p>
        </p:txBody>
      </p:sp>
      <p:sp>
        <p:nvSpPr>
          <p:cNvPr id="54" name="TextBox 53"/>
          <p:cNvSpPr txBox="1"/>
          <p:nvPr/>
        </p:nvSpPr>
        <p:spPr>
          <a:xfrm>
            <a:off x="6144768" y="2404872"/>
            <a:ext cx="640080" cy="548640"/>
          </a:xfrm>
          <a:prstGeom prst="rect">
            <a:avLst/>
          </a:prstGeom>
          <a:noFill/>
        </p:spPr>
        <p:txBody>
          <a:bodyPr wrap="square" lIns="0" rIns="0" tIns="0" bIns="0">
            <a:spAutoFit/>
          </a:bodyPr>
          <a:lstStyle/>
          <a:p>
            <a:pPr algn="l">
              <a:spcBef>
                <a:spcPts val="0"/>
              </a:spcBef>
              <a:spcAft>
                <a:spcPts val="600"/>
              </a:spcAft>
              <a:defRPr sz="3600" b="1">
                <a:solidFill>
                  <a:srgbClr val="5B6B83"/>
                </a:solidFill>
                <a:latin typeface="Arial"/>
              </a:defRPr>
            </a:pPr>
            <a:r>
              <a:t>×</a:t>
            </a:r>
          </a:p>
        </p:txBody>
      </p:sp>
      <p:sp>
        <p:nvSpPr>
          <p:cNvPr id="55" name="TextBox 54"/>
          <p:cNvSpPr txBox="1"/>
          <p:nvPr/>
        </p:nvSpPr>
        <p:spPr>
          <a:xfrm>
            <a:off x="905256" y="3767328"/>
            <a:ext cx="3291840" cy="457200"/>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Ma trận tương tác</a:t>
            </a:r>
          </a:p>
        </p:txBody>
      </p:sp>
      <p:sp>
        <p:nvSpPr>
          <p:cNvPr id="56" name="TextBox 55"/>
          <p:cNvSpPr txBox="1"/>
          <p:nvPr/>
        </p:nvSpPr>
        <p:spPr>
          <a:xfrm>
            <a:off x="4617720" y="3767328"/>
            <a:ext cx="2468880" cy="457200"/>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User factors</a:t>
            </a:r>
          </a:p>
        </p:txBody>
      </p:sp>
      <p:sp>
        <p:nvSpPr>
          <p:cNvPr id="57" name="TextBox 56"/>
          <p:cNvSpPr txBox="1"/>
          <p:nvPr/>
        </p:nvSpPr>
        <p:spPr>
          <a:xfrm>
            <a:off x="7461504" y="3767328"/>
            <a:ext cx="3383280" cy="457200"/>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Item factors</a:t>
            </a:r>
          </a:p>
        </p:txBody>
      </p:sp>
      <p:graphicFrame>
        <p:nvGraphicFramePr>
          <p:cNvPr id="58" name="Table 57"/>
          <p:cNvGraphicFramePr>
            <a:graphicFrameLocks noGrp="1"/>
          </p:cNvGraphicFramePr>
          <p:nvPr/>
        </p:nvGraphicFramePr>
        <p:xfrm>
          <a:off x="704088" y="4599432"/>
          <a:ext cx="10789920" cy="1014984"/>
        </p:xfrm>
        <a:graphic>
          <a:graphicData uri="http://schemas.openxmlformats.org/drawingml/2006/table">
            <a:tbl>
              <a:tblPr firstRow="1" bandRow="1">
                <a:tableStyleId>{5C22544A-7EE6-4342-B048-85BDC9FD1C3A}</a:tableStyleId>
              </a:tblPr>
              <a:tblGrid>
                <a:gridCol w="2697480"/>
                <a:gridCol w="2697480"/>
                <a:gridCol w="2697480"/>
                <a:gridCol w="2697480"/>
              </a:tblGrid>
              <a:tr h="507492">
                <a:tc>
                  <a:txBody>
                    <a:bodyPr/>
                    <a:lstStyle/>
                    <a:p>
                      <a:pPr>
                        <a:defRPr sz="1700" b="1">
                          <a:solidFill>
                            <a:srgbClr val="FFFFFF"/>
                          </a:solidFill>
                          <a:latin typeface="Arial"/>
                        </a:defRPr>
                      </a:pPr>
                      <a:r>
                        <a:t>Factors</a:t>
                      </a:r>
                    </a:p>
                  </a:txBody>
                  <a:tcPr marL="128016" marR="91440" marT="91440" marB="64008" anchor="ctr">
                    <a:solidFill>
                      <a:srgbClr val="244BFF"/>
                    </a:solidFill>
                  </a:tcPr>
                </a:tc>
                <a:tc>
                  <a:txBody>
                    <a:bodyPr/>
                    <a:lstStyle/>
                    <a:p>
                      <a:pPr>
                        <a:defRPr sz="1700" b="1">
                          <a:solidFill>
                            <a:srgbClr val="FFFFFF"/>
                          </a:solidFill>
                          <a:latin typeface="Arial"/>
                        </a:defRPr>
                      </a:pPr>
                      <a:r>
                        <a:t>Regularization</a:t>
                      </a:r>
                    </a:p>
                  </a:txBody>
                  <a:tcPr marL="128016" marR="91440" marT="91440" marB="64008" anchor="ctr">
                    <a:solidFill>
                      <a:srgbClr val="244BFF"/>
                    </a:solidFill>
                  </a:tcPr>
                </a:tc>
                <a:tc>
                  <a:txBody>
                    <a:bodyPr/>
                    <a:lstStyle/>
                    <a:p>
                      <a:pPr>
                        <a:defRPr sz="1700" b="1">
                          <a:solidFill>
                            <a:srgbClr val="FFFFFF"/>
                          </a:solidFill>
                          <a:latin typeface="Arial"/>
                        </a:defRPr>
                      </a:pPr>
                      <a:r>
                        <a:t>Alpha</a:t>
                      </a:r>
                    </a:p>
                  </a:txBody>
                  <a:tcPr marL="128016" marR="91440" marT="91440" marB="64008" anchor="ctr">
                    <a:solidFill>
                      <a:srgbClr val="244BFF"/>
                    </a:solidFill>
                  </a:tcPr>
                </a:tc>
                <a:tc>
                  <a:txBody>
                    <a:bodyPr/>
                    <a:lstStyle/>
                    <a:p>
                      <a:pPr>
                        <a:defRPr sz="1700" b="1">
                          <a:solidFill>
                            <a:srgbClr val="FFFFFF"/>
                          </a:solidFill>
                          <a:latin typeface="Arial"/>
                        </a:defRPr>
                      </a:pPr>
                      <a:r>
                        <a:t>Iterations</a:t>
                      </a:r>
                    </a:p>
                  </a:txBody>
                  <a:tcPr marL="128016" marR="91440" marT="91440" marB="64008" anchor="ctr">
                    <a:solidFill>
                      <a:srgbClr val="244BFF"/>
                    </a:solidFill>
                  </a:tcPr>
                </a:tc>
              </a:tr>
              <a:tr h="507492">
                <a:tc>
                  <a:txBody>
                    <a:bodyPr/>
                    <a:lstStyle/>
                    <a:p>
                      <a:pPr>
                        <a:defRPr sz="1700" b="0">
                          <a:solidFill>
                            <a:srgbClr val="172B49"/>
                          </a:solidFill>
                          <a:latin typeface="Arial"/>
                        </a:defRPr>
                      </a:pPr>
                      <a:r>
                        <a:t>32</a:t>
                      </a:r>
                    </a:p>
                  </a:txBody>
                  <a:tcPr marL="128016" marR="91440" marT="91440" marB="64008" anchor="ctr">
                    <a:solidFill>
                      <a:srgbClr val="F0F4FC"/>
                    </a:solidFill>
                  </a:tcPr>
                </a:tc>
                <a:tc>
                  <a:txBody>
                    <a:bodyPr/>
                    <a:lstStyle/>
                    <a:p>
                      <a:pPr>
                        <a:defRPr sz="1700" b="0">
                          <a:solidFill>
                            <a:srgbClr val="172B49"/>
                          </a:solidFill>
                          <a:latin typeface="Arial"/>
                        </a:defRPr>
                      </a:pPr>
                      <a:r>
                        <a:t>0,15</a:t>
                      </a:r>
                    </a:p>
                  </a:txBody>
                  <a:tcPr marL="128016" marR="91440" marT="91440" marB="64008" anchor="ctr">
                    <a:solidFill>
                      <a:srgbClr val="F0F4FC"/>
                    </a:solidFill>
                  </a:tcPr>
                </a:tc>
                <a:tc>
                  <a:txBody>
                    <a:bodyPr/>
                    <a:lstStyle/>
                    <a:p>
                      <a:pPr>
                        <a:defRPr sz="1700" b="0">
                          <a:solidFill>
                            <a:srgbClr val="172B49"/>
                          </a:solidFill>
                          <a:latin typeface="Arial"/>
                        </a:defRPr>
                      </a:pPr>
                      <a:r>
                        <a:t>40</a:t>
                      </a:r>
                    </a:p>
                  </a:txBody>
                  <a:tcPr marL="128016" marR="91440" marT="91440" marB="64008" anchor="ctr">
                    <a:solidFill>
                      <a:srgbClr val="F0F4FC"/>
                    </a:solidFill>
                  </a:tcPr>
                </a:tc>
                <a:tc>
                  <a:txBody>
                    <a:bodyPr/>
                    <a:lstStyle/>
                    <a:p>
                      <a:pPr>
                        <a:defRPr sz="1700" b="0">
                          <a:solidFill>
                            <a:srgbClr val="172B49"/>
                          </a:solidFill>
                          <a:latin typeface="Arial"/>
                        </a:defRPr>
                      </a:pPr>
                      <a:r>
                        <a:t>12</a:t>
                      </a:r>
                    </a:p>
                  </a:txBody>
                  <a:tcPr marL="128016" marR="91440" marT="91440" marB="64008" anchor="ctr">
                    <a:solidFill>
                      <a:srgbClr val="F0F4FC"/>
                    </a:solidFill>
                  </a:tcPr>
                </a:tc>
              </a:tr>
            </a:tbl>
          </a:graphicData>
        </a:graphic>
      </p:graphicFrame>
      <p:sp>
        <p:nvSpPr>
          <p:cNvPr id="59" name="Rounded Rectangle 58"/>
          <p:cNvSpPr/>
          <p:nvPr/>
        </p:nvSpPr>
        <p:spPr>
          <a:xfrm>
            <a:off x="566928" y="5870448"/>
            <a:ext cx="11064240" cy="36576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808" y="5952744"/>
            <a:ext cx="10698480" cy="256032"/>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Sơ đồ nguyên lý; cấu hình từ ALS artifact. Chọn model bằng POSITIVE NDCG@20.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GRU4Rec: học thứ tự và loại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31 / 40</a:t>
            </a:r>
          </a:p>
        </p:txBody>
      </p:sp>
      <p:sp>
        <p:nvSpPr>
          <p:cNvPr id="8" name="Rectangle 7"/>
          <p:cNvSpPr/>
          <p:nvPr/>
        </p:nvSpPr>
        <p:spPr>
          <a:xfrm>
            <a:off x="566928" y="6391656"/>
            <a:ext cx="857478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Item + event</a:t>
            </a:r>
          </a:p>
        </p:txBody>
      </p:sp>
      <p:sp>
        <p:nvSpPr>
          <p:cNvPr id="12" name="TextBox 11"/>
          <p:cNvSpPr txBox="1"/>
          <p:nvPr/>
        </p:nvSpPr>
        <p:spPr>
          <a:xfrm>
            <a:off x="749808"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32 + 16 chiều</a:t>
            </a:r>
          </a:p>
        </p:txBody>
      </p:sp>
      <p:sp>
        <p:nvSpPr>
          <p:cNvPr id="13" name="Chevron 12"/>
          <p:cNvSpPr/>
          <p:nvPr/>
        </p:nvSpPr>
        <p:spPr>
          <a:xfrm>
            <a:off x="3159251" y="270662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GRU × 2</a:t>
            </a:r>
          </a:p>
        </p:txBody>
      </p:sp>
      <p:sp>
        <p:nvSpPr>
          <p:cNvPr id="17" name="TextBox 16"/>
          <p:cNvSpPr txBox="1"/>
          <p:nvPr/>
        </p:nvSpPr>
        <p:spPr>
          <a:xfrm>
            <a:off x="3566159"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Hidden = 128</a:t>
            </a:r>
          </a:p>
        </p:txBody>
      </p:sp>
      <p:sp>
        <p:nvSpPr>
          <p:cNvPr id="18" name="Chevron 17"/>
          <p:cNvSpPr/>
          <p:nvPr/>
        </p:nvSpPr>
        <p:spPr>
          <a:xfrm>
            <a:off x="5975603" y="270662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Ngữ cảnh</a:t>
            </a:r>
          </a:p>
        </p:txBody>
      </p:sp>
      <p:sp>
        <p:nvSpPr>
          <p:cNvPr id="22" name="TextBox 21"/>
          <p:cNvSpPr txBox="1"/>
          <p:nvPr/>
        </p:nvSpPr>
        <p:spPr>
          <a:xfrm>
            <a:off x="6382512"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Vector người dùng</a:t>
            </a:r>
          </a:p>
        </p:txBody>
      </p:sp>
      <p:sp>
        <p:nvSpPr>
          <p:cNvPr id="23" name="Chevron 22"/>
          <p:cNvSpPr/>
          <p:nvPr/>
        </p:nvSpPr>
        <p:spPr>
          <a:xfrm>
            <a:off x="8791956" y="270662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Next item</a:t>
            </a:r>
          </a:p>
        </p:txBody>
      </p:sp>
      <p:sp>
        <p:nvSpPr>
          <p:cNvPr id="27" name="TextBox 26"/>
          <p:cNvSpPr txBox="1"/>
          <p:nvPr/>
        </p:nvSpPr>
        <p:spPr>
          <a:xfrm>
            <a:off x="9198863"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Sampled softmax</a:t>
            </a:r>
          </a:p>
        </p:txBody>
      </p:sp>
      <p:sp>
        <p:nvSpPr>
          <p:cNvPr id="28" name="Oval 27"/>
          <p:cNvSpPr/>
          <p:nvPr/>
        </p:nvSpPr>
        <p:spPr>
          <a:xfrm>
            <a:off x="768096" y="419709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096512"/>
            <a:ext cx="10506455" cy="55778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Item embedding trên CPU; GRU và dense được thiết kế chạy GPU.</a:t>
            </a:r>
          </a:p>
        </p:txBody>
      </p:sp>
      <p:sp>
        <p:nvSpPr>
          <p:cNvPr id="30" name="Oval 29"/>
          <p:cNvSpPr/>
          <p:nvPr/>
        </p:nvSpPr>
        <p:spPr>
          <a:xfrm>
            <a:off x="768096" y="483717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736592"/>
            <a:ext cx="10506455" cy="55778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64 negatives khi train; catalog lớn được truy cập theo batch.</a:t>
            </a:r>
          </a:p>
        </p:txBody>
      </p:sp>
      <p:sp>
        <p:nvSpPr>
          <p:cNvPr id="32" name="Rounded Rectangle 31"/>
          <p:cNvSpPr/>
          <p:nvPr/>
        </p:nvSpPr>
        <p:spPr>
          <a:xfrm>
            <a:off x="795528" y="5559552"/>
            <a:ext cx="2907792" cy="32918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 y="5623560"/>
            <a:ext cx="2724912" cy="182880"/>
          </a:xfrm>
          <a:prstGeom prst="rect">
            <a:avLst/>
          </a:prstGeom>
          <a:noFill/>
        </p:spPr>
        <p:txBody>
          <a:bodyPr wrap="square" lIns="0" rIns="0" tIns="0" bIns="0">
            <a:spAutoFit/>
          </a:bodyPr>
          <a:lstStyle/>
          <a:p>
            <a:pPr algn="l">
              <a:spcBef>
                <a:spcPts val="0"/>
              </a:spcBef>
              <a:spcAft>
                <a:spcPts val="600"/>
              </a:spcAft>
              <a:defRPr sz="1000" b="1">
                <a:solidFill>
                  <a:srgbClr val="FFFFFF"/>
                </a:solidFill>
                <a:latin typeface="Arial"/>
              </a:defRPr>
            </a:pPr>
            <a:r>
              <a:t>METRIC HIỆN CÓ: SAMPLED VAL</a:t>
            </a:r>
          </a:p>
        </p:txBody>
      </p:sp>
      <p:sp>
        <p:nvSpPr>
          <p:cNvPr id="34" name="TextBox 33"/>
          <p:cNvSpPr txBox="1"/>
          <p:nvPr/>
        </p:nvSpPr>
        <p:spPr>
          <a:xfrm>
            <a:off x="3931920" y="5614416"/>
            <a:ext cx="7424927" cy="393192"/>
          </a:xfrm>
          <a:prstGeom prst="rect">
            <a:avLst/>
          </a:prstGeom>
          <a:noFill/>
        </p:spPr>
        <p:txBody>
          <a:bodyPr wrap="square" lIns="0" rIns="0" tIns="0" bIns="0">
            <a:spAutoFit/>
          </a:bodyPr>
          <a:lstStyle/>
          <a:p>
            <a:pPr algn="l">
              <a:spcBef>
                <a:spcPts val="0"/>
              </a:spcBef>
              <a:spcAft>
                <a:spcPts val="600"/>
              </a:spcAft>
              <a:defRPr sz="2000" b="0">
                <a:solidFill>
                  <a:srgbClr val="5B6B83"/>
                </a:solidFill>
                <a:latin typeface="Arial"/>
              </a:defRPr>
            </a:pPr>
            <a:r>
              <a:t>Không gọi là full-catalog TEST.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Two-Tower: biểu diễn user và item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32 / 40</a:t>
            </a:r>
          </a:p>
        </p:txBody>
      </p:sp>
      <p:sp>
        <p:nvSpPr>
          <p:cNvPr id="8" name="Rectangle 7"/>
          <p:cNvSpPr/>
          <p:nvPr/>
        </p:nvSpPr>
        <p:spPr>
          <a:xfrm>
            <a:off x="566928" y="6391656"/>
            <a:ext cx="885139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10512"/>
            <a:ext cx="4681728" cy="23957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 y="2048256"/>
            <a:ext cx="411480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USER TOWER</a:t>
            </a:r>
          </a:p>
        </p:txBody>
      </p:sp>
      <p:sp>
        <p:nvSpPr>
          <p:cNvPr id="11" name="TextBox 10"/>
          <p:cNvSpPr txBox="1"/>
          <p:nvPr/>
        </p:nvSpPr>
        <p:spPr>
          <a:xfrm>
            <a:off x="1133856" y="2606040"/>
            <a:ext cx="4251960" cy="1371600"/>
          </a:xfrm>
          <a:prstGeom prst="rect">
            <a:avLst/>
          </a:prstGeom>
          <a:noFill/>
        </p:spPr>
        <p:txBody>
          <a:bodyPr wrap="square" lIns="0" rIns="0" tIns="0" bIns="0">
            <a:spAutoFit/>
          </a:bodyPr>
          <a:lstStyle/>
          <a:p>
            <a:pPr algn="ctr">
              <a:spcBef>
                <a:spcPts val="0"/>
              </a:spcBef>
              <a:spcAft>
                <a:spcPts val="600"/>
              </a:spcAft>
              <a:defRPr sz="2100" b="1">
                <a:solidFill>
                  <a:srgbClr val="172B49"/>
                </a:solidFill>
                <a:latin typeface="Arial"/>
              </a:defRPr>
            </a:pPr>
            <a:r>
              <a:t>User ID</a:t>
            </a:r>
          </a:p>
          <a:p>
            <a:pPr algn="ctr">
              <a:spcBef>
                <a:spcPts val="0"/>
              </a:spcBef>
              <a:spcAft>
                <a:spcPts val="600"/>
              </a:spcAft>
              <a:defRPr sz="2100" b="1">
                <a:solidFill>
                  <a:srgbClr val="172B49"/>
                </a:solidFill>
                <a:latin typeface="Arial"/>
              </a:defRPr>
            </a:pPr>
            <a:r>
              <a:t>↓</a:t>
            </a:r>
          </a:p>
          <a:p>
            <a:pPr algn="ctr">
              <a:spcBef>
                <a:spcPts val="0"/>
              </a:spcBef>
              <a:spcAft>
                <a:spcPts val="600"/>
              </a:spcAft>
              <a:defRPr sz="2100" b="1">
                <a:solidFill>
                  <a:srgbClr val="172B49"/>
                </a:solidFill>
                <a:latin typeface="Arial"/>
              </a:defRPr>
            </a:pPr>
            <a:r>
              <a:t>Embedding 64 chiều</a:t>
            </a:r>
          </a:p>
        </p:txBody>
      </p:sp>
      <p:sp>
        <p:nvSpPr>
          <p:cNvPr id="12" name="Rounded Rectangle 11"/>
          <p:cNvSpPr/>
          <p:nvPr/>
        </p:nvSpPr>
        <p:spPr>
          <a:xfrm>
            <a:off x="6565392" y="1810512"/>
            <a:ext cx="4681728" cy="23957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84848" y="2048256"/>
            <a:ext cx="411480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ITEM TOWER</a:t>
            </a:r>
          </a:p>
        </p:txBody>
      </p:sp>
      <p:sp>
        <p:nvSpPr>
          <p:cNvPr id="14" name="TextBox 13"/>
          <p:cNvSpPr txBox="1"/>
          <p:nvPr/>
        </p:nvSpPr>
        <p:spPr>
          <a:xfrm>
            <a:off x="6784848" y="2606040"/>
            <a:ext cx="4251960" cy="1371600"/>
          </a:xfrm>
          <a:prstGeom prst="rect">
            <a:avLst/>
          </a:prstGeom>
          <a:noFill/>
        </p:spPr>
        <p:txBody>
          <a:bodyPr wrap="square" lIns="0" rIns="0" tIns="0" bIns="0">
            <a:spAutoFit/>
          </a:bodyPr>
          <a:lstStyle/>
          <a:p>
            <a:pPr algn="ctr">
              <a:spcBef>
                <a:spcPts val="0"/>
              </a:spcBef>
              <a:spcAft>
                <a:spcPts val="600"/>
              </a:spcAft>
              <a:defRPr sz="2100" b="1">
                <a:solidFill>
                  <a:srgbClr val="172B49"/>
                </a:solidFill>
                <a:latin typeface="Arial"/>
              </a:defRPr>
            </a:pPr>
            <a:r>
              <a:t>7 metadata × 16 + price_z</a:t>
            </a:r>
          </a:p>
          <a:p>
            <a:pPr algn="ctr">
              <a:spcBef>
                <a:spcPts val="0"/>
              </a:spcBef>
              <a:spcAft>
                <a:spcPts val="600"/>
              </a:spcAft>
              <a:defRPr sz="2100" b="1">
                <a:solidFill>
                  <a:srgbClr val="172B49"/>
                </a:solidFill>
                <a:latin typeface="Arial"/>
              </a:defRPr>
            </a:pPr>
            <a:r>
              <a:t>↓</a:t>
            </a:r>
          </a:p>
          <a:p>
            <a:pPr algn="ctr">
              <a:spcBef>
                <a:spcPts val="0"/>
              </a:spcBef>
              <a:spcAft>
                <a:spcPts val="600"/>
              </a:spcAft>
              <a:defRPr sz="2100" b="1">
                <a:solidFill>
                  <a:srgbClr val="172B49"/>
                </a:solidFill>
                <a:latin typeface="Arial"/>
              </a:defRPr>
            </a:pPr>
            <a:r>
              <a:t>MLP 256 → 64 chiều</a:t>
            </a:r>
          </a:p>
        </p:txBody>
      </p:sp>
      <p:cxnSp>
        <p:nvCxnSpPr>
          <p:cNvPr id="15" name="Connector 14"/>
          <p:cNvCxnSpPr/>
          <p:nvPr/>
        </p:nvCxnSpPr>
        <p:spPr>
          <a:xfrm>
            <a:off x="3255264" y="4242816"/>
            <a:ext cx="2852928" cy="411480"/>
          </a:xfrm>
          <a:prstGeom prst="line">
            <a:avLst/>
          </a:prstGeom>
          <a:ln w="254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108192" y="4242816"/>
            <a:ext cx="2788920" cy="411480"/>
          </a:xfrm>
          <a:prstGeom prst="line">
            <a:avLst/>
          </a:prstGeom>
          <a:ln w="25400">
            <a:solidFill>
              <a:srgbClr val="244BF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54096" y="4645152"/>
            <a:ext cx="6099048" cy="630936"/>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55264" y="4818888"/>
            <a:ext cx="5669280" cy="329184"/>
          </a:xfrm>
          <a:prstGeom prst="rect">
            <a:avLst/>
          </a:prstGeom>
          <a:noFill/>
        </p:spPr>
        <p:txBody>
          <a:bodyPr wrap="square" lIns="0" rIns="0" tIns="0" bIns="0">
            <a:spAutoFit/>
          </a:bodyPr>
          <a:lstStyle/>
          <a:p>
            <a:pPr algn="ctr">
              <a:spcBef>
                <a:spcPts val="0"/>
              </a:spcBef>
              <a:spcAft>
                <a:spcPts val="600"/>
              </a:spcAft>
              <a:defRPr sz="2200" b="1">
                <a:solidFill>
                  <a:srgbClr val="FFFFFF"/>
                </a:solidFill>
                <a:latin typeface="Arial"/>
              </a:defRPr>
            </a:pPr>
            <a:r>
              <a:t>Chuẩn hóa vector → tích vô hướng</a:t>
            </a:r>
          </a:p>
        </p:txBody>
      </p:sp>
      <p:sp>
        <p:nvSpPr>
          <p:cNvPr id="19" name="Rounded Rectangle 18"/>
          <p:cNvSpPr/>
          <p:nvPr/>
        </p:nvSpPr>
        <p:spPr>
          <a:xfrm>
            <a:off x="566928" y="5769864"/>
            <a:ext cx="11064240" cy="448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852159"/>
            <a:ext cx="10698480" cy="338328"/>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Symmetric InfoNCE + in-batch negatives · FAISS chứa 27.328.461 TRAIN item.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08 MODEL TRAINING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Thiết lập huấn luyện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33 / 40</a:t>
            </a:r>
          </a:p>
        </p:txBody>
      </p:sp>
      <p:sp>
        <p:nvSpPr>
          <p:cNvPr id="8" name="Rectangle 7"/>
          <p:cNvSpPr/>
          <p:nvPr/>
        </p:nvSpPr>
        <p:spPr>
          <a:xfrm>
            <a:off x="566928" y="6391656"/>
            <a:ext cx="912799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49224" y="1810512"/>
          <a:ext cx="10899647" cy="3392424"/>
        </p:xfrm>
        <a:graphic>
          <a:graphicData uri="http://schemas.openxmlformats.org/drawingml/2006/table">
            <a:tbl>
              <a:tblPr firstRow="1" bandRow="1">
                <a:tableStyleId>{5C22544A-7EE6-4342-B048-85BDC9FD1C3A}</a:tableStyleId>
              </a:tblPr>
              <a:tblGrid>
                <a:gridCol w="1828800"/>
                <a:gridCol w="3310128"/>
                <a:gridCol w="1874519"/>
                <a:gridCol w="3886200"/>
              </a:tblGrid>
              <a:tr h="848106">
                <a:tc>
                  <a:txBody>
                    <a:bodyPr/>
                    <a:lstStyle/>
                    <a:p>
                      <a:pPr>
                        <a:defRPr sz="1700" b="1">
                          <a:solidFill>
                            <a:srgbClr val="FFFFFF"/>
                          </a:solidFill>
                          <a:latin typeface="Arial"/>
                        </a:defRPr>
                      </a:pPr>
                      <a:r>
                        <a:t>Mô hình</a:t>
                      </a:r>
                    </a:p>
                  </a:txBody>
                  <a:tcPr marL="128016" marR="91440" marT="91440" marB="64008" anchor="ctr">
                    <a:solidFill>
                      <a:srgbClr val="244BFF"/>
                    </a:solidFill>
                  </a:tcPr>
                </a:tc>
                <a:tc>
                  <a:txBody>
                    <a:bodyPr/>
                    <a:lstStyle/>
                    <a:p>
                      <a:pPr>
                        <a:defRPr sz="1700" b="1">
                          <a:solidFill>
                            <a:srgbClr val="FFFFFF"/>
                          </a:solidFill>
                          <a:latin typeface="Arial"/>
                        </a:defRPr>
                      </a:pPr>
                      <a:r>
                        <a:t>Quy mô / batch</a:t>
                      </a:r>
                    </a:p>
                  </a:txBody>
                  <a:tcPr marL="128016" marR="91440" marT="91440" marB="64008" anchor="ctr">
                    <a:solidFill>
                      <a:srgbClr val="244BFF"/>
                    </a:solidFill>
                  </a:tcPr>
                </a:tc>
                <a:tc>
                  <a:txBody>
                    <a:bodyPr/>
                    <a:lstStyle/>
                    <a:p>
                      <a:pPr>
                        <a:defRPr sz="1700" b="1">
                          <a:solidFill>
                            <a:srgbClr val="FFFFFF"/>
                          </a:solidFill>
                          <a:latin typeface="Arial"/>
                        </a:defRPr>
                      </a:pPr>
                      <a:r>
                        <a:t>Vòng đã lưu</a:t>
                      </a:r>
                    </a:p>
                  </a:txBody>
                  <a:tcPr marL="128016" marR="91440" marT="91440" marB="64008" anchor="ctr">
                    <a:solidFill>
                      <a:srgbClr val="244BFF"/>
                    </a:solidFill>
                  </a:tcPr>
                </a:tc>
                <a:tc>
                  <a:txBody>
                    <a:bodyPr/>
                    <a:lstStyle/>
                    <a:p>
                      <a:pPr>
                        <a:defRPr sz="1700" b="1">
                          <a:solidFill>
                            <a:srgbClr val="FFFFFF"/>
                          </a:solidFill>
                          <a:latin typeface="Arial"/>
                        </a:defRPr>
                      </a:pPr>
                      <a:r>
                        <a:t>Chọn checkpoint</a:t>
                      </a:r>
                    </a:p>
                  </a:txBody>
                  <a:tcPr marL="128016" marR="91440" marT="91440" marB="64008" anchor="ctr">
                    <a:solidFill>
                      <a:srgbClr val="244BFF"/>
                    </a:solidFill>
                  </a:tcPr>
                </a:tc>
              </a:tr>
              <a:tr h="848106">
                <a:tc>
                  <a:txBody>
                    <a:bodyPr/>
                    <a:lstStyle/>
                    <a:p>
                      <a:pPr>
                        <a:defRPr sz="1700" b="0">
                          <a:solidFill>
                            <a:srgbClr val="172B49"/>
                          </a:solidFill>
                          <a:latin typeface="Arial"/>
                        </a:defRPr>
                      </a:pPr>
                      <a:r>
                        <a:t>ALS</a:t>
                      </a:r>
                    </a:p>
                  </a:txBody>
                  <a:tcPr marL="128016" marR="91440" marT="91440" marB="64008" anchor="ctr">
                    <a:solidFill>
                      <a:srgbClr val="F0F4FC"/>
                    </a:solidFill>
                  </a:tcPr>
                </a:tc>
                <a:tc>
                  <a:txBody>
                    <a:bodyPr/>
                    <a:lstStyle/>
                    <a:p>
                      <a:pPr>
                        <a:defRPr sz="1700" b="0">
                          <a:solidFill>
                            <a:srgbClr val="172B49"/>
                          </a:solidFill>
                          <a:latin typeface="Arial"/>
                        </a:defRPr>
                      </a:pPr>
                      <a:r>
                        <a:t>32 factors</a:t>
                      </a:r>
                    </a:p>
                  </a:txBody>
                  <a:tcPr marL="128016" marR="91440" marT="91440" marB="64008" anchor="ctr">
                    <a:solidFill>
                      <a:srgbClr val="F0F4FC"/>
                    </a:solidFill>
                  </a:tcPr>
                </a:tc>
                <a:tc>
                  <a:txBody>
                    <a:bodyPr/>
                    <a:lstStyle/>
                    <a:p>
                      <a:pPr>
                        <a:defRPr sz="1700" b="0">
                          <a:solidFill>
                            <a:srgbClr val="172B49"/>
                          </a:solidFill>
                          <a:latin typeface="Arial"/>
                        </a:defRPr>
                      </a:pPr>
                      <a:r>
                        <a:t>12 iterations</a:t>
                      </a:r>
                    </a:p>
                  </a:txBody>
                  <a:tcPr marL="128016" marR="91440" marT="91440" marB="64008" anchor="ctr">
                    <a:solidFill>
                      <a:srgbClr val="F0F4FC"/>
                    </a:solidFill>
                  </a:tcPr>
                </a:tc>
                <a:tc>
                  <a:txBody>
                    <a:bodyPr/>
                    <a:lstStyle/>
                    <a:p>
                      <a:pPr>
                        <a:defRPr sz="1700" b="0">
                          <a:solidFill>
                            <a:srgbClr val="172B49"/>
                          </a:solidFill>
                          <a:latin typeface="Arial"/>
                        </a:defRPr>
                      </a:pPr>
                      <a:r>
                        <a:t>POSITIVE NDCG@20</a:t>
                      </a:r>
                    </a:p>
                  </a:txBody>
                  <a:tcPr marL="128016" marR="91440" marT="91440" marB="64008" anchor="ctr">
                    <a:solidFill>
                      <a:srgbClr val="F0F4FC"/>
                    </a:solidFill>
                  </a:tcPr>
                </a:tc>
              </a:tr>
              <a:tr h="848106">
                <a:tc>
                  <a:txBody>
                    <a:bodyPr/>
                    <a:lstStyle/>
                    <a:p>
                      <a:pPr>
                        <a:defRPr sz="1700" b="0">
                          <a:solidFill>
                            <a:srgbClr val="172B49"/>
                          </a:solidFill>
                          <a:latin typeface="Arial"/>
                        </a:defRPr>
                      </a:pPr>
                      <a:r>
                        <a:t>GRU4Rec</a:t>
                      </a:r>
                    </a:p>
                  </a:txBody>
                  <a:tcPr marL="128016" marR="91440" marT="91440" marB="64008" anchor="ctr">
                    <a:solidFill>
                      <a:srgbClr val="FFFFFF"/>
                    </a:solidFill>
                  </a:tcPr>
                </a:tc>
                <a:tc>
                  <a:txBody>
                    <a:bodyPr/>
                    <a:lstStyle/>
                    <a:p>
                      <a:pPr>
                        <a:defRPr sz="1700" b="0">
                          <a:solidFill>
                            <a:srgbClr val="172B49"/>
                          </a:solidFill>
                          <a:latin typeface="Arial"/>
                        </a:defRPr>
                      </a:pPr>
                      <a:r>
                        <a:t>Batch 128; ≤1M windows/epoch</a:t>
                      </a:r>
                    </a:p>
                  </a:txBody>
                  <a:tcPr marL="128016" marR="91440" marT="91440" marB="64008" anchor="ctr">
                    <a:solidFill>
                      <a:srgbClr val="FFFFFF"/>
                    </a:solidFill>
                  </a:tcPr>
                </a:tc>
                <a:tc>
                  <a:txBody>
                    <a:bodyPr/>
                    <a:lstStyle/>
                    <a:p>
                      <a:pPr>
                        <a:defRPr sz="1700" b="0">
                          <a:solidFill>
                            <a:srgbClr val="172B49"/>
                          </a:solidFill>
                          <a:latin typeface="Arial"/>
                        </a:defRPr>
                      </a:pPr>
                      <a:r>
                        <a:t>8 epoch</a:t>
                      </a:r>
                    </a:p>
                  </a:txBody>
                  <a:tcPr marL="128016" marR="91440" marT="91440" marB="64008" anchor="ctr">
                    <a:solidFill>
                      <a:srgbClr val="FFFFFF"/>
                    </a:solidFill>
                  </a:tcPr>
                </a:tc>
                <a:tc>
                  <a:txBody>
                    <a:bodyPr/>
                    <a:lstStyle/>
                    <a:p>
                      <a:pPr>
                        <a:defRPr sz="1700" b="0">
                          <a:solidFill>
                            <a:srgbClr val="172B49"/>
                          </a:solidFill>
                          <a:latin typeface="Arial"/>
                        </a:defRPr>
                      </a:pPr>
                      <a:r>
                        <a:t>Sampled VAL Recall@20</a:t>
                      </a:r>
                    </a:p>
                  </a:txBody>
                  <a:tcPr marL="128016" marR="91440" marT="91440" marB="64008" anchor="ctr">
                    <a:solidFill>
                      <a:srgbClr val="FFFFFF"/>
                    </a:solidFill>
                  </a:tcPr>
                </a:tc>
              </a:tr>
              <a:tr h="848106">
                <a:tc>
                  <a:txBody>
                    <a:bodyPr/>
                    <a:lstStyle/>
                    <a:p>
                      <a:pPr>
                        <a:defRPr sz="1700" b="0">
                          <a:solidFill>
                            <a:srgbClr val="172B49"/>
                          </a:solidFill>
                          <a:latin typeface="Arial"/>
                        </a:defRPr>
                      </a:pPr>
                      <a:r>
                        <a:t>Two-Tower</a:t>
                      </a:r>
                    </a:p>
                  </a:txBody>
                  <a:tcPr marL="128016" marR="91440" marT="91440" marB="64008" anchor="ctr">
                    <a:solidFill>
                      <a:srgbClr val="F0F4FC"/>
                    </a:solidFill>
                  </a:tcPr>
                </a:tc>
                <a:tc>
                  <a:txBody>
                    <a:bodyPr/>
                    <a:lstStyle/>
                    <a:p>
                      <a:pPr>
                        <a:defRPr sz="1700" b="0">
                          <a:solidFill>
                            <a:srgbClr val="172B49"/>
                          </a:solidFill>
                          <a:latin typeface="Arial"/>
                        </a:defRPr>
                      </a:pPr>
                      <a:r>
                        <a:t>Batch 2.048</a:t>
                      </a:r>
                    </a:p>
                  </a:txBody>
                  <a:tcPr marL="128016" marR="91440" marT="91440" marB="64008" anchor="ctr">
                    <a:solidFill>
                      <a:srgbClr val="F0F4FC"/>
                    </a:solidFill>
                  </a:tcPr>
                </a:tc>
                <a:tc>
                  <a:txBody>
                    <a:bodyPr/>
                    <a:lstStyle/>
                    <a:p>
                      <a:pPr>
                        <a:defRPr sz="1700" b="0">
                          <a:solidFill>
                            <a:srgbClr val="172B49"/>
                          </a:solidFill>
                          <a:latin typeface="Arial"/>
                        </a:defRPr>
                      </a:pPr>
                      <a:r>
                        <a:t>15 epoch</a:t>
                      </a:r>
                    </a:p>
                  </a:txBody>
                  <a:tcPr marL="128016" marR="91440" marT="91440" marB="64008" anchor="ctr">
                    <a:solidFill>
                      <a:srgbClr val="F0F4FC"/>
                    </a:solidFill>
                  </a:tcPr>
                </a:tc>
                <a:tc>
                  <a:txBody>
                    <a:bodyPr/>
                    <a:lstStyle/>
                    <a:p>
                      <a:pPr>
                        <a:defRPr sz="1700" b="0">
                          <a:solidFill>
                            <a:srgbClr val="172B49"/>
                          </a:solidFill>
                          <a:latin typeface="Arial"/>
                        </a:defRPr>
                      </a:pPr>
                      <a:r>
                        <a:t>VAL POSITIVE NDCG@20</a:t>
                      </a:r>
                    </a:p>
                  </a:txBody>
                  <a:tcPr marL="128016" marR="91440" marT="91440" marB="64008" anchor="ctr">
                    <a:solidFill>
                      <a:srgbClr val="F0F4FC"/>
                    </a:solidFill>
                  </a:tcPr>
                </a:tc>
              </a:tr>
            </a:tbl>
          </a:graphicData>
        </a:graphic>
      </p:graphicFrame>
      <p:sp>
        <p:nvSpPr>
          <p:cNvPr id="10" name="Rounded Rectangle 9"/>
          <p:cNvSpPr/>
          <p:nvPr/>
        </p:nvSpPr>
        <p:spPr>
          <a:xfrm>
            <a:off x="566928" y="5513832"/>
            <a:ext cx="11064240" cy="64922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596128"/>
            <a:ext cx="10698480" cy="539496"/>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Đọc batch/row-group · Lưu checkpoint · Resume khi phiên chạy bị gián đoạn.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08 MODEL TRAINING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Theo dõi loss và chọn checkpoint</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34 / 40</a:t>
            </a:r>
          </a:p>
        </p:txBody>
      </p:sp>
      <p:sp>
        <p:nvSpPr>
          <p:cNvPr id="8" name="Rectangle 7"/>
          <p:cNvSpPr/>
          <p:nvPr/>
        </p:nvSpPr>
        <p:spPr>
          <a:xfrm>
            <a:off x="566928" y="6391656"/>
            <a:ext cx="940460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34_training_loss.png"/>
          <p:cNvPicPr>
            <a:picLocks noChangeAspect="1"/>
          </p:cNvPicPr>
          <p:nvPr/>
        </p:nvPicPr>
        <p:blipFill>
          <a:blip r:embed="rId2"/>
          <a:stretch>
            <a:fillRect/>
          </a:stretch>
        </p:blipFill>
        <p:spPr>
          <a:xfrm>
            <a:off x="1575716" y="1700784"/>
            <a:ext cx="9019231" cy="3447288"/>
          </a:xfrm>
          <a:prstGeom prst="rect">
            <a:avLst/>
          </a:prstGeom>
        </p:spPr>
      </p:pic>
      <p:sp>
        <p:nvSpPr>
          <p:cNvPr id="10" name="TextBox 9"/>
          <p:cNvSpPr txBox="1"/>
          <p:nvPr/>
        </p:nvSpPr>
        <p:spPr>
          <a:xfrm>
            <a:off x="804672" y="5385816"/>
            <a:ext cx="5166360" cy="347472"/>
          </a:xfrm>
          <a:prstGeom prst="rect">
            <a:avLst/>
          </a:prstGeom>
          <a:noFill/>
        </p:spPr>
        <p:txBody>
          <a:bodyPr wrap="square" lIns="0" rIns="0" tIns="0" bIns="0">
            <a:spAutoFit/>
          </a:bodyPr>
          <a:lstStyle/>
          <a:p>
            <a:pPr algn="l">
              <a:spcBef>
                <a:spcPts val="0"/>
              </a:spcBef>
              <a:spcAft>
                <a:spcPts val="600"/>
              </a:spcAft>
              <a:defRPr sz="1900" b="1">
                <a:solidFill>
                  <a:srgbClr val="244BFF"/>
                </a:solidFill>
                <a:latin typeface="Arial"/>
              </a:defRPr>
            </a:pPr>
            <a:r>
              <a:t>GRU4Rec: best checkpoint tại epoch 6</a:t>
            </a:r>
          </a:p>
        </p:txBody>
      </p:sp>
      <p:sp>
        <p:nvSpPr>
          <p:cNvPr id="11" name="TextBox 10"/>
          <p:cNvSpPr txBox="1"/>
          <p:nvPr/>
        </p:nvSpPr>
        <p:spPr>
          <a:xfrm>
            <a:off x="6345936" y="5385816"/>
            <a:ext cx="4992624" cy="347472"/>
          </a:xfrm>
          <a:prstGeom prst="rect">
            <a:avLst/>
          </a:prstGeom>
          <a:noFill/>
        </p:spPr>
        <p:txBody>
          <a:bodyPr wrap="square" lIns="0" rIns="0" tIns="0" bIns="0">
            <a:spAutoFit/>
          </a:bodyPr>
          <a:lstStyle/>
          <a:p>
            <a:pPr algn="l">
              <a:spcBef>
                <a:spcPts val="0"/>
              </a:spcBef>
              <a:spcAft>
                <a:spcPts val="600"/>
              </a:spcAft>
              <a:defRPr sz="1900" b="1">
                <a:solidFill>
                  <a:srgbClr val="008E89"/>
                </a:solidFill>
                <a:latin typeface="Arial"/>
              </a:defRPr>
            </a:pPr>
            <a:r>
              <a:t>Two-Tower: best tại epoch 15</a:t>
            </a:r>
          </a:p>
        </p:txBody>
      </p:sp>
      <p:sp>
        <p:nvSpPr>
          <p:cNvPr id="12" name="Rounded Rectangle 11"/>
          <p:cNvSpPr/>
          <p:nvPr/>
        </p:nvSpPr>
        <p:spPr>
          <a:xfrm>
            <a:off x="566928" y="5907024"/>
            <a:ext cx="11064240" cy="34747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989320"/>
            <a:ext cx="10698480" cy="23774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Hai hàm mục tiêu khác nhau: chỉ đọc xu hướng loss riêng từng mô hình.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Đọc đúng giao thức đánh giá</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35 / 40</a:t>
            </a:r>
          </a:p>
        </p:txBody>
      </p:sp>
      <p:sp>
        <p:nvSpPr>
          <p:cNvPr id="8" name="Rectangle 7"/>
          <p:cNvSpPr/>
          <p:nvPr/>
        </p:nvSpPr>
        <p:spPr>
          <a:xfrm>
            <a:off x="566928" y="6391656"/>
            <a:ext cx="968121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35_twotower_protocols.png"/>
          <p:cNvPicPr>
            <a:picLocks noChangeAspect="1"/>
          </p:cNvPicPr>
          <p:nvPr/>
        </p:nvPicPr>
        <p:blipFill>
          <a:blip r:embed="rId2"/>
          <a:stretch>
            <a:fillRect/>
          </a:stretch>
        </p:blipFill>
        <p:spPr>
          <a:xfrm>
            <a:off x="658368" y="1973565"/>
            <a:ext cx="6537960" cy="3404645"/>
          </a:xfrm>
          <a:prstGeom prst="rect">
            <a:avLst/>
          </a:prstGeom>
        </p:spPr>
      </p:pic>
      <p:sp>
        <p:nvSpPr>
          <p:cNvPr id="10" name="Oval 9"/>
          <p:cNvSpPr/>
          <p:nvPr/>
        </p:nvSpPr>
        <p:spPr>
          <a:xfrm>
            <a:off x="7589520" y="2084831"/>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984248"/>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Recall: tỷ lệ target tìm thấy.</a:t>
            </a:r>
          </a:p>
        </p:txBody>
      </p:sp>
      <p:sp>
        <p:nvSpPr>
          <p:cNvPr id="12" name="Oval 11"/>
          <p:cNvSpPr/>
          <p:nvPr/>
        </p:nvSpPr>
        <p:spPr>
          <a:xfrm>
            <a:off x="758952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81544" y="2788920"/>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HitRate: user có ít nhất một hit.</a:t>
            </a:r>
          </a:p>
        </p:txBody>
      </p:sp>
      <p:sp>
        <p:nvSpPr>
          <p:cNvPr id="14" name="Oval 13"/>
          <p:cNvSpPr/>
          <p:nvPr/>
        </p:nvSpPr>
        <p:spPr>
          <a:xfrm>
            <a:off x="7589520" y="369417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81544" y="3593591"/>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NDCG: tính thêm vị trí của hit.</a:t>
            </a:r>
          </a:p>
        </p:txBody>
      </p:sp>
      <p:sp>
        <p:nvSpPr>
          <p:cNvPr id="16" name="Oval 15"/>
          <p:cNvSpPr/>
          <p:nvPr/>
        </p:nvSpPr>
        <p:spPr>
          <a:xfrm>
            <a:off x="7589520" y="449884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4398264"/>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Luôn ghi split, user, candidates và cách lọc.</a:t>
            </a:r>
          </a:p>
        </p:txBody>
      </p:sp>
      <p:sp>
        <p:nvSpPr>
          <p:cNvPr id="18" name="Rounded Rectangle 17"/>
          <p:cNvSpPr/>
          <p:nvPr/>
        </p:nvSpPr>
        <p:spPr>
          <a:xfrm>
            <a:off x="566928" y="5852160"/>
            <a:ext cx="11064240" cy="40233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934456"/>
            <a:ext cx="10698480" cy="292608"/>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Sampled VAL, candidate pool và full-index là các giao thức khác nhau.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Kết quả TEST hiện có — từng thực nghiệm riêng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36 / 40</a:t>
            </a:r>
          </a:p>
        </p:txBody>
      </p:sp>
      <p:sp>
        <p:nvSpPr>
          <p:cNvPr id="8" name="Rectangle 7"/>
          <p:cNvSpPr/>
          <p:nvPr/>
        </p:nvSpPr>
        <p:spPr>
          <a:xfrm>
            <a:off x="566928" y="6391656"/>
            <a:ext cx="995781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49224" y="1837943"/>
          <a:ext cx="10899648" cy="2898648"/>
        </p:xfrm>
        <a:graphic>
          <a:graphicData uri="http://schemas.openxmlformats.org/drawingml/2006/table">
            <a:tbl>
              <a:tblPr firstRow="1" bandRow="1">
                <a:tableStyleId>{5C22544A-7EE6-4342-B048-85BDC9FD1C3A}</a:tableStyleId>
              </a:tblPr>
              <a:tblGrid>
                <a:gridCol w="3493008"/>
                <a:gridCol w="2468880"/>
                <a:gridCol w="2468880"/>
                <a:gridCol w="2468880"/>
              </a:tblGrid>
              <a:tr h="579729">
                <a:tc>
                  <a:txBody>
                    <a:bodyPr/>
                    <a:lstStyle/>
                    <a:p>
                      <a:pPr>
                        <a:defRPr sz="2000" b="1">
                          <a:solidFill>
                            <a:srgbClr val="FFFFFF"/>
                          </a:solidFill>
                          <a:latin typeface="Arial"/>
                        </a:defRPr>
                      </a:pPr>
                      <a:r>
                        <a:t>Mô hình</a:t>
                      </a:r>
                    </a:p>
                  </a:txBody>
                  <a:tcPr marL="128016" marR="91440" marT="91440" marB="64008" anchor="ctr">
                    <a:solidFill>
                      <a:srgbClr val="244BFF"/>
                    </a:solidFill>
                  </a:tcPr>
                </a:tc>
                <a:tc>
                  <a:txBody>
                    <a:bodyPr/>
                    <a:lstStyle/>
                    <a:p>
                      <a:pPr>
                        <a:defRPr sz="2000" b="1">
                          <a:solidFill>
                            <a:srgbClr val="FFFFFF"/>
                          </a:solidFill>
                          <a:latin typeface="Arial"/>
                        </a:defRPr>
                      </a:pPr>
                      <a:r>
                        <a:t>Recall@20</a:t>
                      </a:r>
                    </a:p>
                  </a:txBody>
                  <a:tcPr marL="128016" marR="91440" marT="91440" marB="64008" anchor="ctr">
                    <a:solidFill>
                      <a:srgbClr val="244BFF"/>
                    </a:solidFill>
                  </a:tcPr>
                </a:tc>
                <a:tc>
                  <a:txBody>
                    <a:bodyPr/>
                    <a:lstStyle/>
                    <a:p>
                      <a:pPr>
                        <a:defRPr sz="2000" b="1">
                          <a:solidFill>
                            <a:srgbClr val="FFFFFF"/>
                          </a:solidFill>
                          <a:latin typeface="Arial"/>
                        </a:defRPr>
                      </a:pPr>
                      <a:r>
                        <a:t>NDCG@20</a:t>
                      </a:r>
                    </a:p>
                  </a:txBody>
                  <a:tcPr marL="128016" marR="91440" marT="91440" marB="64008" anchor="ctr">
                    <a:solidFill>
                      <a:srgbClr val="244BFF"/>
                    </a:solidFill>
                  </a:tcPr>
                </a:tc>
                <a:tc>
                  <a:txBody>
                    <a:bodyPr/>
                    <a:lstStyle/>
                    <a:p>
                      <a:pPr>
                        <a:defRPr sz="2000" b="1">
                          <a:solidFill>
                            <a:srgbClr val="FFFFFF"/>
                          </a:solidFill>
                          <a:latin typeface="Arial"/>
                        </a:defRPr>
                      </a:pPr>
                      <a:r>
                        <a:t>HitRate@20</a:t>
                      </a:r>
                    </a:p>
                  </a:txBody>
                  <a:tcPr marL="128016" marR="91440" marT="91440" marB="64008" anchor="ctr">
                    <a:solidFill>
                      <a:srgbClr val="244BFF"/>
                    </a:solidFill>
                  </a:tcPr>
                </a:tc>
              </a:tr>
              <a:tr h="579729">
                <a:tc>
                  <a:txBody>
                    <a:bodyPr/>
                    <a:lstStyle/>
                    <a:p>
                      <a:pPr>
                        <a:defRPr sz="2000" b="0">
                          <a:solidFill>
                            <a:srgbClr val="172B49"/>
                          </a:solidFill>
                          <a:latin typeface="Arial"/>
                        </a:defRPr>
                      </a:pPr>
                      <a:r>
                        <a:t>Content-Based</a:t>
                      </a:r>
                    </a:p>
                  </a:txBody>
                  <a:tcPr marL="128016" marR="91440" marT="91440" marB="64008" anchor="ctr">
                    <a:solidFill>
                      <a:srgbClr val="F0F4FC"/>
                    </a:solidFill>
                  </a:tcPr>
                </a:tc>
                <a:tc>
                  <a:txBody>
                    <a:bodyPr/>
                    <a:lstStyle/>
                    <a:p>
                      <a:pPr>
                        <a:defRPr sz="2000" b="0">
                          <a:solidFill>
                            <a:srgbClr val="172B49"/>
                          </a:solidFill>
                          <a:latin typeface="Arial"/>
                        </a:defRPr>
                      </a:pPr>
                      <a:r>
                        <a:t>1.2514%</a:t>
                      </a:r>
                    </a:p>
                  </a:txBody>
                  <a:tcPr marL="128016" marR="91440" marT="91440" marB="64008" anchor="ctr">
                    <a:solidFill>
                      <a:srgbClr val="F0F4FC"/>
                    </a:solidFill>
                  </a:tcPr>
                </a:tc>
                <a:tc>
                  <a:txBody>
                    <a:bodyPr/>
                    <a:lstStyle/>
                    <a:p>
                      <a:pPr>
                        <a:defRPr sz="2000" b="0">
                          <a:solidFill>
                            <a:srgbClr val="172B49"/>
                          </a:solidFill>
                          <a:latin typeface="Arial"/>
                        </a:defRPr>
                      </a:pPr>
                      <a:r>
                        <a:t>0.004429</a:t>
                      </a:r>
                    </a:p>
                  </a:txBody>
                  <a:tcPr marL="128016" marR="91440" marT="91440" marB="64008" anchor="ctr">
                    <a:solidFill>
                      <a:srgbClr val="F0F4FC"/>
                    </a:solidFill>
                  </a:tcPr>
                </a:tc>
                <a:tc>
                  <a:txBody>
                    <a:bodyPr/>
                    <a:lstStyle/>
                    <a:p>
                      <a:pPr>
                        <a:defRPr sz="2000" b="0">
                          <a:solidFill>
                            <a:srgbClr val="172B49"/>
                          </a:solidFill>
                          <a:latin typeface="Arial"/>
                        </a:defRPr>
                      </a:pPr>
                      <a:r>
                        <a:t>2.6042%</a:t>
                      </a:r>
                    </a:p>
                  </a:txBody>
                  <a:tcPr marL="128016" marR="91440" marT="91440" marB="64008" anchor="ctr">
                    <a:solidFill>
                      <a:srgbClr val="F0F4FC"/>
                    </a:solidFill>
                  </a:tcPr>
                </a:tc>
              </a:tr>
              <a:tr h="579729">
                <a:tc>
                  <a:txBody>
                    <a:bodyPr/>
                    <a:lstStyle/>
                    <a:p>
                      <a:pPr>
                        <a:defRPr sz="2000" b="0">
                          <a:solidFill>
                            <a:srgbClr val="172B49"/>
                          </a:solidFill>
                          <a:latin typeface="Arial"/>
                        </a:defRPr>
                      </a:pPr>
                      <a:r>
                        <a:t>Co-visitation</a:t>
                      </a:r>
                    </a:p>
                  </a:txBody>
                  <a:tcPr marL="128016" marR="91440" marT="91440" marB="64008" anchor="ctr">
                    <a:solidFill>
                      <a:srgbClr val="FFFFFF"/>
                    </a:solidFill>
                  </a:tcPr>
                </a:tc>
                <a:tc>
                  <a:txBody>
                    <a:bodyPr/>
                    <a:lstStyle/>
                    <a:p>
                      <a:pPr>
                        <a:defRPr sz="2000" b="0">
                          <a:solidFill>
                            <a:srgbClr val="172B49"/>
                          </a:solidFill>
                          <a:latin typeface="Arial"/>
                        </a:defRPr>
                      </a:pPr>
                      <a:r>
                        <a:t>1.2245%</a:t>
                      </a:r>
                    </a:p>
                  </a:txBody>
                  <a:tcPr marL="128016" marR="91440" marT="91440" marB="64008" anchor="ctr">
                    <a:solidFill>
                      <a:srgbClr val="FFFFFF"/>
                    </a:solidFill>
                  </a:tcPr>
                </a:tc>
                <a:tc>
                  <a:txBody>
                    <a:bodyPr/>
                    <a:lstStyle/>
                    <a:p>
                      <a:pPr>
                        <a:defRPr sz="2000" b="0">
                          <a:solidFill>
                            <a:srgbClr val="172B49"/>
                          </a:solidFill>
                          <a:latin typeface="Arial"/>
                        </a:defRPr>
                      </a:pPr>
                      <a:r>
                        <a:t>0.006931</a:t>
                      </a:r>
                    </a:p>
                  </a:txBody>
                  <a:tcPr marL="128016" marR="91440" marT="91440" marB="64008" anchor="ctr">
                    <a:solidFill>
                      <a:srgbClr val="FFFFFF"/>
                    </a:solidFill>
                  </a:tcPr>
                </a:tc>
                <a:tc>
                  <a:txBody>
                    <a:bodyPr/>
                    <a:lstStyle/>
                    <a:p>
                      <a:pPr>
                        <a:defRPr sz="2000" b="0">
                          <a:solidFill>
                            <a:srgbClr val="172B49"/>
                          </a:solidFill>
                          <a:latin typeface="Arial"/>
                        </a:defRPr>
                      </a:pPr>
                      <a:r>
                        <a:t>2.8298%</a:t>
                      </a:r>
                    </a:p>
                  </a:txBody>
                  <a:tcPr marL="128016" marR="91440" marT="91440" marB="64008" anchor="ctr">
                    <a:solidFill>
                      <a:srgbClr val="FFFFFF"/>
                    </a:solidFill>
                  </a:tcPr>
                </a:tc>
              </a:tr>
              <a:tr h="579729">
                <a:tc>
                  <a:txBody>
                    <a:bodyPr/>
                    <a:lstStyle/>
                    <a:p>
                      <a:pPr>
                        <a:defRPr sz="2000" b="0">
                          <a:solidFill>
                            <a:srgbClr val="172B49"/>
                          </a:solidFill>
                          <a:latin typeface="Arial"/>
                        </a:defRPr>
                      </a:pPr>
                      <a:r>
                        <a:t>ALS</a:t>
                      </a:r>
                    </a:p>
                  </a:txBody>
                  <a:tcPr marL="128016" marR="91440" marT="91440" marB="64008" anchor="ctr">
                    <a:solidFill>
                      <a:srgbClr val="F0F4FC"/>
                    </a:solidFill>
                  </a:tcPr>
                </a:tc>
                <a:tc>
                  <a:txBody>
                    <a:bodyPr/>
                    <a:lstStyle/>
                    <a:p>
                      <a:pPr>
                        <a:defRPr sz="2000" b="0">
                          <a:solidFill>
                            <a:srgbClr val="172B49"/>
                          </a:solidFill>
                          <a:latin typeface="Arial"/>
                        </a:defRPr>
                      </a:pPr>
                      <a:r>
                        <a:t>0.1122%</a:t>
                      </a:r>
                    </a:p>
                  </a:txBody>
                  <a:tcPr marL="128016" marR="91440" marT="91440" marB="64008" anchor="ctr">
                    <a:solidFill>
                      <a:srgbClr val="F0F4FC"/>
                    </a:solidFill>
                  </a:tcPr>
                </a:tc>
                <a:tc>
                  <a:txBody>
                    <a:bodyPr/>
                    <a:lstStyle/>
                    <a:p>
                      <a:pPr>
                        <a:defRPr sz="2000" b="0">
                          <a:solidFill>
                            <a:srgbClr val="172B49"/>
                          </a:solidFill>
                          <a:latin typeface="Arial"/>
                        </a:defRPr>
                      </a:pPr>
                      <a:r>
                        <a:t>0.000347</a:t>
                      </a:r>
                    </a:p>
                  </a:txBody>
                  <a:tcPr marL="128016" marR="91440" marT="91440" marB="64008" anchor="ctr">
                    <a:solidFill>
                      <a:srgbClr val="F0F4FC"/>
                    </a:solidFill>
                  </a:tcPr>
                </a:tc>
                <a:tc>
                  <a:txBody>
                    <a:bodyPr/>
                    <a:lstStyle/>
                    <a:p>
                      <a:pPr>
                        <a:defRPr sz="2000" b="0">
                          <a:solidFill>
                            <a:srgbClr val="172B49"/>
                          </a:solidFill>
                          <a:latin typeface="Arial"/>
                        </a:defRPr>
                      </a:pPr>
                      <a:r>
                        <a:t>0.2272%</a:t>
                      </a:r>
                    </a:p>
                  </a:txBody>
                  <a:tcPr marL="128016" marR="91440" marT="91440" marB="64008" anchor="ctr">
                    <a:solidFill>
                      <a:srgbClr val="F0F4FC"/>
                    </a:solidFill>
                  </a:tcPr>
                </a:tc>
              </a:tr>
              <a:tr h="579732">
                <a:tc>
                  <a:txBody>
                    <a:bodyPr/>
                    <a:lstStyle/>
                    <a:p>
                      <a:pPr>
                        <a:defRPr sz="2000" b="0">
                          <a:solidFill>
                            <a:srgbClr val="172B49"/>
                          </a:solidFill>
                          <a:latin typeface="Arial"/>
                        </a:defRPr>
                      </a:pPr>
                      <a:r>
                        <a:t>Two-Tower</a:t>
                      </a:r>
                    </a:p>
                  </a:txBody>
                  <a:tcPr marL="128016" marR="91440" marT="91440" marB="64008" anchor="ctr">
                    <a:solidFill>
                      <a:srgbClr val="FFFFFF"/>
                    </a:solidFill>
                  </a:tcPr>
                </a:tc>
                <a:tc>
                  <a:txBody>
                    <a:bodyPr/>
                    <a:lstStyle/>
                    <a:p>
                      <a:pPr>
                        <a:defRPr sz="2000" b="0">
                          <a:solidFill>
                            <a:srgbClr val="172B49"/>
                          </a:solidFill>
                          <a:latin typeface="Arial"/>
                        </a:defRPr>
                      </a:pPr>
                      <a:r>
                        <a:t>0.0729%</a:t>
                      </a:r>
                    </a:p>
                  </a:txBody>
                  <a:tcPr marL="128016" marR="91440" marT="91440" marB="64008" anchor="ctr">
                    <a:solidFill>
                      <a:srgbClr val="FFFFFF"/>
                    </a:solidFill>
                  </a:tcPr>
                </a:tc>
                <a:tc>
                  <a:txBody>
                    <a:bodyPr/>
                    <a:lstStyle/>
                    <a:p>
                      <a:pPr>
                        <a:defRPr sz="2000" b="0">
                          <a:solidFill>
                            <a:srgbClr val="172B49"/>
                          </a:solidFill>
                          <a:latin typeface="Arial"/>
                        </a:defRPr>
                      </a:pPr>
                      <a:r>
                        <a:t>0.000263</a:t>
                      </a:r>
                    </a:p>
                  </a:txBody>
                  <a:tcPr marL="128016" marR="91440" marT="91440" marB="64008" anchor="ctr">
                    <a:solidFill>
                      <a:srgbClr val="FFFFFF"/>
                    </a:solidFill>
                  </a:tcPr>
                </a:tc>
                <a:tc>
                  <a:txBody>
                    <a:bodyPr/>
                    <a:lstStyle/>
                    <a:p>
                      <a:pPr>
                        <a:defRPr sz="2000" b="0">
                          <a:solidFill>
                            <a:srgbClr val="172B49"/>
                          </a:solidFill>
                          <a:latin typeface="Arial"/>
                        </a:defRPr>
                      </a:pPr>
                      <a:r>
                        <a:t>0.1725%</a:t>
                      </a:r>
                    </a:p>
                  </a:txBody>
                  <a:tcPr marL="128016" marR="91440" marT="91440" marB="64008" anchor="ctr">
                    <a:solidFill>
                      <a:srgbClr val="FFFFFF"/>
                    </a:solidFill>
                  </a:tcPr>
                </a:tc>
              </a:tr>
            </a:tbl>
          </a:graphicData>
        </a:graphic>
      </p:graphicFrame>
      <p:sp>
        <p:nvSpPr>
          <p:cNvPr id="10" name="Rounded Rectangle 9"/>
          <p:cNvSpPr/>
          <p:nvPr/>
        </p:nvSpPr>
        <p:spPr>
          <a:xfrm>
            <a:off x="740664" y="5038344"/>
            <a:ext cx="2221992" cy="32918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5102352"/>
            <a:ext cx="2039112" cy="182880"/>
          </a:xfrm>
          <a:prstGeom prst="rect">
            <a:avLst/>
          </a:prstGeom>
          <a:noFill/>
        </p:spPr>
        <p:txBody>
          <a:bodyPr wrap="square" lIns="0" rIns="0" tIns="0" bIns="0">
            <a:spAutoFit/>
          </a:bodyPr>
          <a:lstStyle/>
          <a:p>
            <a:pPr algn="l">
              <a:spcBef>
                <a:spcPts val="0"/>
              </a:spcBef>
              <a:spcAft>
                <a:spcPts val="600"/>
              </a:spcAft>
              <a:defRPr sz="1000" b="1">
                <a:solidFill>
                  <a:srgbClr val="FFFFFF"/>
                </a:solidFill>
                <a:latin typeface="Arial"/>
              </a:defRPr>
            </a:pPr>
            <a:r>
              <a:t>TEST · TARGET POSITIVE</a:t>
            </a:r>
          </a:p>
        </p:txBody>
      </p:sp>
      <p:sp>
        <p:nvSpPr>
          <p:cNvPr id="12" name="TextBox 11"/>
          <p:cNvSpPr txBox="1"/>
          <p:nvPr/>
        </p:nvSpPr>
        <p:spPr>
          <a:xfrm>
            <a:off x="3209544" y="5010912"/>
            <a:ext cx="8238744" cy="612648"/>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Khác tập user, candidate universe và coverage; chưa dùng để xếp hạng mô hình.</a:t>
            </a:r>
          </a:p>
        </p:txBody>
      </p:sp>
      <p:sp>
        <p:nvSpPr>
          <p:cNvPr id="13" name="Rounded Rectangle 12"/>
          <p:cNvSpPr/>
          <p:nvPr/>
        </p:nvSpPr>
        <p:spPr>
          <a:xfrm>
            <a:off x="566928" y="5788152"/>
            <a:ext cx="1106424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5870448"/>
            <a:ext cx="10698480" cy="37490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SASRec / DCN / LightGBM chưa có kết quả; GRU4Rec sampled VAL trình bày riêng.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Kết quả GRU4Rec và bài học đánh giá</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37 / 40</a:t>
            </a:r>
          </a:p>
        </p:txBody>
      </p:sp>
      <p:sp>
        <p:nvSpPr>
          <p:cNvPr id="8" name="Rectangle 7"/>
          <p:cNvSpPr/>
          <p:nvPr/>
        </p:nvSpPr>
        <p:spPr>
          <a:xfrm>
            <a:off x="566928" y="6391656"/>
            <a:ext cx="1023442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37_gru_sampled_recall.png"/>
          <p:cNvPicPr>
            <a:picLocks noChangeAspect="1"/>
          </p:cNvPicPr>
          <p:nvPr/>
        </p:nvPicPr>
        <p:blipFill>
          <a:blip r:embed="rId2"/>
          <a:stretch>
            <a:fillRect/>
          </a:stretch>
        </p:blipFill>
        <p:spPr>
          <a:xfrm>
            <a:off x="640080" y="1858407"/>
            <a:ext cx="7360920" cy="3744688"/>
          </a:xfrm>
          <a:prstGeom prst="rect">
            <a:avLst/>
          </a:prstGeom>
        </p:spPr>
      </p:pic>
      <p:sp>
        <p:nvSpPr>
          <p:cNvPr id="10" name="Rounded Rectangle 9"/>
          <p:cNvSpPr/>
          <p:nvPr/>
        </p:nvSpPr>
        <p:spPr>
          <a:xfrm>
            <a:off x="8266175" y="1956816"/>
            <a:ext cx="3273552" cy="19385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67344" y="2139696"/>
            <a:ext cx="2871216"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15,69%</a:t>
            </a:r>
          </a:p>
        </p:txBody>
      </p:sp>
      <p:sp>
        <p:nvSpPr>
          <p:cNvPr id="12" name="TextBox 11"/>
          <p:cNvSpPr txBox="1"/>
          <p:nvPr/>
        </p:nvSpPr>
        <p:spPr>
          <a:xfrm>
            <a:off x="8467344" y="2816352"/>
            <a:ext cx="2871216"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Recall@20 · epoch 6</a:t>
            </a:r>
          </a:p>
        </p:txBody>
      </p:sp>
      <p:sp>
        <p:nvSpPr>
          <p:cNvPr id="13" name="TextBox 12"/>
          <p:cNvSpPr txBox="1"/>
          <p:nvPr/>
        </p:nvSpPr>
        <p:spPr>
          <a:xfrm>
            <a:off x="8385048" y="4215384"/>
            <a:ext cx="2926080" cy="1188720"/>
          </a:xfrm>
          <a:prstGeom prst="rect">
            <a:avLst/>
          </a:prstGeom>
          <a:noFill/>
        </p:spPr>
        <p:txBody>
          <a:bodyPr wrap="square" lIns="0" rIns="0" tIns="0" bIns="0">
            <a:spAutoFit/>
          </a:bodyPr>
          <a:lstStyle/>
          <a:p>
            <a:pPr algn="l">
              <a:spcBef>
                <a:spcPts val="0"/>
              </a:spcBef>
              <a:spcAft>
                <a:spcPts val="600"/>
              </a:spcAft>
              <a:defRPr sz="1800" b="0">
                <a:solidFill>
                  <a:srgbClr val="5B6B83"/>
                </a:solidFill>
                <a:latin typeface="Arial"/>
              </a:defRPr>
            </a:pPr>
            <a:r>
              <a:t>1.810 user</a:t>
            </a:r>
          </a:p>
          <a:p>
            <a:pPr algn="l">
              <a:spcBef>
                <a:spcPts val="0"/>
              </a:spcBef>
              <a:spcAft>
                <a:spcPts val="600"/>
              </a:spcAft>
              <a:defRPr sz="1800" b="0">
                <a:solidFill>
                  <a:srgbClr val="5B6B83"/>
                </a:solidFill>
                <a:latin typeface="Arial"/>
              </a:defRPr>
            </a:pPr>
            <a:r>
              <a:t>1 target + 255 negatives</a:t>
            </a:r>
          </a:p>
          <a:p>
            <a:pPr algn="l">
              <a:spcBef>
                <a:spcPts val="0"/>
              </a:spcBef>
              <a:spcAft>
                <a:spcPts val="600"/>
              </a:spcAft>
              <a:defRPr sz="1800" b="0">
                <a:solidFill>
                  <a:srgbClr val="5B6B83"/>
                </a:solidFill>
                <a:latin typeface="Arial"/>
              </a:defRPr>
            </a:pPr>
            <a:r>
              <a:t>Sampled validation</a:t>
            </a:r>
          </a:p>
        </p:txBody>
      </p:sp>
      <p:sp>
        <p:nvSpPr>
          <p:cNvPr id="14" name="Rounded Rectangle 13"/>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Bước tiếp theo: thống nhất cohort/candidates và đo full-index trước khi chọn model.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11 CONCLUSION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Kết luận và hướng phát triển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38 / 40</a:t>
            </a:r>
          </a:p>
        </p:txBody>
      </p:sp>
      <p:sp>
        <p:nvSpPr>
          <p:cNvPr id="8" name="Rectangle 7"/>
          <p:cNvSpPr/>
          <p:nvPr/>
        </p:nvSpPr>
        <p:spPr>
          <a:xfrm>
            <a:off x="566928" y="6391656"/>
            <a:ext cx="1051102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65376"/>
            <a:ext cx="3538728" cy="334670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112264"/>
            <a:ext cx="310896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ĐÃ THỰC HIỆN</a:t>
            </a:r>
          </a:p>
        </p:txBody>
      </p:sp>
      <p:sp>
        <p:nvSpPr>
          <p:cNvPr id="11" name="Oval 10"/>
          <p:cNvSpPr/>
          <p:nvPr/>
        </p:nvSpPr>
        <p:spPr>
          <a:xfrm>
            <a:off x="859536" y="28620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761488"/>
            <a:ext cx="2907792" cy="1014983"/>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EDA và preprocessing 174,87M sự kiện.</a:t>
            </a:r>
          </a:p>
        </p:txBody>
      </p:sp>
      <p:sp>
        <p:nvSpPr>
          <p:cNvPr id="13" name="Oval 12"/>
          <p:cNvSpPr/>
          <p:nvPr/>
        </p:nvSpPr>
        <p:spPr>
          <a:xfrm>
            <a:off x="859536" y="39593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858768"/>
            <a:ext cx="2907792" cy="1014983"/>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Nhiều hướng mô hình và artifact đã lưu.</a:t>
            </a:r>
          </a:p>
        </p:txBody>
      </p:sp>
      <p:sp>
        <p:nvSpPr>
          <p:cNvPr id="15" name="Rounded Rectangle 14"/>
          <p:cNvSpPr/>
          <p:nvPr/>
        </p:nvSpPr>
        <p:spPr>
          <a:xfrm>
            <a:off x="4425696" y="1865376"/>
            <a:ext cx="3538728" cy="334670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112264"/>
            <a:ext cx="310896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ĐIỀU RÚT RA</a:t>
            </a:r>
          </a:p>
        </p:txBody>
      </p:sp>
      <p:sp>
        <p:nvSpPr>
          <p:cNvPr id="17" name="Oval 16"/>
          <p:cNvSpPr/>
          <p:nvPr/>
        </p:nvSpPr>
        <p:spPr>
          <a:xfrm>
            <a:off x="4626864" y="28620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8888" y="2761488"/>
            <a:ext cx="2907792" cy="1014983"/>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Long-tail và cold-item ảnh hưởng coverage.</a:t>
            </a:r>
          </a:p>
        </p:txBody>
      </p:sp>
      <p:sp>
        <p:nvSpPr>
          <p:cNvPr id="19" name="Oval 18"/>
          <p:cNvSpPr/>
          <p:nvPr/>
        </p:nvSpPr>
        <p:spPr>
          <a:xfrm>
            <a:off x="4626864" y="39593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18888" y="3858768"/>
            <a:ext cx="2907792" cy="1014983"/>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Giao thức đánh giá quyết định cách đọc metric.</a:t>
            </a:r>
          </a:p>
        </p:txBody>
      </p:sp>
      <p:sp>
        <p:nvSpPr>
          <p:cNvPr id="21" name="Rounded Rectangle 20"/>
          <p:cNvSpPr/>
          <p:nvPr/>
        </p:nvSpPr>
        <p:spPr>
          <a:xfrm>
            <a:off x="8193024" y="1865376"/>
            <a:ext cx="3538728" cy="334670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5048" y="2112264"/>
            <a:ext cx="310896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BƯỚC TIẾP THEO</a:t>
            </a:r>
          </a:p>
        </p:txBody>
      </p:sp>
      <p:sp>
        <p:nvSpPr>
          <p:cNvPr id="23" name="Oval 22"/>
          <p:cNvSpPr/>
          <p:nvPr/>
        </p:nvSpPr>
        <p:spPr>
          <a:xfrm>
            <a:off x="8394192" y="28620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86216" y="2761488"/>
            <a:ext cx="2907792" cy="1014983"/>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Thống nhất benchmark; hoàn thiện SASRec/DCN/LightGBM.</a:t>
            </a:r>
          </a:p>
        </p:txBody>
      </p:sp>
      <p:sp>
        <p:nvSpPr>
          <p:cNvPr id="25" name="Oval 24"/>
          <p:cNvSpPr/>
          <p:nvPr/>
        </p:nvSpPr>
        <p:spPr>
          <a:xfrm>
            <a:off x="8394192" y="39593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86216" y="3858768"/>
            <a:ext cx="2907792" cy="1014983"/>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Tích hợp và đo chất lượng phục vụ.</a:t>
            </a:r>
          </a:p>
        </p:txBody>
      </p:sp>
      <p:sp>
        <p:nvSpPr>
          <p:cNvPr id="27" name="Rounded Rectangle 26"/>
          <p:cNvSpPr/>
          <p:nvPr/>
        </p:nvSpPr>
        <p:spPr>
          <a:xfrm>
            <a:off x="566928" y="5605272"/>
            <a:ext cx="11064240" cy="57607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687568"/>
            <a:ext cx="10698480" cy="46634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Kết thúc nội dung nghiên cứu · Demo nằm riêng trong hai trang tiếp theo.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10 WEB APPLICATION — PHỤ LỤC</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Demo MerRec — trình bày riêng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39 / 40</a:t>
            </a:r>
          </a:p>
        </p:txBody>
      </p:sp>
      <p:sp>
        <p:nvSpPr>
          <p:cNvPr id="8" name="Rectangle 7"/>
          <p:cNvSpPr/>
          <p:nvPr/>
        </p:nvSpPr>
        <p:spPr>
          <a:xfrm>
            <a:off x="566928" y="6391656"/>
            <a:ext cx="1078763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00200"/>
            <a:ext cx="10881360" cy="256032"/>
          </a:xfrm>
          <a:prstGeom prst="rect">
            <a:avLst/>
          </a:prstGeom>
          <a:noFill/>
        </p:spPr>
        <p:txBody>
          <a:bodyPr wrap="square" lIns="0" rIns="0" tIns="0" bIns="0">
            <a:spAutoFit/>
          </a:bodyPr>
          <a:lstStyle/>
          <a:p>
            <a:pPr algn="l">
              <a:spcBef>
                <a:spcPts val="0"/>
              </a:spcBef>
              <a:spcAft>
                <a:spcPts val="600"/>
              </a:spcAft>
              <a:defRPr sz="1200" b="1">
                <a:solidFill>
                  <a:srgbClr val="244BFF"/>
                </a:solidFill>
                <a:latin typeface="Arial"/>
              </a:defRPr>
            </a:pPr>
            <a:r>
              <a:t>PHỤ LỤC DEMO · 30–60 GIÂY</a:t>
            </a:r>
          </a:p>
        </p:txBody>
      </p:sp>
      <p:sp>
        <p:nvSpPr>
          <p:cNvPr id="10" name="Rounded Rectangle 9"/>
          <p:cNvSpPr/>
          <p:nvPr/>
        </p:nvSpPr>
        <p:spPr>
          <a:xfrm>
            <a:off x="685800" y="2048256"/>
            <a:ext cx="7717536" cy="3904487"/>
          </a:xfrm>
          <a:prstGeom prst="roundRect">
            <a:avLst>
              <a:gd name="adj" fmla="val 9000"/>
            </a:avLst>
          </a:prstGeom>
          <a:solidFill>
            <a:srgbClr val="F0F4FC"/>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337560"/>
            <a:ext cx="6986016" cy="594360"/>
          </a:xfrm>
          <a:prstGeom prst="rect">
            <a:avLst/>
          </a:prstGeom>
          <a:noFill/>
        </p:spPr>
        <p:txBody>
          <a:bodyPr wrap="square" lIns="0" rIns="0" tIns="0" bIns="0">
            <a:spAutoFit/>
          </a:bodyPr>
          <a:lstStyle/>
          <a:p>
            <a:pPr algn="ctr">
              <a:spcBef>
                <a:spcPts val="0"/>
              </a:spcBef>
              <a:spcAft>
                <a:spcPts val="600"/>
              </a:spcAft>
              <a:defRPr sz="2400" b="1">
                <a:solidFill>
                  <a:srgbClr val="5B6B83"/>
                </a:solidFill>
                <a:latin typeface="Arial"/>
              </a:defRPr>
            </a:pPr>
            <a:r>
              <a:t>CHÈN ẢNH TRANG CHỦ MERREC</a:t>
            </a:r>
          </a:p>
        </p:txBody>
      </p:sp>
      <p:sp>
        <p:nvSpPr>
          <p:cNvPr id="12" name="TextBox 11"/>
          <p:cNvSpPr txBox="1"/>
          <p:nvPr/>
        </p:nvSpPr>
        <p:spPr>
          <a:xfrm>
            <a:off x="1234440" y="4078224"/>
            <a:ext cx="6620256" cy="411480"/>
          </a:xfrm>
          <a:prstGeom prst="rect">
            <a:avLst/>
          </a:prstGeom>
          <a:noFill/>
        </p:spPr>
        <p:txBody>
          <a:bodyPr wrap="square" lIns="0" rIns="0" tIns="0" bIns="0">
            <a:spAutoFit/>
          </a:bodyPr>
          <a:lstStyle/>
          <a:p>
            <a:pPr algn="ctr">
              <a:spcBef>
                <a:spcPts val="0"/>
              </a:spcBef>
              <a:spcAft>
                <a:spcPts val="600"/>
              </a:spcAft>
              <a:defRPr sz="1600" b="0">
                <a:solidFill>
                  <a:srgbClr val="5B6B83"/>
                </a:solidFill>
                <a:latin typeface="Arial"/>
              </a:defRPr>
            </a:pPr>
            <a:r>
              <a:t>Khung ảnh để thay bằng screenshot thực tế</a:t>
            </a:r>
          </a:p>
        </p:txBody>
      </p:sp>
      <p:sp>
        <p:nvSpPr>
          <p:cNvPr id="13" name="Oval 12"/>
          <p:cNvSpPr/>
          <p:nvPr/>
        </p:nvSpPr>
        <p:spPr>
          <a:xfrm>
            <a:off x="8759952" y="274320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51976" y="2642616"/>
            <a:ext cx="2532888" cy="804672"/>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Khám phá sản phẩm</a:t>
            </a:r>
          </a:p>
        </p:txBody>
      </p:sp>
      <p:sp>
        <p:nvSpPr>
          <p:cNvPr id="15" name="Oval 14"/>
          <p:cNvSpPr/>
          <p:nvPr/>
        </p:nvSpPr>
        <p:spPr>
          <a:xfrm>
            <a:off x="8759952" y="363016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51976" y="3529584"/>
            <a:ext cx="2532888" cy="804672"/>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Mở trang chi tiết</a:t>
            </a:r>
          </a:p>
        </p:txBody>
      </p:sp>
      <p:sp>
        <p:nvSpPr>
          <p:cNvPr id="17" name="Oval 16"/>
          <p:cNvSpPr/>
          <p:nvPr/>
        </p:nvSpPr>
        <p:spPr>
          <a:xfrm>
            <a:off x="8759952" y="45171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51976" y="4416552"/>
            <a:ext cx="2532888" cy="804672"/>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Xem khu vực gợi 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10 WEB APPLICATION — PHỤ LỤC</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Ảnh demo và thảo luận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40 / 40</a:t>
            </a:r>
          </a:p>
        </p:txBody>
      </p:sp>
      <p:sp>
        <p:nvSpPr>
          <p:cNvPr id="8" name="Rectangle 7"/>
          <p:cNvSpPr/>
          <p:nvPr/>
        </p:nvSpPr>
        <p:spPr>
          <a:xfrm>
            <a:off x="566928" y="6391656"/>
            <a:ext cx="1106424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4944" y="1856231"/>
            <a:ext cx="5248656" cy="2907792"/>
          </a:xfrm>
          <a:prstGeom prst="roundRect">
            <a:avLst>
              <a:gd name="adj" fmla="val 9000"/>
            </a:avLst>
          </a:prstGeom>
          <a:solidFill>
            <a:srgbClr val="F0F4FC"/>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880360"/>
            <a:ext cx="4626864" cy="731520"/>
          </a:xfrm>
          <a:prstGeom prst="rect">
            <a:avLst/>
          </a:prstGeom>
          <a:noFill/>
        </p:spPr>
        <p:txBody>
          <a:bodyPr wrap="square" lIns="0" rIns="0" tIns="0" bIns="0">
            <a:spAutoFit/>
          </a:bodyPr>
          <a:lstStyle/>
          <a:p>
            <a:pPr algn="ctr">
              <a:spcBef>
                <a:spcPts val="0"/>
              </a:spcBef>
              <a:spcAft>
                <a:spcPts val="600"/>
              </a:spcAft>
              <a:defRPr sz="2100" b="1">
                <a:solidFill>
                  <a:srgbClr val="5B6B83"/>
                </a:solidFill>
                <a:latin typeface="Arial"/>
              </a:defRPr>
            </a:pPr>
            <a:r>
              <a:t>ẢNH CHI TIẾT SẢN PHẨM</a:t>
            </a:r>
          </a:p>
        </p:txBody>
      </p:sp>
      <p:sp>
        <p:nvSpPr>
          <p:cNvPr id="11" name="Rounded Rectangle 10"/>
          <p:cNvSpPr/>
          <p:nvPr/>
        </p:nvSpPr>
        <p:spPr>
          <a:xfrm>
            <a:off x="6254496" y="1856231"/>
            <a:ext cx="5248656" cy="2907792"/>
          </a:xfrm>
          <a:prstGeom prst="roundRect">
            <a:avLst>
              <a:gd name="adj" fmla="val 9000"/>
            </a:avLst>
          </a:prstGeom>
          <a:solidFill>
            <a:srgbClr val="F0F4FC"/>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2880360"/>
            <a:ext cx="4626864" cy="731520"/>
          </a:xfrm>
          <a:prstGeom prst="rect">
            <a:avLst/>
          </a:prstGeom>
          <a:noFill/>
        </p:spPr>
        <p:txBody>
          <a:bodyPr wrap="square" lIns="0" rIns="0" tIns="0" bIns="0">
            <a:spAutoFit/>
          </a:bodyPr>
          <a:lstStyle/>
          <a:p>
            <a:pPr algn="ctr">
              <a:spcBef>
                <a:spcPts val="0"/>
              </a:spcBef>
              <a:spcAft>
                <a:spcPts val="600"/>
              </a:spcAft>
              <a:defRPr sz="2100" b="1">
                <a:solidFill>
                  <a:srgbClr val="5B6B83"/>
                </a:solidFill>
                <a:latin typeface="Arial"/>
              </a:defRPr>
            </a:pPr>
            <a:r>
              <a:t>ẢNH DEMO TÙY CHỌN</a:t>
            </a:r>
          </a:p>
        </p:txBody>
      </p:sp>
      <p:sp>
        <p:nvSpPr>
          <p:cNvPr id="13" name="TextBox 12"/>
          <p:cNvSpPr txBox="1"/>
          <p:nvPr/>
        </p:nvSpPr>
        <p:spPr>
          <a:xfrm>
            <a:off x="749808" y="5138928"/>
            <a:ext cx="10698480" cy="603504"/>
          </a:xfrm>
          <a:prstGeom prst="rect">
            <a:avLst/>
          </a:prstGeom>
          <a:noFill/>
        </p:spPr>
        <p:txBody>
          <a:bodyPr wrap="square" lIns="0" rIns="0" tIns="0" bIns="0">
            <a:spAutoFit/>
          </a:bodyPr>
          <a:lstStyle/>
          <a:p>
            <a:pPr algn="ctr">
              <a:spcBef>
                <a:spcPts val="0"/>
              </a:spcBef>
              <a:spcAft>
                <a:spcPts val="600"/>
              </a:spcAft>
              <a:defRPr sz="3100" b="1">
                <a:solidFill>
                  <a:srgbClr val="244BFF"/>
                </a:solidFill>
                <a:latin typeface="Arial"/>
              </a:defRPr>
            </a:pPr>
            <a:r>
              <a:t>Cảm ơn thầy cô và các bạn</a:t>
            </a:r>
          </a:p>
        </p:txBody>
      </p:sp>
      <p:sp>
        <p:nvSpPr>
          <p:cNvPr id="14" name="TextBox 13"/>
          <p:cNvSpPr txBox="1"/>
          <p:nvPr/>
        </p:nvSpPr>
        <p:spPr>
          <a:xfrm>
            <a:off x="749808" y="5788152"/>
            <a:ext cx="10698480" cy="347472"/>
          </a:xfrm>
          <a:prstGeom prst="rect">
            <a:avLst/>
          </a:prstGeom>
          <a:noFill/>
        </p:spPr>
        <p:txBody>
          <a:bodyPr wrap="square" lIns="0" rIns="0" tIns="0" bIns="0">
            <a:spAutoFit/>
          </a:bodyPr>
          <a:lstStyle/>
          <a:p>
            <a:pPr algn="ctr">
              <a:spcBef>
                <a:spcPts val="0"/>
              </a:spcBef>
              <a:spcAft>
                <a:spcPts val="600"/>
              </a:spcAft>
              <a:defRPr sz="2000" b="0">
                <a:solidFill>
                  <a:srgbClr val="5B6B83"/>
                </a:solidFill>
                <a:latin typeface="Arial"/>
              </a:defRPr>
            </a:pPr>
            <a:r>
              <a:t>Câu hỏi &amp; thảo luận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MerRec — Hệ thống gợi ý sản phẩm</dc:title>
  <dc:subject>Phân tích dữ liệu, đặc trưng và thực nghiệm mô hình</dc:subject>
  <dc:creator>MerRec</dc:creator>
  <cp:keywords>MerRec, EDA, recommendation, Top-K</cp:keywords>
  <dc:description>38 slide chính + 2 phụ lục demo. SASRec, DCN, LightGBM chưa có kết quả.</dc:description>
  <cp:lastModifiedBy>Steve Canny</cp:lastModifiedBy>
  <cp:revision>1</cp:revision>
  <dcterms:created xsi:type="dcterms:W3CDTF">2013-01-27T09:14:16Z</dcterms:created>
  <dcterms:modified xsi:type="dcterms:W3CDTF">2013-01-27T09:15:58Z</dcterms:modified>
  <cp:category/>
</cp:coreProperties>
</file>